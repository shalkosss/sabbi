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115_4DB8A265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912" r:id="rId8"/>
    <p:sldId id="260" r:id="rId9"/>
    <p:sldId id="261" r:id="rId10"/>
    <p:sldId id="262" r:id="rId11"/>
    <p:sldId id="263" r:id="rId12"/>
    <p:sldId id="276" r:id="rId13"/>
    <p:sldId id="277" r:id="rId14"/>
    <p:sldId id="279" r:id="rId15"/>
    <p:sldId id="801" r:id="rId16"/>
    <p:sldId id="802" r:id="rId17"/>
    <p:sldId id="803" r:id="rId18"/>
    <p:sldId id="804" r:id="rId19"/>
    <p:sldId id="805" r:id="rId20"/>
    <p:sldId id="895" r:id="rId21"/>
    <p:sldId id="265" r:id="rId22"/>
    <p:sldId id="266" r:id="rId23"/>
    <p:sldId id="278" r:id="rId24"/>
    <p:sldId id="901" r:id="rId25"/>
    <p:sldId id="902" r:id="rId26"/>
  </p:sldIdLst>
  <p:sldSz cx="12179300" cy="6604000"/>
  <p:notesSz cx="12179300" cy="660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BE072D-5028-EE45-CA93-F01BB764B361}" name="Gabriel Bedoya" initials="GB" userId="S::gabriel@sabbi.com::222f84f9-77b2-4a41-982b-d3eb260980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C3C79-F96E-881C-A38C-8BA336143AD7}" v="4" dt="2026-08-14T17:32:29.675"/>
    <p1510:client id="{634B2AC0-E626-C843-A252-8B58A26E736B}" v="6" dt="2026-08-14T17:33:11.0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Arevalo Ruiz" userId="6b9c91c1-578e-4a94-94b0-ed8aba743aa1" providerId="ADAL" clId="{422C8CD6-23E9-56E9-B5D7-8793CB7A8663}"/>
    <pc:docChg chg="custSel modSld">
      <pc:chgData name="Max Arevalo Ruiz" userId="6b9c91c1-578e-4a94-94b0-ed8aba743aa1" providerId="ADAL" clId="{422C8CD6-23E9-56E9-B5D7-8793CB7A8663}" dt="2026-08-14T17:33:11.081" v="33" actId="1076"/>
      <pc:docMkLst>
        <pc:docMk/>
      </pc:docMkLst>
      <pc:sldChg chg="mod modShow">
        <pc:chgData name="Max Arevalo Ruiz" userId="6b9c91c1-578e-4a94-94b0-ed8aba743aa1" providerId="ADAL" clId="{422C8CD6-23E9-56E9-B5D7-8793CB7A8663}" dt="2026-08-14T17:29:12.022" v="0" actId="729"/>
        <pc:sldMkLst>
          <pc:docMk/>
          <pc:sldMk cId="2255656406" sldId="276"/>
        </pc:sldMkLst>
      </pc:sldChg>
      <pc:sldChg chg="delSp modSp mod">
        <pc:chgData name="Max Arevalo Ruiz" userId="6b9c91c1-578e-4a94-94b0-ed8aba743aa1" providerId="ADAL" clId="{422C8CD6-23E9-56E9-B5D7-8793CB7A8663}" dt="2026-08-14T17:33:11.081" v="33" actId="1076"/>
        <pc:sldMkLst>
          <pc:docMk/>
          <pc:sldMk cId="0" sldId="895"/>
        </pc:sldMkLst>
        <pc:spChg chg="mod">
          <ac:chgData name="Max Arevalo Ruiz" userId="6b9c91c1-578e-4a94-94b0-ed8aba743aa1" providerId="ADAL" clId="{422C8CD6-23E9-56E9-B5D7-8793CB7A8663}" dt="2026-08-14T17:32:57.952" v="31" actId="1076"/>
          <ac:spMkLst>
            <pc:docMk/>
            <pc:sldMk cId="0" sldId="895"/>
            <ac:spMk id="8" creationId="{00000000-0000-0000-0000-000000000000}"/>
          </ac:spMkLst>
        </pc:spChg>
        <pc:spChg chg="mod">
          <ac:chgData name="Max Arevalo Ruiz" userId="6b9c91c1-578e-4a94-94b0-ed8aba743aa1" providerId="ADAL" clId="{422C8CD6-23E9-56E9-B5D7-8793CB7A8663}" dt="2026-08-14T17:33:11.081" v="33" actId="1076"/>
          <ac:spMkLst>
            <pc:docMk/>
            <pc:sldMk cId="0" sldId="895"/>
            <ac:spMk id="15" creationId="{00000000-0000-0000-0000-000000000000}"/>
          </ac:spMkLst>
        </pc:spChg>
        <pc:spChg chg="mod">
          <ac:chgData name="Max Arevalo Ruiz" userId="6b9c91c1-578e-4a94-94b0-ed8aba743aa1" providerId="ADAL" clId="{422C8CD6-23E9-56E9-B5D7-8793CB7A8663}" dt="2026-08-14T17:30:06.543" v="27" actId="20577"/>
          <ac:spMkLst>
            <pc:docMk/>
            <pc:sldMk cId="0" sldId="895"/>
            <ac:spMk id="29" creationId="{00000000-0000-0000-0000-000000000000}"/>
          </ac:spMkLst>
        </pc:spChg>
        <pc:spChg chg="del">
          <ac:chgData name="Max Arevalo Ruiz" userId="6b9c91c1-578e-4a94-94b0-ed8aba743aa1" providerId="ADAL" clId="{422C8CD6-23E9-56E9-B5D7-8793CB7A8663}" dt="2026-08-14T17:29:22.119" v="1" actId="478"/>
          <ac:spMkLst>
            <pc:docMk/>
            <pc:sldMk cId="0" sldId="895"/>
            <ac:spMk id="31" creationId="{00000000-0000-0000-0000-000000000000}"/>
          </ac:spMkLst>
        </pc:spChg>
        <pc:spChg chg="del">
          <ac:chgData name="Max Arevalo Ruiz" userId="6b9c91c1-578e-4a94-94b0-ed8aba743aa1" providerId="ADAL" clId="{422C8CD6-23E9-56E9-B5D7-8793CB7A8663}" dt="2026-08-14T17:29:23.612" v="2" actId="478"/>
          <ac:spMkLst>
            <pc:docMk/>
            <pc:sldMk cId="0" sldId="895"/>
            <ac:spMk id="32" creationId="{00000000-0000-0000-0000-000000000000}"/>
          </ac:spMkLst>
        </pc:spChg>
      </pc:sldChg>
    </pc:docChg>
  </pc:docChgLst>
  <pc:docChgLst>
    <pc:chgData name="Gabriel Bedoya" userId="S::gabriel@sabbi.com::222f84f9-77b2-4a41-982b-d3eb26098006" providerId="AD" clId="Web-{24EC3C79-F96E-881C-A38C-8BA336143AD7}"/>
    <pc:docChg chg="modSld">
      <pc:chgData name="Gabriel Bedoya" userId="S::gabriel@sabbi.com::222f84f9-77b2-4a41-982b-d3eb26098006" providerId="AD" clId="Web-{24EC3C79-F96E-881C-A38C-8BA336143AD7}" dt="2026-08-14T17:32:29.675" v="3" actId="14100"/>
      <pc:docMkLst>
        <pc:docMk/>
      </pc:docMkLst>
      <pc:sldChg chg="modSp">
        <pc:chgData name="Gabriel Bedoya" userId="S::gabriel@sabbi.com::222f84f9-77b2-4a41-982b-d3eb26098006" providerId="AD" clId="Web-{24EC3C79-F96E-881C-A38C-8BA336143AD7}" dt="2026-08-14T17:32:11.737" v="2" actId="1076"/>
        <pc:sldMkLst>
          <pc:docMk/>
          <pc:sldMk cId="0" sldId="258"/>
        </pc:sldMkLst>
        <pc:spChg chg="mod">
          <ac:chgData name="Gabriel Bedoya" userId="S::gabriel@sabbi.com::222f84f9-77b2-4a41-982b-d3eb26098006" providerId="AD" clId="Web-{24EC3C79-F96E-881C-A38C-8BA336143AD7}" dt="2026-08-14T17:32:11.737" v="2" actId="1076"/>
          <ac:spMkLst>
            <pc:docMk/>
            <pc:sldMk cId="0" sldId="258"/>
            <ac:spMk id="6" creationId="{00000000-0000-0000-0000-000000000000}"/>
          </ac:spMkLst>
        </pc:spChg>
        <pc:picChg chg="mod">
          <ac:chgData name="Gabriel Bedoya" userId="S::gabriel@sabbi.com::222f84f9-77b2-4a41-982b-d3eb26098006" providerId="AD" clId="Web-{24EC3C79-F96E-881C-A38C-8BA336143AD7}" dt="2026-08-14T17:32:02.909" v="0" actId="1076"/>
          <ac:picMkLst>
            <pc:docMk/>
            <pc:sldMk cId="0" sldId="258"/>
            <ac:picMk id="5" creationId="{00000000-0000-0000-0000-000000000000}"/>
          </ac:picMkLst>
        </pc:picChg>
      </pc:sldChg>
      <pc:sldChg chg="modSp">
        <pc:chgData name="Gabriel Bedoya" userId="S::gabriel@sabbi.com::222f84f9-77b2-4a41-982b-d3eb26098006" providerId="AD" clId="Web-{24EC3C79-F96E-881C-A38C-8BA336143AD7}" dt="2026-08-14T17:32:29.675" v="3" actId="14100"/>
        <pc:sldMkLst>
          <pc:docMk/>
          <pc:sldMk cId="0" sldId="895"/>
        </pc:sldMkLst>
        <pc:spChg chg="mod">
          <ac:chgData name="Gabriel Bedoya" userId="S::gabriel@sabbi.com::222f84f9-77b2-4a41-982b-d3eb26098006" providerId="AD" clId="Web-{24EC3C79-F96E-881C-A38C-8BA336143AD7}" dt="2026-08-14T17:32:29.675" v="3" actId="14100"/>
          <ac:spMkLst>
            <pc:docMk/>
            <pc:sldMk cId="0" sldId="895"/>
            <ac:spMk id="14" creationId="{00000000-0000-0000-0000-000000000000}"/>
          </ac:spMkLst>
        </pc:spChg>
      </pc:sldChg>
    </pc:docChg>
  </pc:docChgLst>
</pc:chgInfo>
</file>

<file path=ppt/comments/modernComment_115_4DB8A2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8C2CC9-D94C-422C-8060-0899918DC834}" authorId="{28BE072D-5028-EE45-CA93-F01BB764B361}" created="2026-07-08T17:40:09.055">
    <pc:sldMkLst xmlns:pc="http://schemas.microsoft.com/office/powerpoint/2013/main/command">
      <pc:docMk/>
      <pc:sldMk cId="1303945829" sldId="277"/>
    </pc:sldMkLst>
    <p188:txBody>
      <a:bodyPr/>
      <a:lstStyle/>
      <a:p>
        <a:r>
          <a:rPr lang="es-ES"/>
          <a:t>Agregar los flujos que recibiria por esta opcion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78438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899275" y="0"/>
            <a:ext cx="5276850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39138-D9F5-5043-8805-876D4F1DAE21}" type="datetimeFigureOut">
              <a:rPr lang="es-PE" smtClean="0"/>
              <a:t>14/08/2026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3838" y="825500"/>
            <a:ext cx="4111625" cy="2228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7613" y="3178175"/>
            <a:ext cx="9744075" cy="2600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272213"/>
            <a:ext cx="5278438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899275" y="6272213"/>
            <a:ext cx="5276850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99CD-06A8-6D4C-A919-A27C4A1064D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990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EF1C3-D1B6-4338-9A5F-AEB2E84534A0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98813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047240"/>
            <a:ext cx="10352405" cy="1386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698240"/>
            <a:ext cx="8525510" cy="165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604000"/>
          </a:xfrm>
          <a:custGeom>
            <a:avLst/>
            <a:gdLst/>
            <a:ahLst/>
            <a:cxnLst/>
            <a:rect l="l" t="t" r="r" b="b"/>
            <a:pathLst>
              <a:path w="12179300" h="6604000">
                <a:moveTo>
                  <a:pt x="12179300" y="0"/>
                </a:moveTo>
                <a:lnTo>
                  <a:pt x="0" y="0"/>
                </a:lnTo>
                <a:lnTo>
                  <a:pt x="0" y="6604000"/>
                </a:lnTo>
                <a:lnTo>
                  <a:pt x="12179300" y="6604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F4F4ED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604000"/>
          </a:xfrm>
          <a:custGeom>
            <a:avLst/>
            <a:gdLst/>
            <a:ahLst/>
            <a:cxnLst/>
            <a:rect l="l" t="t" r="r" b="b"/>
            <a:pathLst>
              <a:path w="12179300" h="6604000">
                <a:moveTo>
                  <a:pt x="12179300" y="0"/>
                </a:moveTo>
                <a:lnTo>
                  <a:pt x="0" y="0"/>
                </a:lnTo>
                <a:lnTo>
                  <a:pt x="0" y="6604000"/>
                </a:lnTo>
                <a:lnTo>
                  <a:pt x="12179300" y="6604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213311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18920"/>
            <a:ext cx="5297995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18920"/>
            <a:ext cx="5297995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604000"/>
          </a:xfrm>
          <a:custGeom>
            <a:avLst/>
            <a:gdLst/>
            <a:ahLst/>
            <a:cxnLst/>
            <a:rect l="l" t="t" r="r" b="b"/>
            <a:pathLst>
              <a:path w="12179300" h="6604000">
                <a:moveTo>
                  <a:pt x="12179300" y="0"/>
                </a:moveTo>
                <a:lnTo>
                  <a:pt x="0" y="0"/>
                </a:lnTo>
                <a:lnTo>
                  <a:pt x="0" y="6604000"/>
                </a:lnTo>
                <a:lnTo>
                  <a:pt x="12179300" y="6604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213311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60400" y="1092200"/>
            <a:ext cx="2540000" cy="342900"/>
          </a:xfrm>
          <a:custGeom>
            <a:avLst/>
            <a:gdLst/>
            <a:ahLst/>
            <a:cxnLst/>
            <a:rect l="l" t="t" r="r" b="b"/>
            <a:pathLst>
              <a:path w="2540000" h="342900">
                <a:moveTo>
                  <a:pt x="2349500" y="0"/>
                </a:moveTo>
                <a:lnTo>
                  <a:pt x="190500" y="0"/>
                </a:lnTo>
                <a:lnTo>
                  <a:pt x="146789" y="5026"/>
                </a:lnTo>
                <a:lnTo>
                  <a:pt x="106679" y="19345"/>
                </a:lnTo>
                <a:lnTo>
                  <a:pt x="71310" y="41819"/>
                </a:lnTo>
                <a:lnTo>
                  <a:pt x="41819" y="71310"/>
                </a:lnTo>
                <a:lnTo>
                  <a:pt x="19345" y="106679"/>
                </a:lnTo>
                <a:lnTo>
                  <a:pt x="5026" y="146789"/>
                </a:lnTo>
                <a:lnTo>
                  <a:pt x="2190" y="171450"/>
                </a:lnTo>
                <a:lnTo>
                  <a:pt x="5026" y="196110"/>
                </a:lnTo>
                <a:lnTo>
                  <a:pt x="19345" y="236220"/>
                </a:lnTo>
                <a:lnTo>
                  <a:pt x="41819" y="271589"/>
                </a:lnTo>
                <a:lnTo>
                  <a:pt x="71310" y="301080"/>
                </a:lnTo>
                <a:lnTo>
                  <a:pt x="106680" y="323554"/>
                </a:lnTo>
                <a:lnTo>
                  <a:pt x="146789" y="337873"/>
                </a:lnTo>
                <a:lnTo>
                  <a:pt x="190500" y="342900"/>
                </a:lnTo>
                <a:lnTo>
                  <a:pt x="2349500" y="342900"/>
                </a:lnTo>
                <a:lnTo>
                  <a:pt x="2393210" y="337873"/>
                </a:lnTo>
                <a:lnTo>
                  <a:pt x="2433320" y="323554"/>
                </a:lnTo>
                <a:lnTo>
                  <a:pt x="2468689" y="301080"/>
                </a:lnTo>
                <a:lnTo>
                  <a:pt x="2498180" y="271589"/>
                </a:lnTo>
                <a:lnTo>
                  <a:pt x="2520654" y="236220"/>
                </a:lnTo>
                <a:lnTo>
                  <a:pt x="2534973" y="196110"/>
                </a:lnTo>
                <a:lnTo>
                  <a:pt x="2537809" y="171450"/>
                </a:lnTo>
                <a:lnTo>
                  <a:pt x="2534973" y="146789"/>
                </a:lnTo>
                <a:lnTo>
                  <a:pt x="2520654" y="106679"/>
                </a:lnTo>
                <a:lnTo>
                  <a:pt x="2498180" y="71310"/>
                </a:lnTo>
                <a:lnTo>
                  <a:pt x="2468689" y="41819"/>
                </a:lnTo>
                <a:lnTo>
                  <a:pt x="2433320" y="19345"/>
                </a:lnTo>
                <a:lnTo>
                  <a:pt x="2393210" y="5026"/>
                </a:lnTo>
                <a:lnTo>
                  <a:pt x="2349500" y="0"/>
                </a:lnTo>
                <a:close/>
              </a:path>
              <a:path w="2540000" h="342900">
                <a:moveTo>
                  <a:pt x="0" y="152400"/>
                </a:moveTo>
                <a:lnTo>
                  <a:pt x="0" y="190500"/>
                </a:lnTo>
                <a:lnTo>
                  <a:pt x="2190" y="171450"/>
                </a:lnTo>
                <a:lnTo>
                  <a:pt x="0" y="152400"/>
                </a:lnTo>
                <a:close/>
              </a:path>
              <a:path w="2540000" h="342900">
                <a:moveTo>
                  <a:pt x="2540000" y="152400"/>
                </a:moveTo>
                <a:lnTo>
                  <a:pt x="2537809" y="171450"/>
                </a:lnTo>
                <a:lnTo>
                  <a:pt x="2540000" y="190500"/>
                </a:lnTo>
                <a:lnTo>
                  <a:pt x="2540000" y="152400"/>
                </a:lnTo>
                <a:close/>
              </a:path>
            </a:pathLst>
          </a:custGeom>
          <a:solidFill>
            <a:srgbClr val="C3ED74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604000"/>
          </a:xfrm>
          <a:custGeom>
            <a:avLst/>
            <a:gdLst/>
            <a:ahLst/>
            <a:cxnLst/>
            <a:rect l="l" t="t" r="r" b="b"/>
            <a:pathLst>
              <a:path w="12179300" h="6604000">
                <a:moveTo>
                  <a:pt x="12179300" y="0"/>
                </a:moveTo>
                <a:lnTo>
                  <a:pt x="0" y="0"/>
                </a:lnTo>
                <a:lnTo>
                  <a:pt x="0" y="6604000"/>
                </a:lnTo>
                <a:lnTo>
                  <a:pt x="12179300" y="6604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1A280E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5_Blank">
    <p:bg>
      <p:bgPr>
        <a:solidFill>
          <a:srgbClr val="223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9F988-D7BA-9698-68BB-C46FDF54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8965" y="6141720"/>
            <a:ext cx="2801239" cy="276999"/>
          </a:xfrm>
        </p:spPr>
        <p:txBody>
          <a:bodyPr/>
          <a:lstStyle/>
          <a:p>
            <a:fld id="{99A79B11-1074-B540-BB76-672B4F476D3B}" type="datetimeFigureOut">
              <a:rPr lang="es-ES_tradnl" smtClean="0">
                <a:latin typeface="Avenir Next Pro"/>
              </a:rPr>
              <a:t>14/08/2026</a:t>
            </a:fld>
            <a:endParaRPr lang="es-ES_tradnl">
              <a:latin typeface="Avenir Next Pro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E03AD-DF66-B044-BA63-A596F7AC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0962" y="6141720"/>
            <a:ext cx="3897376" cy="276999"/>
          </a:xfrm>
        </p:spPr>
        <p:txBody>
          <a:bodyPr/>
          <a:lstStyle/>
          <a:p>
            <a:endParaRPr lang="es-ES_tradnl">
              <a:latin typeface="Avenir Next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AEB25-4006-D357-9517-7EBC044D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9096" y="6141720"/>
            <a:ext cx="2801239" cy="276999"/>
          </a:xfrm>
        </p:spPr>
        <p:txBody>
          <a:bodyPr/>
          <a:lstStyle/>
          <a:p>
            <a:fld id="{CF72CD4D-2F7A-6A42-AF64-7FC24B0C0843}" type="slidenum">
              <a:rPr lang="es-ES_tradnl" smtClean="0">
                <a:latin typeface="Avenir Next Pro"/>
              </a:rPr>
              <a:t>‹#›</a:t>
            </a:fld>
            <a:endParaRPr lang="es-ES_tradnl">
              <a:latin typeface="Avenir Next Pro"/>
            </a:endParaRPr>
          </a:p>
        </p:txBody>
      </p:sp>
      <p:pic>
        <p:nvPicPr>
          <p:cNvPr id="6" name="Picture 5" descr="A green and white text on a black background&#10;&#10;Description automatically generated">
            <a:extLst>
              <a:ext uri="{FF2B5EF4-FFF2-40B4-BE49-F238E27FC236}">
                <a16:creationId xmlns:a16="http://schemas.microsoft.com/office/drawing/2014/main" id="{50ACFE8D-F28D-3BC5-E7E3-F71CB42937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679" y="5525212"/>
            <a:ext cx="1375563" cy="77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079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08000"/>
            <a:ext cx="6634480" cy="833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965" y="1518920"/>
            <a:ext cx="10961370" cy="435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141720"/>
            <a:ext cx="3897376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endParaRPr>
              <a:latin typeface="Avenir Next Pro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141720"/>
            <a:ext cx="2801239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1D8BD707-D9CF-40AE-B4C6-C98DA3205C09}" type="datetimeFigureOut">
              <a:rPr lang="en-US">
                <a:latin typeface="Avenir Next Pro"/>
              </a:rPr>
              <a:t>8/14/2026</a:t>
            </a:fld>
            <a:endParaRPr lang="en-US">
              <a:latin typeface="Avenir Next Pro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141720"/>
            <a:ext cx="2801239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venir Next Pro"/>
              </a:defRPr>
            </a:lvl1pPr>
          </a:lstStyle>
          <a:p>
            <a:fld id="{B6F15528-21DE-4FAA-801E-634DDDAF4B2B}" type="slidenum">
              <a:t>‹#›</a:t>
            </a:fld>
            <a:endParaRPr>
              <a:latin typeface="Avenir Next Pr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Avenir Next Pro"/>
        </a:defRPr>
      </a:lvl1pPr>
    </p:titleStyle>
    <p:bodyStyle>
      <a:lvl1pPr marL="0">
        <a:defRPr>
          <a:latin typeface="Avenir Next Pro"/>
        </a:defRPr>
      </a:lvl1pPr>
      <a:lvl2pPr marL="457200">
        <a:defRPr>
          <a:latin typeface="Avenir Next Pro"/>
        </a:defRPr>
      </a:lvl2pPr>
      <a:lvl3pPr marL="914400">
        <a:defRPr>
          <a:latin typeface="Avenir Next Pro"/>
        </a:defRPr>
      </a:lvl3pPr>
      <a:lvl4pPr marL="1371600">
        <a:defRPr>
          <a:latin typeface="Avenir Next Pro"/>
        </a:defRPr>
      </a:lvl4pPr>
      <a:lvl5pPr marL="1828800">
        <a:defRPr>
          <a:latin typeface="Avenir Next Pro"/>
        </a:defRPr>
      </a:lvl5pPr>
      <a:lvl6pPr marL="2286000">
        <a:defRPr>
          <a:latin typeface="Avenir Next Pro"/>
        </a:defRPr>
      </a:lvl6pPr>
      <a:lvl7pPr marL="2743200">
        <a:defRPr>
          <a:latin typeface="Avenir Next Pro"/>
        </a:defRPr>
      </a:lvl7pPr>
      <a:lvl8pPr marL="3200400">
        <a:defRPr>
          <a:latin typeface="Avenir Next Pro"/>
        </a:defRPr>
      </a:lvl8pPr>
      <a:lvl9pPr marL="3657600">
        <a:defRPr>
          <a:latin typeface="Avenir Next Pro"/>
        </a:defRPr>
      </a:lvl9pPr>
    </p:bodyStyle>
    <p:otherStyle>
      <a:lvl1pPr marL="0">
        <a:defRPr>
          <a:latin typeface="Avenir Next Pro"/>
        </a:defRPr>
      </a:lvl1pPr>
      <a:lvl2pPr marL="457200">
        <a:defRPr>
          <a:latin typeface="Avenir Next Pro"/>
        </a:defRPr>
      </a:lvl2pPr>
      <a:lvl3pPr marL="914400">
        <a:defRPr>
          <a:latin typeface="Avenir Next Pro"/>
        </a:defRPr>
      </a:lvl3pPr>
      <a:lvl4pPr marL="1371600">
        <a:defRPr>
          <a:latin typeface="Avenir Next Pro"/>
        </a:defRPr>
      </a:lvl4pPr>
      <a:lvl5pPr marL="1828800">
        <a:defRPr>
          <a:latin typeface="Avenir Next Pro"/>
        </a:defRPr>
      </a:lvl5pPr>
      <a:lvl6pPr marL="2286000">
        <a:defRPr>
          <a:latin typeface="Avenir Next Pro"/>
        </a:defRPr>
      </a:lvl6pPr>
      <a:lvl7pPr marL="2743200">
        <a:defRPr>
          <a:latin typeface="Avenir Next Pro"/>
        </a:defRPr>
      </a:lvl7pPr>
      <a:lvl8pPr marL="3200400">
        <a:defRPr>
          <a:latin typeface="Avenir Next Pro"/>
        </a:defRPr>
      </a:lvl8pPr>
      <a:lvl9pPr marL="3657600">
        <a:defRPr>
          <a:latin typeface="Avenir Nex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18/10/relationships/comments" Target="../comments/modernComment_115_4DB8A2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3179" y="1149350"/>
            <a:ext cx="16548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>
                <a:solidFill>
                  <a:srgbClr val="213311"/>
                </a:solidFill>
                <a:latin typeface="Avenir Next Pro"/>
              </a:rPr>
              <a:t>Asesoría</a:t>
            </a:r>
            <a:r>
              <a:rPr sz="1300" spc="-195">
                <a:solidFill>
                  <a:srgbClr val="213311"/>
                </a:solidFill>
                <a:latin typeface="Avenir Next Pro"/>
              </a:rPr>
              <a:t> </a:t>
            </a:r>
            <a:r>
              <a:rPr sz="1300" spc="-30">
                <a:solidFill>
                  <a:srgbClr val="213311"/>
                </a:solidFill>
                <a:latin typeface="Avenir Next Pro"/>
              </a:rPr>
              <a:t>patrimonial</a:t>
            </a:r>
            <a:endParaRPr sz="1300">
              <a:latin typeface="Avenir Next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50400" y="1092200"/>
            <a:ext cx="1714500" cy="342900"/>
          </a:xfrm>
          <a:custGeom>
            <a:avLst/>
            <a:gdLst/>
            <a:ahLst/>
            <a:cxnLst/>
            <a:rect l="l" t="t" r="r" b="b"/>
            <a:pathLst>
              <a:path w="1714500" h="342900">
                <a:moveTo>
                  <a:pt x="1524000" y="0"/>
                </a:moveTo>
                <a:lnTo>
                  <a:pt x="190500" y="0"/>
                </a:lnTo>
                <a:lnTo>
                  <a:pt x="146789" y="5026"/>
                </a:lnTo>
                <a:lnTo>
                  <a:pt x="106679" y="19345"/>
                </a:lnTo>
                <a:lnTo>
                  <a:pt x="71310" y="41819"/>
                </a:lnTo>
                <a:lnTo>
                  <a:pt x="41819" y="71310"/>
                </a:lnTo>
                <a:lnTo>
                  <a:pt x="19345" y="106679"/>
                </a:lnTo>
                <a:lnTo>
                  <a:pt x="5026" y="146789"/>
                </a:lnTo>
                <a:lnTo>
                  <a:pt x="2190" y="171450"/>
                </a:lnTo>
                <a:lnTo>
                  <a:pt x="5026" y="196110"/>
                </a:lnTo>
                <a:lnTo>
                  <a:pt x="19345" y="236220"/>
                </a:lnTo>
                <a:lnTo>
                  <a:pt x="41819" y="271589"/>
                </a:lnTo>
                <a:lnTo>
                  <a:pt x="71310" y="301080"/>
                </a:lnTo>
                <a:lnTo>
                  <a:pt x="106679" y="323554"/>
                </a:lnTo>
                <a:lnTo>
                  <a:pt x="146789" y="337873"/>
                </a:lnTo>
                <a:lnTo>
                  <a:pt x="190500" y="342900"/>
                </a:lnTo>
                <a:lnTo>
                  <a:pt x="1524000" y="342900"/>
                </a:lnTo>
                <a:lnTo>
                  <a:pt x="1567710" y="337873"/>
                </a:lnTo>
                <a:lnTo>
                  <a:pt x="1607820" y="323554"/>
                </a:lnTo>
                <a:lnTo>
                  <a:pt x="1643189" y="301080"/>
                </a:lnTo>
                <a:lnTo>
                  <a:pt x="1672680" y="271589"/>
                </a:lnTo>
                <a:lnTo>
                  <a:pt x="1695154" y="236220"/>
                </a:lnTo>
                <a:lnTo>
                  <a:pt x="1709473" y="196110"/>
                </a:lnTo>
                <a:lnTo>
                  <a:pt x="1712309" y="171450"/>
                </a:lnTo>
                <a:lnTo>
                  <a:pt x="1709473" y="146789"/>
                </a:lnTo>
                <a:lnTo>
                  <a:pt x="1695154" y="106679"/>
                </a:lnTo>
                <a:lnTo>
                  <a:pt x="1672680" y="71310"/>
                </a:lnTo>
                <a:lnTo>
                  <a:pt x="1643189" y="41819"/>
                </a:lnTo>
                <a:lnTo>
                  <a:pt x="1607820" y="19345"/>
                </a:lnTo>
                <a:lnTo>
                  <a:pt x="1567710" y="5026"/>
                </a:lnTo>
                <a:lnTo>
                  <a:pt x="1524000" y="0"/>
                </a:lnTo>
                <a:close/>
              </a:path>
              <a:path w="1714500" h="342900">
                <a:moveTo>
                  <a:pt x="0" y="152400"/>
                </a:moveTo>
                <a:lnTo>
                  <a:pt x="0" y="190500"/>
                </a:lnTo>
                <a:lnTo>
                  <a:pt x="2190" y="171450"/>
                </a:lnTo>
                <a:lnTo>
                  <a:pt x="0" y="152400"/>
                </a:lnTo>
                <a:close/>
              </a:path>
              <a:path w="1714500" h="342900">
                <a:moveTo>
                  <a:pt x="1714500" y="152400"/>
                </a:moveTo>
                <a:lnTo>
                  <a:pt x="1712309" y="171450"/>
                </a:lnTo>
                <a:lnTo>
                  <a:pt x="1714500" y="190500"/>
                </a:lnTo>
                <a:lnTo>
                  <a:pt x="171450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7091" y="1143000"/>
            <a:ext cx="10217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>
                <a:latin typeface="Avenir Next Pro"/>
              </a:rPr>
              <a:t>{{s01.fecha}}</a:t>
            </a:r>
            <a:endParaRPr sz="1300">
              <a:latin typeface="Avenir Next Pr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1700" y="1968500"/>
            <a:ext cx="6069330" cy="236728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 marR="5080">
              <a:lnSpc>
                <a:spcPct val="76600"/>
              </a:lnSpc>
              <a:spcBef>
                <a:spcPts val="2540"/>
              </a:spcBef>
            </a:pPr>
            <a:r>
              <a:rPr sz="8700" spc="-110">
                <a:solidFill>
                  <a:srgbClr val="FFFFFF"/>
                </a:solidFill>
                <a:latin typeface="Avenir Next Pro"/>
              </a:rPr>
              <a:t>Informe </a:t>
            </a:r>
            <a:r>
              <a:rPr sz="8700" u="sng" spc="-160">
                <a:solidFill>
                  <a:srgbClr val="C3ED74"/>
                </a:solidFill>
                <a:uFill>
                  <a:solidFill>
                    <a:srgbClr val="939C8A"/>
                  </a:solidFill>
                </a:uFill>
                <a:latin typeface="Avenir Next Pro"/>
              </a:rPr>
              <a:t>Patrimonial</a:t>
            </a:r>
            <a:endParaRPr sz="8700">
              <a:latin typeface="Avenir Next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4998720"/>
            <a:ext cx="1715406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600">
                <a:solidFill>
                  <a:srgbClr val="FFFFFF"/>
                </a:solidFill>
                <a:latin typeface="Avenir Next Pro"/>
              </a:rPr>
              <a:t>{{s01.nombre}}</a:t>
            </a:r>
            <a:endParaRPr sz="1600">
              <a:latin typeface="Avenir Next Pr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299" y="5633720"/>
            <a:ext cx="1079999" cy="6279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762000"/>
            <a:ext cx="349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5">
                <a:solidFill>
                  <a:srgbClr val="FFFFFF"/>
                </a:solidFill>
                <a:latin typeface="Avenir Next Pro"/>
              </a:rPr>
              <a:t>Objetivo</a:t>
            </a:r>
            <a:r>
              <a:rPr sz="2800" spc="-385">
                <a:solidFill>
                  <a:srgbClr val="FFFFFF"/>
                </a:solidFill>
                <a:latin typeface="Avenir Next Pro"/>
              </a:rPr>
              <a:t> </a:t>
            </a:r>
            <a:r>
              <a:rPr sz="2800" spc="-35">
                <a:solidFill>
                  <a:srgbClr val="FFFFFF"/>
                </a:solidFill>
                <a:latin typeface="Avenir Next Pro"/>
              </a:rPr>
              <a:t>del</a:t>
            </a:r>
            <a:r>
              <a:rPr sz="2800" spc="-380">
                <a:solidFill>
                  <a:srgbClr val="FFFFFF"/>
                </a:solidFill>
                <a:latin typeface="Avenir Next Pro"/>
              </a:rPr>
              <a:t> </a:t>
            </a:r>
            <a:r>
              <a:rPr sz="2800" spc="-10">
                <a:solidFill>
                  <a:srgbClr val="FFFFFF"/>
                </a:solidFill>
                <a:latin typeface="Avenir Next Pro"/>
              </a:rPr>
              <a:t>informe</a:t>
            </a:r>
            <a:endParaRPr sz="2800">
              <a:latin typeface="Avenir Next Pr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13560" y="1600200"/>
            <a:ext cx="4262755" cy="3505200"/>
            <a:chOff x="1813560" y="1600200"/>
            <a:chExt cx="4262755" cy="3505200"/>
          </a:xfrm>
        </p:grpSpPr>
        <p:sp>
          <p:nvSpPr>
            <p:cNvPr id="4" name="object 4"/>
            <p:cNvSpPr/>
            <p:nvPr/>
          </p:nvSpPr>
          <p:spPr>
            <a:xfrm>
              <a:off x="1813560" y="1600200"/>
              <a:ext cx="4262755" cy="3505200"/>
            </a:xfrm>
            <a:custGeom>
              <a:avLst/>
              <a:gdLst/>
              <a:ahLst/>
              <a:cxnLst/>
              <a:rect l="l" t="t" r="r" b="b"/>
              <a:pathLst>
                <a:path w="4262755" h="3505200">
                  <a:moveTo>
                    <a:pt x="4135754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378200"/>
                  </a:lnTo>
                  <a:lnTo>
                    <a:pt x="9971" y="3427661"/>
                  </a:lnTo>
                  <a:lnTo>
                    <a:pt x="37172" y="3468027"/>
                  </a:lnTo>
                  <a:lnTo>
                    <a:pt x="77538" y="3495228"/>
                  </a:lnTo>
                  <a:lnTo>
                    <a:pt x="127000" y="3505200"/>
                  </a:lnTo>
                  <a:lnTo>
                    <a:pt x="4135754" y="3505200"/>
                  </a:lnTo>
                  <a:lnTo>
                    <a:pt x="4185216" y="3495228"/>
                  </a:lnTo>
                  <a:lnTo>
                    <a:pt x="4225582" y="3468027"/>
                  </a:lnTo>
                  <a:lnTo>
                    <a:pt x="4252783" y="3427661"/>
                  </a:lnTo>
                  <a:lnTo>
                    <a:pt x="4262755" y="3378200"/>
                  </a:lnTo>
                  <a:lnTo>
                    <a:pt x="4262755" y="127000"/>
                  </a:lnTo>
                  <a:lnTo>
                    <a:pt x="4252783" y="77538"/>
                  </a:lnTo>
                  <a:lnTo>
                    <a:pt x="4225582" y="37172"/>
                  </a:lnTo>
                  <a:lnTo>
                    <a:pt x="4185216" y="9971"/>
                  </a:lnTo>
                  <a:lnTo>
                    <a:pt x="4135754" y="0"/>
                  </a:lnTo>
                  <a:close/>
                </a:path>
              </a:pathLst>
            </a:custGeom>
            <a:solidFill>
              <a:srgbClr val="2D4416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8090" y="1842052"/>
              <a:ext cx="1151999" cy="114189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09983" y="2518410"/>
            <a:ext cx="2781300" cy="10922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900" spc="-10">
                <a:solidFill>
                  <a:srgbClr val="FFFFFF"/>
                </a:solidFill>
                <a:latin typeface="Avenir Next Pro"/>
              </a:rPr>
              <a:t>Diagnosticar</a:t>
            </a:r>
            <a:endParaRPr sz="1900">
              <a:latin typeface="Avenir Next Pro"/>
            </a:endParaRPr>
          </a:p>
          <a:p>
            <a:pPr marL="12700" marR="5080">
              <a:lnSpc>
                <a:spcPct val="122800"/>
              </a:lnSpc>
            </a:pPr>
            <a:r>
              <a:rPr sz="1900" spc="-75">
                <a:solidFill>
                  <a:srgbClr val="FFFFFF"/>
                </a:solidFill>
                <a:latin typeface="Avenir Next Pro"/>
              </a:rPr>
              <a:t>la</a:t>
            </a:r>
            <a:r>
              <a:rPr sz="1900" spc="-254">
                <a:solidFill>
                  <a:srgbClr val="FFFFFF"/>
                </a:solidFill>
                <a:latin typeface="Avenir Next Pro"/>
              </a:rPr>
              <a:t> </a:t>
            </a:r>
            <a:r>
              <a:rPr sz="1900" spc="-10">
                <a:solidFill>
                  <a:srgbClr val="FFFFFF"/>
                </a:solidFill>
                <a:latin typeface="Avenir Next Pro"/>
              </a:rPr>
              <a:t>solidez</a:t>
            </a:r>
            <a:r>
              <a:rPr sz="1900" spc="-254">
                <a:solidFill>
                  <a:srgbClr val="FFFFFF"/>
                </a:solidFill>
                <a:latin typeface="Avenir Next Pro"/>
              </a:rPr>
              <a:t> </a:t>
            </a:r>
            <a:r>
              <a:rPr sz="1900" spc="-25">
                <a:solidFill>
                  <a:srgbClr val="C3ED74"/>
                </a:solidFill>
                <a:latin typeface="Avenir Next Pro"/>
              </a:rPr>
              <a:t>estructural</a:t>
            </a:r>
            <a:r>
              <a:rPr sz="1900" spc="-254">
                <a:solidFill>
                  <a:srgbClr val="C3ED74"/>
                </a:solidFill>
                <a:latin typeface="Avenir Next Pro"/>
              </a:rPr>
              <a:t> </a:t>
            </a:r>
            <a:r>
              <a:rPr sz="1900" spc="-25">
                <a:solidFill>
                  <a:srgbClr val="C3ED74"/>
                </a:solidFill>
                <a:latin typeface="Avenir Next Pro"/>
              </a:rPr>
              <a:t>de </a:t>
            </a:r>
            <a:r>
              <a:rPr sz="1900" spc="-35">
                <a:solidFill>
                  <a:srgbClr val="C3ED74"/>
                </a:solidFill>
                <a:latin typeface="Avenir Next Pro"/>
              </a:rPr>
              <a:t>tu</a:t>
            </a:r>
            <a:r>
              <a:rPr sz="1900" spc="-275">
                <a:solidFill>
                  <a:srgbClr val="C3ED74"/>
                </a:solidFill>
                <a:latin typeface="Avenir Next Pro"/>
              </a:rPr>
              <a:t> </a:t>
            </a:r>
            <a:r>
              <a:rPr sz="1900" spc="-10">
                <a:solidFill>
                  <a:srgbClr val="C3ED74"/>
                </a:solidFill>
                <a:latin typeface="Avenir Next Pro"/>
              </a:rPr>
              <a:t>portafolio</a:t>
            </a:r>
            <a:endParaRPr sz="1900">
              <a:latin typeface="Avenir Next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9983" y="3743959"/>
            <a:ext cx="230949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3200"/>
              </a:lnSpc>
              <a:spcBef>
                <a:spcPts val="100"/>
              </a:spcBef>
            </a:pPr>
            <a:r>
              <a:rPr sz="1150" spc="20">
                <a:solidFill>
                  <a:srgbClr val="FFFFFF"/>
                </a:solidFill>
                <a:latin typeface="Avenir Next Pro"/>
              </a:rPr>
              <a:t>Entender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40">
                <a:solidFill>
                  <a:srgbClr val="FFFFFF"/>
                </a:solidFill>
                <a:latin typeface="Avenir Next Pro"/>
              </a:rPr>
              <a:t>cómo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5">
                <a:solidFill>
                  <a:srgbClr val="FFFFFF"/>
                </a:solidFill>
                <a:latin typeface="Avenir Next Pro"/>
              </a:rPr>
              <a:t>está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35">
                <a:solidFill>
                  <a:srgbClr val="FFFFFF"/>
                </a:solidFill>
                <a:latin typeface="Avenir Next Pro"/>
              </a:rPr>
              <a:t>compuesto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25">
                <a:solidFill>
                  <a:srgbClr val="FFFFFF"/>
                </a:solidFill>
                <a:latin typeface="Avenir Next Pro"/>
              </a:rPr>
              <a:t>tu</a:t>
            </a:r>
            <a:r>
              <a:rPr sz="1150" spc="3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25">
                <a:solidFill>
                  <a:srgbClr val="FFFFFF"/>
                </a:solidFill>
                <a:latin typeface="Avenir Next Pro"/>
              </a:rPr>
              <a:t>patrimonio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20">
                <a:solidFill>
                  <a:srgbClr val="FFFFFF"/>
                </a:solidFill>
                <a:latin typeface="Avenir Next Pro"/>
              </a:rPr>
              <a:t>hoy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y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25">
                <a:solidFill>
                  <a:srgbClr val="FFFFFF"/>
                </a:solidFill>
                <a:latin typeface="Avenir Next Pro"/>
              </a:rPr>
              <a:t>definir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>
                <a:solidFill>
                  <a:srgbClr val="FFFFFF"/>
                </a:solidFill>
                <a:latin typeface="Avenir Next Pro"/>
              </a:rPr>
              <a:t>los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ajustes</a:t>
            </a:r>
            <a:r>
              <a:rPr sz="1150" spc="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necesarios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para</a:t>
            </a:r>
            <a:r>
              <a:rPr sz="1150" spc="-12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20">
                <a:solidFill>
                  <a:srgbClr val="FFFFFF"/>
                </a:solidFill>
                <a:latin typeface="Avenir Next Pro"/>
              </a:rPr>
              <a:t>optimizarlo</a:t>
            </a:r>
            <a:endParaRPr sz="1150">
              <a:latin typeface="Avenir Next Pr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20460" y="1600200"/>
            <a:ext cx="4262755" cy="3505200"/>
            <a:chOff x="6220460" y="1600200"/>
            <a:chExt cx="4262755" cy="3505200"/>
          </a:xfrm>
        </p:grpSpPr>
        <p:sp>
          <p:nvSpPr>
            <p:cNvPr id="9" name="object 9"/>
            <p:cNvSpPr/>
            <p:nvPr/>
          </p:nvSpPr>
          <p:spPr>
            <a:xfrm>
              <a:off x="6220460" y="1600200"/>
              <a:ext cx="4262755" cy="3505200"/>
            </a:xfrm>
            <a:custGeom>
              <a:avLst/>
              <a:gdLst/>
              <a:ahLst/>
              <a:cxnLst/>
              <a:rect l="l" t="t" r="r" b="b"/>
              <a:pathLst>
                <a:path w="4262755" h="3505200">
                  <a:moveTo>
                    <a:pt x="4135755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3378200"/>
                  </a:lnTo>
                  <a:lnTo>
                    <a:pt x="9971" y="3427661"/>
                  </a:lnTo>
                  <a:lnTo>
                    <a:pt x="37172" y="3468027"/>
                  </a:lnTo>
                  <a:lnTo>
                    <a:pt x="77538" y="3495228"/>
                  </a:lnTo>
                  <a:lnTo>
                    <a:pt x="127000" y="3505200"/>
                  </a:lnTo>
                  <a:lnTo>
                    <a:pt x="4135755" y="3505200"/>
                  </a:lnTo>
                  <a:lnTo>
                    <a:pt x="4185216" y="3495228"/>
                  </a:lnTo>
                  <a:lnTo>
                    <a:pt x="4225582" y="3468027"/>
                  </a:lnTo>
                  <a:lnTo>
                    <a:pt x="4252783" y="3427661"/>
                  </a:lnTo>
                  <a:lnTo>
                    <a:pt x="4262755" y="3378200"/>
                  </a:lnTo>
                  <a:lnTo>
                    <a:pt x="4262755" y="127000"/>
                  </a:lnTo>
                  <a:lnTo>
                    <a:pt x="4252783" y="77538"/>
                  </a:lnTo>
                  <a:lnTo>
                    <a:pt x="4225582" y="37172"/>
                  </a:lnTo>
                  <a:lnTo>
                    <a:pt x="4185216" y="9971"/>
                  </a:lnTo>
                  <a:lnTo>
                    <a:pt x="4135755" y="0"/>
                  </a:lnTo>
                  <a:close/>
                </a:path>
              </a:pathLst>
            </a:custGeom>
            <a:solidFill>
              <a:srgbClr val="38561C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4990" y="1868749"/>
              <a:ext cx="1151999" cy="11519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16883" y="2613660"/>
            <a:ext cx="213360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00"/>
              </a:spcBef>
            </a:pPr>
            <a:r>
              <a:rPr sz="1900">
                <a:solidFill>
                  <a:srgbClr val="FFFFFF"/>
                </a:solidFill>
                <a:latin typeface="Avenir Next Pro"/>
              </a:rPr>
              <a:t>Buscar</a:t>
            </a:r>
            <a:r>
              <a:rPr sz="1900" spc="-285">
                <a:solidFill>
                  <a:srgbClr val="FFFFFF"/>
                </a:solidFill>
                <a:latin typeface="Avenir Next Pro"/>
              </a:rPr>
              <a:t> </a:t>
            </a:r>
            <a:r>
              <a:rPr sz="1900" spc="-10">
                <a:solidFill>
                  <a:srgbClr val="FFFFFF"/>
                </a:solidFill>
                <a:latin typeface="Avenir Next Pro"/>
              </a:rPr>
              <a:t>claridad </a:t>
            </a:r>
            <a:r>
              <a:rPr sz="1900" spc="-40">
                <a:solidFill>
                  <a:srgbClr val="C3ED74"/>
                </a:solidFill>
                <a:latin typeface="Avenir Next Pro"/>
              </a:rPr>
              <a:t>para</a:t>
            </a:r>
            <a:r>
              <a:rPr sz="1900" spc="-250">
                <a:solidFill>
                  <a:srgbClr val="C3ED74"/>
                </a:solidFill>
                <a:latin typeface="Avenir Next Pro"/>
              </a:rPr>
              <a:t> </a:t>
            </a:r>
            <a:r>
              <a:rPr sz="1900" spc="-25">
                <a:solidFill>
                  <a:srgbClr val="C3ED74"/>
                </a:solidFill>
                <a:latin typeface="Avenir Next Pro"/>
              </a:rPr>
              <a:t>decidir</a:t>
            </a:r>
            <a:r>
              <a:rPr sz="1900" spc="-245">
                <a:solidFill>
                  <a:srgbClr val="C3ED74"/>
                </a:solidFill>
                <a:latin typeface="Avenir Next Pro"/>
              </a:rPr>
              <a:t> </a:t>
            </a:r>
            <a:r>
              <a:rPr sz="1900" spc="-45">
                <a:solidFill>
                  <a:srgbClr val="C3ED74"/>
                </a:solidFill>
                <a:latin typeface="Avenir Next Pro"/>
              </a:rPr>
              <a:t>mejor</a:t>
            </a:r>
            <a:endParaRPr sz="1900">
              <a:latin typeface="Avenir Next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6883" y="3743959"/>
            <a:ext cx="2367280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100"/>
              </a:spcBef>
            </a:pPr>
            <a:r>
              <a:rPr sz="1150">
                <a:solidFill>
                  <a:srgbClr val="FFFFFF"/>
                </a:solidFill>
                <a:latin typeface="Avenir Next Pro"/>
              </a:rPr>
              <a:t>Este</a:t>
            </a:r>
            <a:r>
              <a:rPr sz="1150" spc="-60">
                <a:solidFill>
                  <a:srgbClr val="FFFFFF"/>
                </a:solidFill>
                <a:latin typeface="Avenir Next Pro"/>
              </a:rPr>
              <a:t> </a:t>
            </a:r>
            <a:r>
              <a:rPr sz="1150">
                <a:solidFill>
                  <a:srgbClr val="FFFFFF"/>
                </a:solidFill>
                <a:latin typeface="Avenir Next Pro"/>
              </a:rPr>
              <a:t>informe</a:t>
            </a:r>
            <a:r>
              <a:rPr sz="1150" spc="-60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-10">
                <a:solidFill>
                  <a:srgbClr val="FFFFFF"/>
                </a:solidFill>
                <a:latin typeface="Avenir Next Pro"/>
              </a:rPr>
              <a:t>es</a:t>
            </a:r>
            <a:r>
              <a:rPr sz="1150" spc="-5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>
                <a:solidFill>
                  <a:srgbClr val="FFFFFF"/>
                </a:solidFill>
                <a:latin typeface="Avenir Next Pro"/>
              </a:rPr>
              <a:t>tuyo.</a:t>
            </a:r>
            <a:r>
              <a:rPr sz="1150" spc="-60">
                <a:solidFill>
                  <a:srgbClr val="FFFFFF"/>
                </a:solidFill>
                <a:latin typeface="Avenir Next Pro"/>
              </a:rPr>
              <a:t> </a:t>
            </a:r>
            <a:r>
              <a:rPr sz="1150">
                <a:solidFill>
                  <a:srgbClr val="FFFFFF"/>
                </a:solidFill>
                <a:latin typeface="Avenir Next Pro"/>
              </a:rPr>
              <a:t>No</a:t>
            </a:r>
            <a:r>
              <a:rPr sz="1150" spc="-5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>
                <a:solidFill>
                  <a:srgbClr val="FFFFFF"/>
                </a:solidFill>
                <a:latin typeface="Avenir Next Pro"/>
              </a:rPr>
              <a:t>está</a:t>
            </a:r>
            <a:r>
              <a:rPr sz="1150" spc="-60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-10">
                <a:solidFill>
                  <a:srgbClr val="FFFFFF"/>
                </a:solidFill>
                <a:latin typeface="Avenir Next Pro"/>
              </a:rPr>
              <a:t>hecho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para</a:t>
            </a:r>
            <a:r>
              <a:rPr sz="1150" spc="-55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10">
                <a:solidFill>
                  <a:srgbClr val="FFFFFF"/>
                </a:solidFill>
                <a:latin typeface="Avenir Next Pro"/>
              </a:rPr>
              <a:t>venderte</a:t>
            </a:r>
            <a:r>
              <a:rPr sz="1150" spc="-50">
                <a:solidFill>
                  <a:srgbClr val="FFFFFF"/>
                </a:solidFill>
                <a:latin typeface="Avenir Next Pro"/>
              </a:rPr>
              <a:t> </a:t>
            </a:r>
            <a:r>
              <a:rPr sz="1150" spc="-10">
                <a:solidFill>
                  <a:srgbClr val="FFFFFF"/>
                </a:solidFill>
                <a:latin typeface="Avenir Next Pro"/>
              </a:rPr>
              <a:t>nada.</a:t>
            </a:r>
            <a:endParaRPr sz="1150">
              <a:latin typeface="Avenir Next Pr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9583" y="4470400"/>
            <a:ext cx="1506220" cy="203200"/>
          </a:xfrm>
          <a:prstGeom prst="rect">
            <a:avLst/>
          </a:prstGeom>
          <a:solidFill>
            <a:srgbClr val="C3ED7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latin typeface="Avenir Next Pro"/>
              </a:rPr>
              <a:t>No</a:t>
            </a:r>
            <a:r>
              <a:rPr sz="1200" spc="-50">
                <a:latin typeface="Avenir Next Pro"/>
              </a:rPr>
              <a:t> </a:t>
            </a:r>
            <a:r>
              <a:rPr sz="1200">
                <a:latin typeface="Avenir Next Pro"/>
              </a:rPr>
              <a:t>vender</a:t>
            </a:r>
            <a:r>
              <a:rPr sz="1200" spc="-50">
                <a:latin typeface="Avenir Next Pro"/>
              </a:rPr>
              <a:t> </a:t>
            </a:r>
            <a:r>
              <a:rPr sz="1200" spc="-10">
                <a:latin typeface="Avenir Next Pro"/>
              </a:rPr>
              <a:t>productos.</a:t>
            </a:r>
            <a:endParaRPr sz="1200">
              <a:latin typeface="Avenir Next Pr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1299" y="5562600"/>
            <a:ext cx="1079999" cy="6279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60">
                <a:solidFill>
                  <a:srgbClr val="265216"/>
                </a:solidFill>
                <a:latin typeface="Avenir Next Pro"/>
              </a:rPr>
              <a:t>Tu</a:t>
            </a:r>
            <a:r>
              <a:rPr sz="2800" spc="-400">
                <a:solidFill>
                  <a:srgbClr val="265216"/>
                </a:solidFill>
                <a:latin typeface="Avenir Next Pro"/>
              </a:rPr>
              <a:t> </a:t>
            </a:r>
            <a:r>
              <a:rPr sz="2800" spc="-65">
                <a:solidFill>
                  <a:srgbClr val="265216"/>
                </a:solidFill>
                <a:latin typeface="Avenir Next Pro"/>
              </a:rPr>
              <a:t>perfil</a:t>
            </a:r>
            <a:r>
              <a:rPr sz="2800" spc="-400">
                <a:solidFill>
                  <a:srgbClr val="265216"/>
                </a:solidFill>
                <a:latin typeface="Avenir Next Pro"/>
              </a:rPr>
              <a:t> </a:t>
            </a:r>
            <a:r>
              <a:rPr sz="2800" spc="75">
                <a:solidFill>
                  <a:srgbClr val="265216"/>
                </a:solidFill>
                <a:latin typeface="Avenir Next Pro"/>
              </a:rPr>
              <a:t>como</a:t>
            </a:r>
            <a:r>
              <a:rPr sz="2800" spc="-395">
                <a:solidFill>
                  <a:srgbClr val="265216"/>
                </a:solidFill>
                <a:latin typeface="Avenir Next Pro"/>
              </a:rPr>
              <a:t> </a:t>
            </a:r>
            <a:r>
              <a:rPr sz="2800" spc="-35">
                <a:solidFill>
                  <a:srgbClr val="265216"/>
                </a:solidFill>
                <a:latin typeface="Avenir Next Pro"/>
              </a:rPr>
              <a:t>inversionista</a:t>
            </a:r>
            <a:endParaRPr sz="2800">
              <a:latin typeface="Avenir Next Pr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83169" y="1631950"/>
            <a:ext cx="5030470" cy="2076450"/>
            <a:chOff x="983169" y="1631950"/>
            <a:chExt cx="5030470" cy="2076450"/>
          </a:xfrm>
        </p:grpSpPr>
        <p:sp>
          <p:nvSpPr>
            <p:cNvPr id="4" name="object 4"/>
            <p:cNvSpPr/>
            <p:nvPr/>
          </p:nvSpPr>
          <p:spPr>
            <a:xfrm>
              <a:off x="983169" y="1631950"/>
              <a:ext cx="5030470" cy="2076450"/>
            </a:xfrm>
            <a:custGeom>
              <a:avLst/>
              <a:gdLst/>
              <a:ahLst/>
              <a:cxnLst/>
              <a:rect l="l" t="t" r="r" b="b"/>
              <a:pathLst>
                <a:path w="5030470" h="2076450">
                  <a:moveTo>
                    <a:pt x="4903280" y="0"/>
                  </a:move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949450"/>
                  </a:lnTo>
                  <a:lnTo>
                    <a:pt x="9971" y="1998911"/>
                  </a:lnTo>
                  <a:lnTo>
                    <a:pt x="37172" y="2039277"/>
                  </a:lnTo>
                  <a:lnTo>
                    <a:pt x="77538" y="2066478"/>
                  </a:lnTo>
                  <a:lnTo>
                    <a:pt x="127000" y="2076450"/>
                  </a:lnTo>
                  <a:lnTo>
                    <a:pt x="4903280" y="2076450"/>
                  </a:lnTo>
                  <a:lnTo>
                    <a:pt x="4952742" y="2066478"/>
                  </a:lnTo>
                  <a:lnTo>
                    <a:pt x="4993107" y="2039277"/>
                  </a:lnTo>
                  <a:lnTo>
                    <a:pt x="5020309" y="1998911"/>
                  </a:lnTo>
                  <a:lnTo>
                    <a:pt x="5030280" y="1949450"/>
                  </a:lnTo>
                  <a:lnTo>
                    <a:pt x="5030280" y="127000"/>
                  </a:lnTo>
                  <a:lnTo>
                    <a:pt x="5020309" y="77538"/>
                  </a:lnTo>
                  <a:lnTo>
                    <a:pt x="4993107" y="37172"/>
                  </a:lnTo>
                  <a:lnTo>
                    <a:pt x="4952742" y="9971"/>
                  </a:lnTo>
                  <a:lnTo>
                    <a:pt x="4903280" y="0"/>
                  </a:lnTo>
                  <a:close/>
                </a:path>
              </a:pathLst>
            </a:custGeom>
            <a:solidFill>
              <a:srgbClr val="213311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891" y="2128960"/>
              <a:ext cx="1016000" cy="1016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14086" y="2023054"/>
            <a:ext cx="3168833" cy="16866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1958339">
              <a:lnSpc>
                <a:spcPts val="2300"/>
              </a:lnSpc>
              <a:spcBef>
                <a:spcPts val="459"/>
              </a:spcBef>
            </a:pPr>
            <a:r>
              <a:rPr sz="2200" spc="-25">
                <a:solidFill>
                  <a:srgbClr val="FFFFFF"/>
                </a:solidFill>
                <a:latin typeface="Avenir Next Pro"/>
              </a:rPr>
              <a:t>{{s03.nombre}}</a:t>
            </a:r>
            <a:endParaRPr sz="2200">
              <a:latin typeface="Avenir Next Pro"/>
            </a:endParaRPr>
          </a:p>
          <a:p>
            <a:pPr marL="12700" marR="5080">
              <a:lnSpc>
                <a:spcPct val="104200"/>
              </a:lnSpc>
              <a:spcBef>
                <a:spcPts val="1430"/>
              </a:spcBef>
            </a:pPr>
            <a:r>
              <a:rPr sz="1200" spc="-25">
                <a:solidFill>
                  <a:srgbClr val="C3ED74"/>
                </a:solidFill>
                <a:latin typeface="Avenir Next Pro"/>
              </a:rPr>
              <a:t>{{s03.nombre2}}</a:t>
            </a:r>
            <a:endParaRPr sz="1200">
              <a:latin typeface="Avenir Next Pr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5849" y="1612900"/>
            <a:ext cx="5030470" cy="2095500"/>
          </a:xfrm>
          <a:custGeom>
            <a:avLst/>
            <a:gdLst/>
            <a:ahLst/>
            <a:cxnLst/>
            <a:rect l="l" t="t" r="r" b="b"/>
            <a:pathLst>
              <a:path w="5030470" h="2095500">
                <a:moveTo>
                  <a:pt x="490328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968500"/>
                </a:lnTo>
                <a:lnTo>
                  <a:pt x="9971" y="2017961"/>
                </a:lnTo>
                <a:lnTo>
                  <a:pt x="37172" y="2058327"/>
                </a:lnTo>
                <a:lnTo>
                  <a:pt x="77538" y="2085528"/>
                </a:lnTo>
                <a:lnTo>
                  <a:pt x="127000" y="2095500"/>
                </a:lnTo>
                <a:lnTo>
                  <a:pt x="4903280" y="2095500"/>
                </a:lnTo>
                <a:lnTo>
                  <a:pt x="4952742" y="2085528"/>
                </a:lnTo>
                <a:lnTo>
                  <a:pt x="4993107" y="2058327"/>
                </a:lnTo>
                <a:lnTo>
                  <a:pt x="5020309" y="2017961"/>
                </a:lnTo>
                <a:lnTo>
                  <a:pt x="5030280" y="1968500"/>
                </a:lnTo>
                <a:lnTo>
                  <a:pt x="5030280" y="127000"/>
                </a:lnTo>
                <a:lnTo>
                  <a:pt x="5020309" y="77538"/>
                </a:lnTo>
                <a:lnTo>
                  <a:pt x="4993107" y="37172"/>
                </a:lnTo>
                <a:lnTo>
                  <a:pt x="4952742" y="9971"/>
                </a:lnTo>
                <a:lnTo>
                  <a:pt x="4903280" y="0"/>
                </a:lnTo>
                <a:close/>
              </a:path>
            </a:pathLst>
          </a:custGeom>
          <a:solidFill>
            <a:srgbClr val="C3ED74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4150" y="1892300"/>
            <a:ext cx="1513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>
                <a:solidFill>
                  <a:srgbClr val="4F622F"/>
                </a:solidFill>
                <a:latin typeface="Avenir Next Pro"/>
              </a:rPr>
              <a:t>Objetivo</a:t>
            </a:r>
            <a:r>
              <a:rPr sz="1400" spc="-170">
                <a:solidFill>
                  <a:srgbClr val="4F622F"/>
                </a:solidFill>
                <a:latin typeface="Avenir Next Pro"/>
              </a:rPr>
              <a:t> </a:t>
            </a:r>
            <a:r>
              <a:rPr sz="1400" spc="-25">
                <a:solidFill>
                  <a:srgbClr val="4F622F"/>
                </a:solidFill>
                <a:latin typeface="Avenir Next Pro"/>
              </a:rPr>
              <a:t>principal</a:t>
            </a:r>
            <a:endParaRPr sz="1400">
              <a:latin typeface="Avenir Next Pr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6850" y="2190750"/>
            <a:ext cx="4268470" cy="12700"/>
          </a:xfrm>
          <a:custGeom>
            <a:avLst/>
            <a:gdLst/>
            <a:ahLst/>
            <a:cxnLst/>
            <a:rect l="l" t="t" r="r" b="b"/>
            <a:pathLst>
              <a:path w="4268470" h="12700">
                <a:moveTo>
                  <a:pt x="4268280" y="0"/>
                </a:moveTo>
                <a:lnTo>
                  <a:pt x="0" y="0"/>
                </a:lnTo>
                <a:lnTo>
                  <a:pt x="0" y="12700"/>
                </a:lnTo>
                <a:lnTo>
                  <a:pt x="4268280" y="12700"/>
                </a:lnTo>
                <a:lnTo>
                  <a:pt x="4268280" y="0"/>
                </a:lnTo>
                <a:close/>
              </a:path>
            </a:pathLst>
          </a:custGeom>
          <a:solidFill>
            <a:srgbClr val="939C8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34150" y="2311400"/>
            <a:ext cx="3477260" cy="107696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69400"/>
              </a:lnSpc>
              <a:spcBef>
                <a:spcPts val="980"/>
              </a:spcBef>
            </a:pPr>
            <a:r>
              <a:rPr sz="2400">
                <a:latin typeface="Avenir Next Pro"/>
              </a:rPr>
              <a:t>{{s03.nombre3}}</a:t>
            </a:r>
            <a:endParaRPr sz="2400">
              <a:latin typeface="Avenir Next Pro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400" spc="-60">
                <a:solidFill>
                  <a:srgbClr val="4F622F"/>
                </a:solidFill>
                <a:latin typeface="Avenir Next Pro"/>
              </a:rPr>
              <a:t>{{s03.nombre4}}</a:t>
            </a:r>
            <a:endParaRPr sz="1400">
              <a:latin typeface="Avenir Next Pr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0600" y="3860800"/>
            <a:ext cx="2428240" cy="1574800"/>
          </a:xfrm>
          <a:custGeom>
            <a:avLst/>
            <a:gdLst/>
            <a:ahLst/>
            <a:cxnLst/>
            <a:rect l="l" t="t" r="r" b="b"/>
            <a:pathLst>
              <a:path w="2428240" h="1574800">
                <a:moveTo>
                  <a:pt x="230096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47800"/>
                </a:lnTo>
                <a:lnTo>
                  <a:pt x="9971" y="1497261"/>
                </a:lnTo>
                <a:lnTo>
                  <a:pt x="37172" y="1537627"/>
                </a:lnTo>
                <a:lnTo>
                  <a:pt x="77538" y="1564828"/>
                </a:lnTo>
                <a:lnTo>
                  <a:pt x="127000" y="1574800"/>
                </a:lnTo>
                <a:lnTo>
                  <a:pt x="2300960" y="1574800"/>
                </a:lnTo>
                <a:lnTo>
                  <a:pt x="2350422" y="1564828"/>
                </a:lnTo>
                <a:lnTo>
                  <a:pt x="2390787" y="1537627"/>
                </a:lnTo>
                <a:lnTo>
                  <a:pt x="2417989" y="1497261"/>
                </a:lnTo>
                <a:lnTo>
                  <a:pt x="2427960" y="1447800"/>
                </a:lnTo>
                <a:lnTo>
                  <a:pt x="2427960" y="127000"/>
                </a:lnTo>
                <a:lnTo>
                  <a:pt x="2417989" y="77538"/>
                </a:lnTo>
                <a:lnTo>
                  <a:pt x="2390787" y="37172"/>
                </a:lnTo>
                <a:lnTo>
                  <a:pt x="2350422" y="9971"/>
                </a:lnTo>
                <a:lnTo>
                  <a:pt x="230096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5400" y="4140200"/>
            <a:ext cx="12515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>
                <a:solidFill>
                  <a:srgbClr val="C3ED74"/>
                </a:solidFill>
                <a:latin typeface="Avenir Next Pro"/>
              </a:rPr>
              <a:t>Perfil</a:t>
            </a:r>
            <a:r>
              <a:rPr sz="1350" spc="-155">
                <a:solidFill>
                  <a:srgbClr val="C3ED74"/>
                </a:solidFill>
                <a:latin typeface="Avenir Next Pro"/>
              </a:rPr>
              <a:t> </a:t>
            </a:r>
            <a:r>
              <a:rPr sz="1350">
                <a:solidFill>
                  <a:srgbClr val="C3ED74"/>
                </a:solidFill>
                <a:latin typeface="Avenir Next Pro"/>
              </a:rPr>
              <a:t>de</a:t>
            </a:r>
            <a:r>
              <a:rPr sz="1350" spc="-150">
                <a:solidFill>
                  <a:srgbClr val="C3ED74"/>
                </a:solidFill>
                <a:latin typeface="Avenir Next Pro"/>
              </a:rPr>
              <a:t> </a:t>
            </a:r>
            <a:r>
              <a:rPr sz="1350" spc="-10">
                <a:solidFill>
                  <a:srgbClr val="C3ED74"/>
                </a:solidFill>
                <a:latin typeface="Avenir Next Pro"/>
              </a:rPr>
              <a:t>riesgo</a:t>
            </a:r>
            <a:endParaRPr sz="1350">
              <a:latin typeface="Avenir Next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5400" y="4937759"/>
            <a:ext cx="1329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>
                <a:solidFill>
                  <a:srgbClr val="FFFFFF"/>
                </a:solidFill>
                <a:latin typeface="Avenir Next Pro"/>
              </a:rPr>
              <a:t>{{s03.nombre5}}</a:t>
            </a:r>
            <a:endParaRPr sz="1400">
              <a:latin typeface="Avenir Next Pr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70960" y="3860800"/>
            <a:ext cx="2428240" cy="1574800"/>
          </a:xfrm>
          <a:custGeom>
            <a:avLst/>
            <a:gdLst/>
            <a:ahLst/>
            <a:cxnLst/>
            <a:rect l="l" t="t" r="r" b="b"/>
            <a:pathLst>
              <a:path w="2428240" h="1574800">
                <a:moveTo>
                  <a:pt x="230096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47800"/>
                </a:lnTo>
                <a:lnTo>
                  <a:pt x="9971" y="1497261"/>
                </a:lnTo>
                <a:lnTo>
                  <a:pt x="37172" y="1537627"/>
                </a:lnTo>
                <a:lnTo>
                  <a:pt x="77538" y="1564828"/>
                </a:lnTo>
                <a:lnTo>
                  <a:pt x="127000" y="1574800"/>
                </a:lnTo>
                <a:lnTo>
                  <a:pt x="2300960" y="1574800"/>
                </a:lnTo>
                <a:lnTo>
                  <a:pt x="2350422" y="1564828"/>
                </a:lnTo>
                <a:lnTo>
                  <a:pt x="2390787" y="1537627"/>
                </a:lnTo>
                <a:lnTo>
                  <a:pt x="2417989" y="1497261"/>
                </a:lnTo>
                <a:lnTo>
                  <a:pt x="2427960" y="1447800"/>
                </a:lnTo>
                <a:lnTo>
                  <a:pt x="2427960" y="127000"/>
                </a:lnTo>
                <a:lnTo>
                  <a:pt x="2417989" y="77538"/>
                </a:lnTo>
                <a:lnTo>
                  <a:pt x="2390787" y="37172"/>
                </a:lnTo>
                <a:lnTo>
                  <a:pt x="2350422" y="9971"/>
                </a:lnTo>
                <a:lnTo>
                  <a:pt x="230096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5760" y="4140200"/>
            <a:ext cx="100139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>
                <a:solidFill>
                  <a:srgbClr val="C3ED74"/>
                </a:solidFill>
                <a:latin typeface="Avenir Next Pro"/>
              </a:rPr>
              <a:t>Experiencia</a:t>
            </a:r>
            <a:endParaRPr sz="1350">
              <a:latin typeface="Avenir Next Pr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75760" y="4457700"/>
            <a:ext cx="1854200" cy="381000"/>
            <a:chOff x="3875760" y="4457700"/>
            <a:chExt cx="1854200" cy="381000"/>
          </a:xfrm>
        </p:grpSpPr>
        <p:sp>
          <p:nvSpPr>
            <p:cNvPr id="24" name="object 24"/>
            <p:cNvSpPr/>
            <p:nvPr/>
          </p:nvSpPr>
          <p:spPr>
            <a:xfrm>
              <a:off x="3888460" y="4457700"/>
              <a:ext cx="1841500" cy="19050"/>
            </a:xfrm>
            <a:custGeom>
              <a:avLst/>
              <a:gdLst/>
              <a:ahLst/>
              <a:cxnLst/>
              <a:rect l="l" t="t" r="r" b="b"/>
              <a:pathLst>
                <a:path w="1841500" h="19050">
                  <a:moveTo>
                    <a:pt x="18415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841500" y="19050"/>
                  </a:lnTo>
                  <a:lnTo>
                    <a:pt x="1841500" y="0"/>
                  </a:lnTo>
                  <a:close/>
                </a:path>
              </a:pathLst>
            </a:custGeom>
            <a:solidFill>
              <a:srgbClr val="213311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5760" y="45974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8660" y="4597400"/>
              <a:ext cx="241300" cy="241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1560" y="45974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4460" y="45974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7360" y="4597400"/>
              <a:ext cx="241300" cy="2413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875760" y="4953000"/>
            <a:ext cx="606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FFFFF"/>
                </a:solidFill>
                <a:latin typeface="Avenir Next Pro"/>
              </a:rPr>
              <a:t>{{s03.nombre6}}</a:t>
            </a:r>
            <a:endParaRPr sz="1400">
              <a:latin typeface="Avenir Next Pr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151319" y="3860800"/>
            <a:ext cx="2428240" cy="1574800"/>
          </a:xfrm>
          <a:custGeom>
            <a:avLst/>
            <a:gdLst/>
            <a:ahLst/>
            <a:cxnLst/>
            <a:rect l="l" t="t" r="r" b="b"/>
            <a:pathLst>
              <a:path w="2428240" h="1574800">
                <a:moveTo>
                  <a:pt x="230096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47800"/>
                </a:lnTo>
                <a:lnTo>
                  <a:pt x="9971" y="1497261"/>
                </a:lnTo>
                <a:lnTo>
                  <a:pt x="37172" y="1537627"/>
                </a:lnTo>
                <a:lnTo>
                  <a:pt x="77538" y="1564828"/>
                </a:lnTo>
                <a:lnTo>
                  <a:pt x="127000" y="1574800"/>
                </a:lnTo>
                <a:lnTo>
                  <a:pt x="2300960" y="1574800"/>
                </a:lnTo>
                <a:lnTo>
                  <a:pt x="2350422" y="1564828"/>
                </a:lnTo>
                <a:lnTo>
                  <a:pt x="2390787" y="1537627"/>
                </a:lnTo>
                <a:lnTo>
                  <a:pt x="2417989" y="1497261"/>
                </a:lnTo>
                <a:lnTo>
                  <a:pt x="2427960" y="1447800"/>
                </a:lnTo>
                <a:lnTo>
                  <a:pt x="2427960" y="127000"/>
                </a:lnTo>
                <a:lnTo>
                  <a:pt x="2417989" y="77538"/>
                </a:lnTo>
                <a:lnTo>
                  <a:pt x="2390787" y="37172"/>
                </a:lnTo>
                <a:lnTo>
                  <a:pt x="2350422" y="9971"/>
                </a:lnTo>
                <a:lnTo>
                  <a:pt x="230096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56119" y="4140200"/>
            <a:ext cx="13773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30">
                <a:solidFill>
                  <a:srgbClr val="C3ED74"/>
                </a:solidFill>
                <a:latin typeface="Avenir Next Pro"/>
              </a:rPr>
              <a:t>Involucramiento</a:t>
            </a:r>
            <a:endParaRPr sz="1350">
              <a:latin typeface="Avenir Next Pr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56119" y="4457700"/>
            <a:ext cx="1854200" cy="381000"/>
            <a:chOff x="6456119" y="4457700"/>
            <a:chExt cx="1854200" cy="381000"/>
          </a:xfrm>
        </p:grpSpPr>
        <p:sp>
          <p:nvSpPr>
            <p:cNvPr id="34" name="object 34"/>
            <p:cNvSpPr/>
            <p:nvPr/>
          </p:nvSpPr>
          <p:spPr>
            <a:xfrm>
              <a:off x="6468819" y="4457700"/>
              <a:ext cx="1841500" cy="19050"/>
            </a:xfrm>
            <a:custGeom>
              <a:avLst/>
              <a:gdLst/>
              <a:ahLst/>
              <a:cxnLst/>
              <a:rect l="l" t="t" r="r" b="b"/>
              <a:pathLst>
                <a:path w="1841500" h="19050">
                  <a:moveTo>
                    <a:pt x="18415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841500" y="19050"/>
                  </a:lnTo>
                  <a:lnTo>
                    <a:pt x="1841500" y="0"/>
                  </a:lnTo>
                  <a:close/>
                </a:path>
              </a:pathLst>
            </a:custGeom>
            <a:solidFill>
              <a:srgbClr val="213311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119" y="45974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19" y="45974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1919" y="45974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4819" y="4597400"/>
              <a:ext cx="241300" cy="24130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456119" y="4953000"/>
            <a:ext cx="367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>
                <a:solidFill>
                  <a:srgbClr val="FFFFFF"/>
                </a:solidFill>
                <a:latin typeface="Avenir Next Pro"/>
              </a:rPr>
              <a:t>{{s03.nombre7}}</a:t>
            </a:r>
            <a:endParaRPr sz="1400">
              <a:latin typeface="Avenir Next Pr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731680" y="3860800"/>
            <a:ext cx="2428240" cy="1574800"/>
          </a:xfrm>
          <a:custGeom>
            <a:avLst/>
            <a:gdLst/>
            <a:ahLst/>
            <a:cxnLst/>
            <a:rect l="l" t="t" r="r" b="b"/>
            <a:pathLst>
              <a:path w="2428240" h="1574800">
                <a:moveTo>
                  <a:pt x="230096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447800"/>
                </a:lnTo>
                <a:lnTo>
                  <a:pt x="9971" y="1497261"/>
                </a:lnTo>
                <a:lnTo>
                  <a:pt x="37172" y="1537627"/>
                </a:lnTo>
                <a:lnTo>
                  <a:pt x="77538" y="1564828"/>
                </a:lnTo>
                <a:lnTo>
                  <a:pt x="127000" y="1574800"/>
                </a:lnTo>
                <a:lnTo>
                  <a:pt x="2300960" y="1574800"/>
                </a:lnTo>
                <a:lnTo>
                  <a:pt x="2350422" y="1564828"/>
                </a:lnTo>
                <a:lnTo>
                  <a:pt x="2390787" y="1537627"/>
                </a:lnTo>
                <a:lnTo>
                  <a:pt x="2417989" y="1497261"/>
                </a:lnTo>
                <a:lnTo>
                  <a:pt x="2427960" y="1447800"/>
                </a:lnTo>
                <a:lnTo>
                  <a:pt x="2427960" y="127000"/>
                </a:lnTo>
                <a:lnTo>
                  <a:pt x="2417989" y="77538"/>
                </a:lnTo>
                <a:lnTo>
                  <a:pt x="2390787" y="37172"/>
                </a:lnTo>
                <a:lnTo>
                  <a:pt x="2350422" y="9971"/>
                </a:lnTo>
                <a:lnTo>
                  <a:pt x="2300960" y="0"/>
                </a:lnTo>
                <a:close/>
              </a:path>
            </a:pathLst>
          </a:custGeom>
          <a:solidFill>
            <a:srgbClr val="D4FF82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36480" y="4165600"/>
            <a:ext cx="11690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5">
                <a:latin typeface="Avenir Next Pro"/>
              </a:rPr>
              <a:t>Flujo</a:t>
            </a:r>
            <a:r>
              <a:rPr sz="1350" spc="-175">
                <a:latin typeface="Avenir Next Pro"/>
              </a:rPr>
              <a:t> </a:t>
            </a:r>
            <a:r>
              <a:rPr sz="1350" spc="-10">
                <a:latin typeface="Avenir Next Pro"/>
              </a:rPr>
              <a:t>mensual</a:t>
            </a:r>
            <a:endParaRPr sz="1350">
              <a:latin typeface="Avenir Next Pr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36480" y="4287520"/>
            <a:ext cx="1443355" cy="8483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55">
                <a:latin typeface="Avenir Next Pro"/>
              </a:rPr>
              <a:t>{{s03.monto}}</a:t>
            </a:r>
            <a:endParaRPr sz="2400">
              <a:latin typeface="Avenir Next Pr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50">
                <a:latin typeface="Avenir Next Pro"/>
              </a:rPr>
              <a:t>USD/</a:t>
            </a:r>
            <a:r>
              <a:rPr sz="1200" spc="-110">
                <a:latin typeface="Avenir Next Pro"/>
              </a:rPr>
              <a:t> </a:t>
            </a:r>
            <a:r>
              <a:rPr sz="1200">
                <a:latin typeface="Avenir Next Pro"/>
              </a:rPr>
              <a:t>mes</a:t>
            </a:r>
            <a:r>
              <a:rPr sz="1200" spc="-105">
                <a:latin typeface="Avenir Next Pro"/>
              </a:rPr>
              <a:t> </a:t>
            </a:r>
            <a:r>
              <a:rPr sz="1200" spc="-10">
                <a:latin typeface="Avenir Next Pro"/>
              </a:rPr>
              <a:t>necesario</a:t>
            </a:r>
            <a:endParaRPr sz="1200">
              <a:latin typeface="Avenir Next Pr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91679" y="5816648"/>
            <a:ext cx="5532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213311"/>
                </a:solidFill>
                <a:latin typeface="Avenir Next Pro"/>
              </a:rPr>
              <a:t>Con</a:t>
            </a:r>
            <a:r>
              <a:rPr sz="1400" spc="-75">
                <a:solidFill>
                  <a:srgbClr val="213311"/>
                </a:solidFill>
                <a:latin typeface="Avenir Next Pro"/>
              </a:rPr>
              <a:t> </a:t>
            </a:r>
            <a:r>
              <a:rPr sz="1400">
                <a:solidFill>
                  <a:srgbClr val="213311"/>
                </a:solidFill>
                <a:latin typeface="Avenir Next Pro"/>
              </a:rPr>
              <a:t>este</a:t>
            </a:r>
            <a:r>
              <a:rPr sz="1400" spc="-70">
                <a:solidFill>
                  <a:srgbClr val="213311"/>
                </a:solidFill>
                <a:latin typeface="Avenir Next Pro"/>
              </a:rPr>
              <a:t> </a:t>
            </a:r>
            <a:r>
              <a:rPr sz="1400">
                <a:solidFill>
                  <a:srgbClr val="213311"/>
                </a:solidFill>
                <a:latin typeface="Avenir Next Pro"/>
              </a:rPr>
              <a:t>horizonte</a:t>
            </a:r>
            <a:r>
              <a:rPr sz="1400" spc="-70">
                <a:solidFill>
                  <a:srgbClr val="213311"/>
                </a:solidFill>
                <a:latin typeface="Avenir Next Pro"/>
              </a:rPr>
              <a:t> </a:t>
            </a:r>
            <a:r>
              <a:rPr sz="1400">
                <a:solidFill>
                  <a:srgbClr val="213311"/>
                </a:solidFill>
                <a:latin typeface="Avenir Next Pro"/>
              </a:rPr>
              <a:t>de</a:t>
            </a:r>
            <a:r>
              <a:rPr sz="1400" spc="-70">
                <a:solidFill>
                  <a:srgbClr val="213311"/>
                </a:solidFill>
                <a:latin typeface="Avenir Next Pro"/>
              </a:rPr>
              <a:t> </a:t>
            </a:r>
            <a:r>
              <a:rPr sz="1400">
                <a:solidFill>
                  <a:srgbClr val="213311"/>
                </a:solidFill>
                <a:latin typeface="Avenir Next Pro"/>
              </a:rPr>
              <a:t>perfil,</a:t>
            </a:r>
            <a:r>
              <a:rPr sz="1400" spc="-70">
                <a:solidFill>
                  <a:srgbClr val="213311"/>
                </a:solidFill>
                <a:latin typeface="Avenir Next Pro"/>
              </a:rPr>
              <a:t> </a:t>
            </a:r>
            <a:r>
              <a:rPr sz="1400" u="sng" spc="55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¿cómo</a:t>
            </a:r>
            <a:r>
              <a:rPr sz="1400" u="sng" spc="-11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 </a:t>
            </a:r>
            <a:r>
              <a:rPr sz="1400" u="sng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está</a:t>
            </a:r>
            <a:r>
              <a:rPr sz="1400" u="sng" spc="-11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 </a:t>
            </a:r>
            <a:r>
              <a:rPr sz="1400" u="sng" spc="-2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parado</a:t>
            </a:r>
            <a:r>
              <a:rPr sz="1400" u="sng" spc="-105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 </a:t>
            </a:r>
            <a:r>
              <a:rPr sz="1400" u="sng" spc="-25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tu</a:t>
            </a:r>
            <a:r>
              <a:rPr sz="1400" u="sng" spc="-11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 </a:t>
            </a:r>
            <a:r>
              <a:rPr sz="1400" u="sng" spc="-25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portafolio</a:t>
            </a:r>
            <a:r>
              <a:rPr sz="1400" u="sng" spc="-11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 </a:t>
            </a:r>
            <a:r>
              <a:rPr sz="1400" u="sng" spc="-20">
                <a:solidFill>
                  <a:srgbClr val="213311"/>
                </a:solidFill>
                <a:uFill>
                  <a:solidFill>
                    <a:srgbClr val="213311"/>
                  </a:solidFill>
                </a:uFill>
                <a:latin typeface="Avenir Next Pro"/>
              </a:rPr>
              <a:t>hoy?</a:t>
            </a:r>
            <a:endParaRPr sz="1400">
              <a:latin typeface="Avenir Next Pro"/>
            </a:endParaRPr>
          </a:p>
        </p:txBody>
      </p:sp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05599" y="5588000"/>
            <a:ext cx="1079999" cy="660495"/>
          </a:xfrm>
          <a:prstGeom prst="rect">
            <a:avLst/>
          </a:prstGeom>
        </p:spPr>
      </p:pic>
      <p:pic>
        <p:nvPicPr>
          <p:cNvPr id="46" name="object 25">
            <a:extLst>
              <a:ext uri="{FF2B5EF4-FFF2-40B4-BE49-F238E27FC236}">
                <a16:creationId xmlns:a16="http://schemas.microsoft.com/office/drawing/2014/main" id="{842E9B46-DAB9-3FDF-1CFC-F69AEDBF4A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3406" y="4567120"/>
            <a:ext cx="241300" cy="241300"/>
          </a:xfrm>
          <a:prstGeom prst="rect">
            <a:avLst/>
          </a:prstGeom>
        </p:spPr>
      </p:pic>
      <p:pic>
        <p:nvPicPr>
          <p:cNvPr id="48" name="object 26">
            <a:extLst>
              <a:ext uri="{FF2B5EF4-FFF2-40B4-BE49-F238E27FC236}">
                <a16:creationId xmlns:a16="http://schemas.microsoft.com/office/drawing/2014/main" id="{B937F7C3-CA9E-4702-1FD5-5887B5A83A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6306" y="4567120"/>
            <a:ext cx="241300" cy="241300"/>
          </a:xfrm>
          <a:prstGeom prst="rect">
            <a:avLst/>
          </a:prstGeom>
        </p:spPr>
      </p:pic>
      <p:pic>
        <p:nvPicPr>
          <p:cNvPr id="50" name="object 27">
            <a:extLst>
              <a:ext uri="{FF2B5EF4-FFF2-40B4-BE49-F238E27FC236}">
                <a16:creationId xmlns:a16="http://schemas.microsoft.com/office/drawing/2014/main" id="{F303200A-8B33-E3DD-290C-A9909D8D73B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9206" y="4567120"/>
            <a:ext cx="241300" cy="241300"/>
          </a:xfrm>
          <a:prstGeom prst="rect">
            <a:avLst/>
          </a:prstGeom>
        </p:spPr>
      </p:pic>
      <p:pic>
        <p:nvPicPr>
          <p:cNvPr id="52" name="object 28">
            <a:extLst>
              <a:ext uri="{FF2B5EF4-FFF2-40B4-BE49-F238E27FC236}">
                <a16:creationId xmlns:a16="http://schemas.microsoft.com/office/drawing/2014/main" id="{21900373-9E06-754B-1241-7837D9DA87D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2106" y="4567120"/>
            <a:ext cx="241300" cy="241300"/>
          </a:xfrm>
          <a:prstGeom prst="rect">
            <a:avLst/>
          </a:prstGeom>
        </p:spPr>
      </p:pic>
      <p:pic>
        <p:nvPicPr>
          <p:cNvPr id="54" name="object 29">
            <a:extLst>
              <a:ext uri="{FF2B5EF4-FFF2-40B4-BE49-F238E27FC236}">
                <a16:creationId xmlns:a16="http://schemas.microsoft.com/office/drawing/2014/main" id="{40F97CC7-8D6A-2A07-53C5-BC6317C6C2D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5006" y="4567120"/>
            <a:ext cx="241300" cy="2413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80">
                <a:solidFill>
                  <a:srgbClr val="2D3311"/>
                </a:solidFill>
                <a:latin typeface="Avenir Next Pro"/>
              </a:rPr>
              <a:t>Así</a:t>
            </a:r>
            <a:r>
              <a:rPr sz="2500" spc="-135">
                <a:solidFill>
                  <a:srgbClr val="2D3311"/>
                </a:solidFill>
                <a:latin typeface="Avenir Next Pro"/>
              </a:rPr>
              <a:t> </a:t>
            </a:r>
            <a:r>
              <a:rPr sz="2500">
                <a:solidFill>
                  <a:srgbClr val="2D3311"/>
                </a:solidFill>
                <a:latin typeface="Avenir Next Pro"/>
              </a:rPr>
              <a:t>está</a:t>
            </a:r>
            <a:r>
              <a:rPr sz="2500" spc="-135">
                <a:solidFill>
                  <a:srgbClr val="2D3311"/>
                </a:solidFill>
                <a:latin typeface="Avenir Next Pro"/>
              </a:rPr>
              <a:t> </a:t>
            </a:r>
            <a:r>
              <a:rPr sz="2500">
                <a:solidFill>
                  <a:srgbClr val="2D3311"/>
                </a:solidFill>
                <a:latin typeface="Avenir Next Pro"/>
              </a:rPr>
              <a:t>parado</a:t>
            </a:r>
            <a:r>
              <a:rPr sz="2500" spc="-135">
                <a:solidFill>
                  <a:srgbClr val="2D3311"/>
                </a:solidFill>
                <a:latin typeface="Avenir Next Pro"/>
              </a:rPr>
              <a:t> </a:t>
            </a:r>
            <a:r>
              <a:rPr sz="2500" spc="125">
                <a:solidFill>
                  <a:srgbClr val="2D3311"/>
                </a:solidFill>
                <a:latin typeface="Avenir Next Pro"/>
              </a:rPr>
              <a:t>tu</a:t>
            </a:r>
            <a:r>
              <a:rPr sz="2500" spc="-135">
                <a:solidFill>
                  <a:srgbClr val="2D3311"/>
                </a:solidFill>
                <a:latin typeface="Avenir Next Pro"/>
              </a:rPr>
              <a:t> </a:t>
            </a:r>
            <a:r>
              <a:rPr sz="2500">
                <a:solidFill>
                  <a:srgbClr val="2D3311"/>
                </a:solidFill>
                <a:latin typeface="Avenir Next Pro"/>
              </a:rPr>
              <a:t>dinero</a:t>
            </a:r>
            <a:r>
              <a:rPr sz="2500" spc="-135">
                <a:solidFill>
                  <a:srgbClr val="2D3311"/>
                </a:solidFill>
                <a:latin typeface="Avenir Next Pro"/>
              </a:rPr>
              <a:t> </a:t>
            </a:r>
            <a:r>
              <a:rPr sz="2500" spc="25">
                <a:solidFill>
                  <a:srgbClr val="2D3311"/>
                </a:solidFill>
                <a:latin typeface="Avenir Next Pro"/>
              </a:rPr>
              <a:t>hoy</a:t>
            </a:r>
            <a:endParaRPr sz="2500">
              <a:latin typeface="Avenir Next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790700"/>
            <a:ext cx="3111500" cy="1054100"/>
          </a:xfrm>
          <a:custGeom>
            <a:avLst/>
            <a:gdLst/>
            <a:ahLst/>
            <a:cxnLst/>
            <a:rect l="l" t="t" r="r" b="b"/>
            <a:pathLst>
              <a:path w="3111500" h="1054100">
                <a:moveTo>
                  <a:pt x="3035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977900"/>
                </a:lnTo>
                <a:lnTo>
                  <a:pt x="5982" y="1007577"/>
                </a:lnTo>
                <a:lnTo>
                  <a:pt x="22303" y="1031796"/>
                </a:lnTo>
                <a:lnTo>
                  <a:pt x="46522" y="1048117"/>
                </a:lnTo>
                <a:lnTo>
                  <a:pt x="76200" y="1054100"/>
                </a:lnTo>
                <a:lnTo>
                  <a:pt x="3035300" y="1054100"/>
                </a:lnTo>
                <a:lnTo>
                  <a:pt x="3064977" y="1048117"/>
                </a:lnTo>
                <a:lnTo>
                  <a:pt x="3089196" y="1031796"/>
                </a:lnTo>
                <a:lnTo>
                  <a:pt x="3105517" y="1007577"/>
                </a:lnTo>
                <a:lnTo>
                  <a:pt x="3111500" y="977900"/>
                </a:lnTo>
                <a:lnTo>
                  <a:pt x="3111500" y="76200"/>
                </a:lnTo>
                <a:lnTo>
                  <a:pt x="3105517" y="46522"/>
                </a:lnTo>
                <a:lnTo>
                  <a:pt x="3089196" y="22303"/>
                </a:lnTo>
                <a:lnTo>
                  <a:pt x="3064977" y="5982"/>
                </a:lnTo>
                <a:lnTo>
                  <a:pt x="30353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0264" y="1915160"/>
            <a:ext cx="2339975" cy="7035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320"/>
              </a:spcBef>
            </a:pPr>
            <a:r>
              <a:rPr sz="1300" spc="-20">
                <a:solidFill>
                  <a:srgbClr val="C3ED70"/>
                </a:solidFill>
                <a:latin typeface="Avenir Next Pro"/>
              </a:rPr>
              <a:t>Patrimonio</a:t>
            </a:r>
            <a:r>
              <a:rPr sz="1300" spc="-140">
                <a:solidFill>
                  <a:srgbClr val="C3ED70"/>
                </a:solidFill>
                <a:latin typeface="Avenir Next Pro"/>
              </a:rPr>
              <a:t> </a:t>
            </a:r>
            <a:r>
              <a:rPr sz="1300" spc="-10">
                <a:solidFill>
                  <a:srgbClr val="C3ED70"/>
                </a:solidFill>
                <a:latin typeface="Avenir Next Pro"/>
              </a:rPr>
              <a:t>total</a:t>
            </a:r>
            <a:endParaRPr sz="1300">
              <a:latin typeface="Avenir Next Pro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2600" spc="-140">
                <a:solidFill>
                  <a:srgbClr val="FFFFFF"/>
                </a:solidFill>
                <a:latin typeface="Avenir Next Pro"/>
              </a:rPr>
              <a:t>{{s04.monto}}</a:t>
            </a:r>
            <a:endParaRPr sz="2600">
              <a:latin typeface="Avenir Next Pr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2971800"/>
            <a:ext cx="3111500" cy="1054100"/>
          </a:xfrm>
          <a:custGeom>
            <a:avLst/>
            <a:gdLst/>
            <a:ahLst/>
            <a:cxnLst/>
            <a:rect l="l" t="t" r="r" b="b"/>
            <a:pathLst>
              <a:path w="3111500" h="1054100">
                <a:moveTo>
                  <a:pt x="3035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977900"/>
                </a:lnTo>
                <a:lnTo>
                  <a:pt x="5982" y="1007577"/>
                </a:lnTo>
                <a:lnTo>
                  <a:pt x="22303" y="1031796"/>
                </a:lnTo>
                <a:lnTo>
                  <a:pt x="46522" y="1048117"/>
                </a:lnTo>
                <a:lnTo>
                  <a:pt x="76200" y="1054100"/>
                </a:lnTo>
                <a:lnTo>
                  <a:pt x="3035300" y="1054100"/>
                </a:lnTo>
                <a:lnTo>
                  <a:pt x="3064977" y="1048117"/>
                </a:lnTo>
                <a:lnTo>
                  <a:pt x="3089196" y="1031796"/>
                </a:lnTo>
                <a:lnTo>
                  <a:pt x="3105517" y="1007577"/>
                </a:lnTo>
                <a:lnTo>
                  <a:pt x="3111500" y="977900"/>
                </a:lnTo>
                <a:lnTo>
                  <a:pt x="3111500" y="76200"/>
                </a:lnTo>
                <a:lnTo>
                  <a:pt x="3105517" y="46522"/>
                </a:lnTo>
                <a:lnTo>
                  <a:pt x="3089196" y="22303"/>
                </a:lnTo>
                <a:lnTo>
                  <a:pt x="3064977" y="5982"/>
                </a:lnTo>
                <a:lnTo>
                  <a:pt x="3035300" y="0"/>
                </a:lnTo>
                <a:close/>
              </a:path>
            </a:pathLst>
          </a:custGeom>
          <a:solidFill>
            <a:srgbClr val="314B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6366" y="3124200"/>
            <a:ext cx="7315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45">
                <a:solidFill>
                  <a:srgbClr val="C3ED70"/>
                </a:solidFill>
                <a:latin typeface="Avenir Next Pro"/>
              </a:rPr>
              <a:t>Invertido</a:t>
            </a:r>
            <a:endParaRPr sz="1300">
              <a:latin typeface="Avenir Next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8872" y="3378200"/>
            <a:ext cx="23628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40">
                <a:solidFill>
                  <a:srgbClr val="FFFFFF"/>
                </a:solidFill>
                <a:latin typeface="Avenir Next Pro"/>
              </a:rPr>
              <a:t>{{s04.monto2}}</a:t>
            </a:r>
            <a:endParaRPr sz="2600">
              <a:latin typeface="Avenir Next Pr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4152900"/>
            <a:ext cx="3111500" cy="1054100"/>
          </a:xfrm>
          <a:custGeom>
            <a:avLst/>
            <a:gdLst/>
            <a:ahLst/>
            <a:cxnLst/>
            <a:rect l="l" t="t" r="r" b="b"/>
            <a:pathLst>
              <a:path w="3111500" h="1054100">
                <a:moveTo>
                  <a:pt x="3035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977900"/>
                </a:lnTo>
                <a:lnTo>
                  <a:pt x="5982" y="1007577"/>
                </a:lnTo>
                <a:lnTo>
                  <a:pt x="22303" y="1031796"/>
                </a:lnTo>
                <a:lnTo>
                  <a:pt x="46522" y="1048117"/>
                </a:lnTo>
                <a:lnTo>
                  <a:pt x="76200" y="1054100"/>
                </a:lnTo>
                <a:lnTo>
                  <a:pt x="3035300" y="1054100"/>
                </a:lnTo>
                <a:lnTo>
                  <a:pt x="3064977" y="1048117"/>
                </a:lnTo>
                <a:lnTo>
                  <a:pt x="3089196" y="1031796"/>
                </a:lnTo>
                <a:lnTo>
                  <a:pt x="3105517" y="1007577"/>
                </a:lnTo>
                <a:lnTo>
                  <a:pt x="3111500" y="977900"/>
                </a:lnTo>
                <a:lnTo>
                  <a:pt x="3111500" y="76200"/>
                </a:lnTo>
                <a:lnTo>
                  <a:pt x="3105517" y="46522"/>
                </a:lnTo>
                <a:lnTo>
                  <a:pt x="3089196" y="22303"/>
                </a:lnTo>
                <a:lnTo>
                  <a:pt x="3064977" y="5982"/>
                </a:lnTo>
                <a:lnTo>
                  <a:pt x="3035300" y="0"/>
                </a:lnTo>
                <a:close/>
              </a:path>
            </a:pathLst>
          </a:custGeom>
          <a:solidFill>
            <a:srgbClr val="213311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5534" y="4305300"/>
            <a:ext cx="4330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>
                <a:solidFill>
                  <a:srgbClr val="C3ED70"/>
                </a:solidFill>
                <a:latin typeface="Avenir Next Pro"/>
              </a:rPr>
              <a:t>Perfil</a:t>
            </a:r>
            <a:endParaRPr sz="1300">
              <a:latin typeface="Avenir Next Pr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6606" y="4468878"/>
            <a:ext cx="24472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>
                <a:solidFill>
                  <a:srgbClr val="FFFFFF"/>
                </a:solidFill>
                <a:latin typeface="Avenir Next Pro"/>
              </a:rPr>
              <a:t>{{s04.nombre}}</a:t>
            </a:r>
            <a:endParaRPr sz="2600">
              <a:latin typeface="Avenir Next Pr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766" y="4785168"/>
            <a:ext cx="167322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>
                <a:solidFill>
                  <a:srgbClr val="FFFFFF"/>
                </a:solidFill>
                <a:latin typeface="Avenir Next Pro"/>
              </a:rPr>
              <a:t>{{s04.nombre2}}</a:t>
            </a:r>
            <a:endParaRPr sz="2600">
              <a:latin typeface="Avenir Next Pr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69391" y="2549525"/>
            <a:ext cx="6610350" cy="2038350"/>
            <a:chOff x="4869391" y="2549525"/>
            <a:chExt cx="6610350" cy="2038350"/>
          </a:xfrm>
        </p:grpSpPr>
        <p:sp>
          <p:nvSpPr>
            <p:cNvPr id="13" name="object 13"/>
            <p:cNvSpPr/>
            <p:nvPr/>
          </p:nvSpPr>
          <p:spPr>
            <a:xfrm>
              <a:off x="4872566" y="4584700"/>
              <a:ext cx="6604000" cy="0"/>
            </a:xfrm>
            <a:custGeom>
              <a:avLst/>
              <a:gdLst/>
              <a:ahLst/>
              <a:cxnLst/>
              <a:rect l="l" t="t" r="r" b="b"/>
              <a:pathLst>
                <a:path w="6604000">
                  <a:moveTo>
                    <a:pt x="0" y="0"/>
                  </a:moveTo>
                  <a:lnTo>
                    <a:pt x="6604000" y="0"/>
                  </a:lnTo>
                </a:path>
              </a:pathLst>
            </a:custGeom>
            <a:ln w="635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872566" y="2552700"/>
              <a:ext cx="6604000" cy="1524000"/>
            </a:xfrm>
            <a:custGeom>
              <a:avLst/>
              <a:gdLst/>
              <a:ahLst/>
              <a:cxnLst/>
              <a:rect l="l" t="t" r="r" b="b"/>
              <a:pathLst>
                <a:path w="6604000" h="1524000">
                  <a:moveTo>
                    <a:pt x="0" y="1524000"/>
                  </a:moveTo>
                  <a:lnTo>
                    <a:pt x="6604000" y="1524000"/>
                  </a:lnTo>
                </a:path>
                <a:path w="6604000" h="1524000">
                  <a:moveTo>
                    <a:pt x="0" y="1016000"/>
                  </a:moveTo>
                  <a:lnTo>
                    <a:pt x="6604000" y="1016000"/>
                  </a:lnTo>
                </a:path>
                <a:path w="6604000" h="1524000">
                  <a:moveTo>
                    <a:pt x="0" y="508000"/>
                  </a:moveTo>
                  <a:lnTo>
                    <a:pt x="6604000" y="508000"/>
                  </a:lnTo>
                </a:path>
                <a:path w="6604000" h="1524000">
                  <a:moveTo>
                    <a:pt x="0" y="0"/>
                  </a:moveTo>
                  <a:lnTo>
                    <a:pt x="6604000" y="0"/>
                  </a:lnTo>
                </a:path>
              </a:pathLst>
            </a:custGeom>
            <a:ln w="6350">
              <a:solidFill>
                <a:srgbClr val="CCCCCC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023908" y="4584700"/>
              <a:ext cx="798195" cy="0"/>
            </a:xfrm>
            <a:custGeom>
              <a:avLst/>
              <a:gdLst/>
              <a:ahLst/>
              <a:cxnLst/>
              <a:rect l="l" t="t" r="r" b="b"/>
              <a:pathLst>
                <a:path w="798195">
                  <a:moveTo>
                    <a:pt x="797983" y="0"/>
                  </a:moveTo>
                  <a:lnTo>
                    <a:pt x="0" y="0"/>
                  </a:lnTo>
                  <a:lnTo>
                    <a:pt x="797983" y="0"/>
                  </a:lnTo>
                  <a:close/>
                </a:path>
              </a:pathLst>
            </a:custGeom>
            <a:solidFill>
              <a:srgbClr val="36501A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86435" y="4483100"/>
            <a:ext cx="2355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5">
                <a:solidFill>
                  <a:srgbClr val="4D6B2D"/>
                </a:solidFill>
                <a:latin typeface="Avenir Next Pro"/>
              </a:rPr>
              <a:t>0%</a:t>
            </a:r>
            <a:endParaRPr sz="1000">
              <a:latin typeface="Avenir Next Pr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7795" y="3975100"/>
            <a:ext cx="284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4D6B2D"/>
                </a:solidFill>
                <a:latin typeface="Avenir Next Pro"/>
              </a:rPr>
              <a:t>10%</a:t>
            </a:r>
            <a:endParaRPr sz="1000">
              <a:latin typeface="Avenir Next Pr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4394" y="3467100"/>
            <a:ext cx="3175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>
                <a:solidFill>
                  <a:srgbClr val="4D6B2D"/>
                </a:solidFill>
                <a:latin typeface="Avenir Next Pro"/>
              </a:rPr>
              <a:t>20%</a:t>
            </a:r>
            <a:endParaRPr sz="1000">
              <a:latin typeface="Avenir Next Pr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02235" y="2959100"/>
            <a:ext cx="3200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80">
                <a:solidFill>
                  <a:srgbClr val="4D6B2D"/>
                </a:solidFill>
                <a:latin typeface="Avenir Next Pro"/>
              </a:rPr>
              <a:t>30%</a:t>
            </a:r>
            <a:endParaRPr sz="1000">
              <a:latin typeface="Avenir Next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2742" y="2451100"/>
            <a:ext cx="319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80">
                <a:solidFill>
                  <a:srgbClr val="4D6B2D"/>
                </a:solidFill>
                <a:latin typeface="Avenir Next Pro"/>
              </a:rPr>
              <a:t>40%</a:t>
            </a:r>
            <a:endParaRPr sz="1000">
              <a:latin typeface="Avenir Next Pr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72566" y="2044700"/>
            <a:ext cx="6604000" cy="0"/>
          </a:xfrm>
          <a:custGeom>
            <a:avLst/>
            <a:gdLst/>
            <a:ahLst/>
            <a:cxnLst/>
            <a:rect l="l" t="t" r="r" b="b"/>
            <a:pathLst>
              <a:path w="6604000">
                <a:moveTo>
                  <a:pt x="0" y="0"/>
                </a:moveTo>
                <a:lnTo>
                  <a:pt x="6604000" y="0"/>
                </a:lnTo>
              </a:path>
            </a:pathLst>
          </a:custGeom>
          <a:ln w="6350">
            <a:solidFill>
              <a:srgbClr val="CCCCCC"/>
            </a:solidFill>
            <a:prstDash val="lgDash"/>
          </a:ln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2616" y="1943100"/>
            <a:ext cx="3194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80">
                <a:solidFill>
                  <a:srgbClr val="4D6B2D"/>
                </a:solidFill>
                <a:latin typeface="Avenir Next Pro"/>
              </a:rPr>
              <a:t>50%</a:t>
            </a:r>
            <a:endParaRPr sz="1000">
              <a:latin typeface="Avenir Next Pr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01805" y="4394200"/>
            <a:ext cx="2425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36501A"/>
                </a:solidFill>
                <a:latin typeface="Avenir Next Pro"/>
              </a:rPr>
              <a:t>{{s04.pct}}</a:t>
            </a:r>
            <a:endParaRPr sz="1000">
              <a:latin typeface="Avenir Next Pr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124575" y="3860722"/>
            <a:ext cx="798195" cy="724535"/>
          </a:xfrm>
          <a:custGeom>
            <a:avLst/>
            <a:gdLst/>
            <a:ahLst/>
            <a:cxnLst/>
            <a:rect l="l" t="t" r="r" b="b"/>
            <a:pathLst>
              <a:path w="798195" h="724535">
                <a:moveTo>
                  <a:pt x="747184" y="0"/>
                </a:moveTo>
                <a:lnTo>
                  <a:pt x="50800" y="0"/>
                </a:lnTo>
                <a:lnTo>
                  <a:pt x="42862" y="793"/>
                </a:lnTo>
                <a:lnTo>
                  <a:pt x="25400" y="6350"/>
                </a:lnTo>
                <a:lnTo>
                  <a:pt x="7937" y="21431"/>
                </a:lnTo>
                <a:lnTo>
                  <a:pt x="0" y="50800"/>
                </a:lnTo>
                <a:lnTo>
                  <a:pt x="0" y="673177"/>
                </a:lnTo>
                <a:lnTo>
                  <a:pt x="793" y="681114"/>
                </a:lnTo>
                <a:lnTo>
                  <a:pt x="6350" y="698577"/>
                </a:lnTo>
                <a:lnTo>
                  <a:pt x="21431" y="716039"/>
                </a:lnTo>
                <a:lnTo>
                  <a:pt x="50800" y="723977"/>
                </a:lnTo>
                <a:lnTo>
                  <a:pt x="747184" y="723977"/>
                </a:lnTo>
                <a:lnTo>
                  <a:pt x="755121" y="723183"/>
                </a:lnTo>
                <a:lnTo>
                  <a:pt x="772584" y="717627"/>
                </a:lnTo>
                <a:lnTo>
                  <a:pt x="790046" y="702546"/>
                </a:lnTo>
                <a:lnTo>
                  <a:pt x="797984" y="673177"/>
                </a:lnTo>
                <a:lnTo>
                  <a:pt x="797984" y="50800"/>
                </a:lnTo>
                <a:lnTo>
                  <a:pt x="797190" y="42862"/>
                </a:lnTo>
                <a:lnTo>
                  <a:pt x="791634" y="25400"/>
                </a:lnTo>
                <a:lnTo>
                  <a:pt x="776552" y="7937"/>
                </a:lnTo>
                <a:lnTo>
                  <a:pt x="747184" y="0"/>
                </a:lnTo>
                <a:close/>
              </a:path>
            </a:pathLst>
          </a:custGeom>
          <a:solidFill>
            <a:srgbClr val="3650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77707" y="3303016"/>
            <a:ext cx="292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>
                <a:solidFill>
                  <a:srgbClr val="36501A"/>
                </a:solidFill>
                <a:latin typeface="Avenir Next Pro"/>
              </a:rPr>
              <a:t>{{s04.pct2}}</a:t>
            </a:r>
            <a:endParaRPr sz="1000">
              <a:latin typeface="Avenir Next Pr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25241" y="4021578"/>
            <a:ext cx="798195" cy="563245"/>
          </a:xfrm>
          <a:custGeom>
            <a:avLst/>
            <a:gdLst/>
            <a:ahLst/>
            <a:cxnLst/>
            <a:rect l="l" t="t" r="r" b="b"/>
            <a:pathLst>
              <a:path w="798195" h="563245">
                <a:moveTo>
                  <a:pt x="747182" y="0"/>
                </a:moveTo>
                <a:lnTo>
                  <a:pt x="50800" y="0"/>
                </a:lnTo>
                <a:lnTo>
                  <a:pt x="42862" y="793"/>
                </a:lnTo>
                <a:lnTo>
                  <a:pt x="25400" y="6350"/>
                </a:lnTo>
                <a:lnTo>
                  <a:pt x="7937" y="21431"/>
                </a:lnTo>
                <a:lnTo>
                  <a:pt x="0" y="50800"/>
                </a:lnTo>
                <a:lnTo>
                  <a:pt x="0" y="512321"/>
                </a:lnTo>
                <a:lnTo>
                  <a:pt x="793" y="520258"/>
                </a:lnTo>
                <a:lnTo>
                  <a:pt x="6350" y="537721"/>
                </a:lnTo>
                <a:lnTo>
                  <a:pt x="21431" y="555183"/>
                </a:lnTo>
                <a:lnTo>
                  <a:pt x="50800" y="563121"/>
                </a:lnTo>
                <a:lnTo>
                  <a:pt x="747182" y="563121"/>
                </a:lnTo>
                <a:lnTo>
                  <a:pt x="755120" y="562327"/>
                </a:lnTo>
                <a:lnTo>
                  <a:pt x="772582" y="556771"/>
                </a:lnTo>
                <a:lnTo>
                  <a:pt x="790045" y="541689"/>
                </a:lnTo>
                <a:lnTo>
                  <a:pt x="797982" y="512321"/>
                </a:lnTo>
                <a:lnTo>
                  <a:pt x="797982" y="50800"/>
                </a:lnTo>
                <a:lnTo>
                  <a:pt x="797189" y="42862"/>
                </a:lnTo>
                <a:lnTo>
                  <a:pt x="791632" y="25400"/>
                </a:lnTo>
                <a:lnTo>
                  <a:pt x="776551" y="7937"/>
                </a:lnTo>
                <a:lnTo>
                  <a:pt x="747182" y="0"/>
                </a:lnTo>
                <a:close/>
              </a:path>
            </a:pathLst>
          </a:custGeom>
          <a:solidFill>
            <a:srgbClr val="3650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7360" y="3831078"/>
            <a:ext cx="254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75">
                <a:solidFill>
                  <a:srgbClr val="36501A"/>
                </a:solidFill>
                <a:latin typeface="Avenir Next Pro"/>
              </a:rPr>
              <a:t>{{s04.pct3}}</a:t>
            </a:r>
            <a:endParaRPr sz="1000">
              <a:latin typeface="Avenir Next Pr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25908" y="4584700"/>
            <a:ext cx="798195" cy="0"/>
          </a:xfrm>
          <a:custGeom>
            <a:avLst/>
            <a:gdLst/>
            <a:ahLst/>
            <a:cxnLst/>
            <a:rect l="l" t="t" r="r" b="b"/>
            <a:pathLst>
              <a:path w="798195">
                <a:moveTo>
                  <a:pt x="797982" y="0"/>
                </a:moveTo>
                <a:lnTo>
                  <a:pt x="0" y="0"/>
                </a:lnTo>
                <a:lnTo>
                  <a:pt x="797982" y="0"/>
                </a:lnTo>
                <a:close/>
              </a:path>
            </a:pathLst>
          </a:custGeom>
          <a:solidFill>
            <a:srgbClr val="3650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03805" y="4394200"/>
            <a:ext cx="2425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36501A"/>
                </a:solidFill>
                <a:latin typeface="Avenir Next Pro"/>
              </a:rPr>
              <a:t>{{s04.pct4}}</a:t>
            </a:r>
            <a:endParaRPr sz="1000">
              <a:latin typeface="Avenir Next Pr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426575" y="2351020"/>
            <a:ext cx="798195" cy="2233930"/>
          </a:xfrm>
          <a:custGeom>
            <a:avLst/>
            <a:gdLst/>
            <a:ahLst/>
            <a:cxnLst/>
            <a:rect l="l" t="t" r="r" b="b"/>
            <a:pathLst>
              <a:path w="798195" h="2233929">
                <a:moveTo>
                  <a:pt x="747184" y="0"/>
                </a:moveTo>
                <a:lnTo>
                  <a:pt x="50800" y="0"/>
                </a:lnTo>
                <a:lnTo>
                  <a:pt x="42862" y="793"/>
                </a:lnTo>
                <a:lnTo>
                  <a:pt x="25400" y="6350"/>
                </a:lnTo>
                <a:lnTo>
                  <a:pt x="7937" y="21431"/>
                </a:lnTo>
                <a:lnTo>
                  <a:pt x="0" y="50800"/>
                </a:lnTo>
                <a:lnTo>
                  <a:pt x="0" y="2182879"/>
                </a:lnTo>
                <a:lnTo>
                  <a:pt x="793" y="2190817"/>
                </a:lnTo>
                <a:lnTo>
                  <a:pt x="6350" y="2208279"/>
                </a:lnTo>
                <a:lnTo>
                  <a:pt x="21431" y="2225742"/>
                </a:lnTo>
                <a:lnTo>
                  <a:pt x="50800" y="2233679"/>
                </a:lnTo>
                <a:lnTo>
                  <a:pt x="747184" y="2233679"/>
                </a:lnTo>
                <a:lnTo>
                  <a:pt x="755121" y="2232886"/>
                </a:lnTo>
                <a:lnTo>
                  <a:pt x="772584" y="2227329"/>
                </a:lnTo>
                <a:lnTo>
                  <a:pt x="790046" y="2212248"/>
                </a:lnTo>
                <a:lnTo>
                  <a:pt x="797984" y="2182879"/>
                </a:lnTo>
                <a:lnTo>
                  <a:pt x="797984" y="50800"/>
                </a:lnTo>
                <a:lnTo>
                  <a:pt x="797190" y="42862"/>
                </a:lnTo>
                <a:lnTo>
                  <a:pt x="791634" y="25400"/>
                </a:lnTo>
                <a:lnTo>
                  <a:pt x="776552" y="7937"/>
                </a:lnTo>
                <a:lnTo>
                  <a:pt x="747184" y="0"/>
                </a:lnTo>
                <a:close/>
              </a:path>
            </a:pathLst>
          </a:custGeom>
          <a:solidFill>
            <a:srgbClr val="3650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60721" y="2160520"/>
            <a:ext cx="3302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36501A"/>
                </a:solidFill>
                <a:latin typeface="Avenir Next Pro"/>
              </a:rPr>
              <a:t>{{s04.pct5}}</a:t>
            </a:r>
            <a:endParaRPr sz="1000">
              <a:latin typeface="Avenir Next Pr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527241" y="3025477"/>
            <a:ext cx="798195" cy="1559560"/>
          </a:xfrm>
          <a:custGeom>
            <a:avLst/>
            <a:gdLst/>
            <a:ahLst/>
            <a:cxnLst/>
            <a:rect l="l" t="t" r="r" b="b"/>
            <a:pathLst>
              <a:path w="798195" h="1559560">
                <a:moveTo>
                  <a:pt x="747182" y="0"/>
                </a:moveTo>
                <a:lnTo>
                  <a:pt x="50800" y="0"/>
                </a:lnTo>
                <a:lnTo>
                  <a:pt x="42862" y="793"/>
                </a:lnTo>
                <a:lnTo>
                  <a:pt x="25400" y="6350"/>
                </a:lnTo>
                <a:lnTo>
                  <a:pt x="7937" y="21431"/>
                </a:lnTo>
                <a:lnTo>
                  <a:pt x="0" y="50800"/>
                </a:lnTo>
                <a:lnTo>
                  <a:pt x="0" y="1508422"/>
                </a:lnTo>
                <a:lnTo>
                  <a:pt x="793" y="1516359"/>
                </a:lnTo>
                <a:lnTo>
                  <a:pt x="6350" y="1533822"/>
                </a:lnTo>
                <a:lnTo>
                  <a:pt x="21431" y="1551284"/>
                </a:lnTo>
                <a:lnTo>
                  <a:pt x="50800" y="1559222"/>
                </a:lnTo>
                <a:lnTo>
                  <a:pt x="747182" y="1559222"/>
                </a:lnTo>
                <a:lnTo>
                  <a:pt x="755120" y="1558428"/>
                </a:lnTo>
                <a:lnTo>
                  <a:pt x="772582" y="1552872"/>
                </a:lnTo>
                <a:lnTo>
                  <a:pt x="790045" y="1537790"/>
                </a:lnTo>
                <a:lnTo>
                  <a:pt x="797982" y="1508422"/>
                </a:lnTo>
                <a:lnTo>
                  <a:pt x="797982" y="50800"/>
                </a:lnTo>
                <a:lnTo>
                  <a:pt x="797189" y="42862"/>
                </a:lnTo>
                <a:lnTo>
                  <a:pt x="791632" y="25400"/>
                </a:lnTo>
                <a:lnTo>
                  <a:pt x="776551" y="7937"/>
                </a:lnTo>
                <a:lnTo>
                  <a:pt x="747182" y="0"/>
                </a:lnTo>
                <a:close/>
              </a:path>
            </a:pathLst>
          </a:custGeom>
          <a:solidFill>
            <a:srgbClr val="3650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80501" y="2834977"/>
            <a:ext cx="2914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>
                <a:solidFill>
                  <a:srgbClr val="36501A"/>
                </a:solidFill>
                <a:latin typeface="Avenir Next Pro"/>
              </a:rPr>
              <a:t>{{s04.pct6}}</a:t>
            </a:r>
            <a:endParaRPr sz="1000">
              <a:latin typeface="Avenir Next Pr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75999" y="4622800"/>
            <a:ext cx="6940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solidFill>
                  <a:srgbClr val="4D6B2D"/>
                </a:solidFill>
                <a:latin typeface="Avenir Next Pro"/>
              </a:rPr>
              <a:t>{{s04.nombre3}}</a:t>
            </a:r>
            <a:endParaRPr sz="1000">
              <a:latin typeface="Avenir Next Pr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5536" y="4622800"/>
            <a:ext cx="9963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 marR="5080" indent="-399415">
              <a:lnSpc>
                <a:spcPct val="100000"/>
              </a:lnSpc>
              <a:spcBef>
                <a:spcPts val="100"/>
              </a:spcBef>
            </a:pPr>
            <a:r>
              <a:rPr sz="1000" spc="10">
                <a:solidFill>
                  <a:srgbClr val="4D6B2D"/>
                </a:solidFill>
                <a:latin typeface="Avenir Next Pro"/>
              </a:rPr>
              <a:t>{{s04.nombre4}}</a:t>
            </a:r>
            <a:endParaRPr sz="1000">
              <a:latin typeface="Avenir Next Pr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6203" y="4622800"/>
            <a:ext cx="9963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0"/>
              </a:spcBef>
            </a:pPr>
            <a:r>
              <a:rPr sz="1000" spc="10">
                <a:solidFill>
                  <a:srgbClr val="4D6B2D"/>
                </a:solidFill>
                <a:latin typeface="Avenir Next Pro"/>
              </a:rPr>
              <a:t>{{s04.nombre5}}</a:t>
            </a:r>
            <a:endParaRPr sz="1000">
              <a:latin typeface="Avenir Next Pr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3275" y="4622800"/>
            <a:ext cx="603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solidFill>
                  <a:srgbClr val="4D6B2D"/>
                </a:solidFill>
                <a:latin typeface="Avenir Next Pro"/>
              </a:rPr>
              <a:t>{{s04.nombre6}}</a:t>
            </a:r>
            <a:endParaRPr sz="1000">
              <a:latin typeface="Avenir Next Pr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377002" y="4622800"/>
            <a:ext cx="8972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0645">
              <a:lnSpc>
                <a:spcPct val="100000"/>
              </a:lnSpc>
              <a:spcBef>
                <a:spcPts val="100"/>
              </a:spcBef>
            </a:pPr>
            <a:r>
              <a:rPr sz="1000">
                <a:solidFill>
                  <a:srgbClr val="4D6B2D"/>
                </a:solidFill>
                <a:latin typeface="Avenir Next Pro"/>
              </a:rPr>
              <a:t>{{s04.nombre7}}</a:t>
            </a:r>
            <a:endParaRPr sz="1000">
              <a:latin typeface="Avenir Next Pr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560410" y="4622800"/>
            <a:ext cx="732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>
                <a:solidFill>
                  <a:srgbClr val="4D6B2D"/>
                </a:solidFill>
                <a:latin typeface="Avenir Next Pro"/>
              </a:rPr>
              <a:t>{{s04.nombre8}}</a:t>
            </a:r>
            <a:endParaRPr sz="1000">
              <a:latin typeface="Avenir Next Pro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241607" y="3095751"/>
            <a:ext cx="5748655" cy="1089025"/>
            <a:chOff x="5241607" y="3095751"/>
            <a:chExt cx="5748655" cy="1089025"/>
          </a:xfrm>
        </p:grpSpPr>
        <p:sp>
          <p:nvSpPr>
            <p:cNvPr id="41" name="object 41"/>
            <p:cNvSpPr/>
            <p:nvPr/>
          </p:nvSpPr>
          <p:spPr>
            <a:xfrm>
              <a:off x="5422900" y="3362451"/>
              <a:ext cx="5503545" cy="758825"/>
            </a:xfrm>
            <a:custGeom>
              <a:avLst/>
              <a:gdLst/>
              <a:ahLst/>
              <a:cxnLst/>
              <a:rect l="l" t="t" r="r" b="b"/>
              <a:pathLst>
                <a:path w="5503545" h="758825">
                  <a:moveTo>
                    <a:pt x="0" y="0"/>
                  </a:moveTo>
                  <a:lnTo>
                    <a:pt x="1100666" y="258064"/>
                  </a:lnTo>
                </a:path>
                <a:path w="5503545" h="758825">
                  <a:moveTo>
                    <a:pt x="1100666" y="258064"/>
                  </a:moveTo>
                  <a:lnTo>
                    <a:pt x="2201333" y="388112"/>
                  </a:lnTo>
                </a:path>
                <a:path w="5503545" h="758825">
                  <a:moveTo>
                    <a:pt x="2201333" y="388112"/>
                  </a:moveTo>
                  <a:lnTo>
                    <a:pt x="3301999" y="135636"/>
                  </a:lnTo>
                </a:path>
                <a:path w="5503545" h="758825">
                  <a:moveTo>
                    <a:pt x="3301999" y="135636"/>
                  </a:moveTo>
                  <a:lnTo>
                    <a:pt x="4402666" y="758444"/>
                  </a:lnTo>
                </a:path>
                <a:path w="5503545" h="758825">
                  <a:moveTo>
                    <a:pt x="4402666" y="758444"/>
                  </a:moveTo>
                  <a:lnTo>
                    <a:pt x="5503333" y="713232"/>
                  </a:lnTo>
                </a:path>
              </a:pathLst>
            </a:custGeom>
            <a:ln w="31750">
              <a:solidFill>
                <a:srgbClr val="C3ED7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9400" y="3298951"/>
              <a:ext cx="127000" cy="127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0067" y="3557015"/>
              <a:ext cx="127000" cy="1269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0734" y="3687063"/>
              <a:ext cx="127000" cy="1270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1400" y="3434587"/>
              <a:ext cx="127000" cy="1270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62067" y="4057395"/>
              <a:ext cx="127000" cy="1270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62734" y="4012183"/>
              <a:ext cx="127000" cy="1270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241607" y="3095751"/>
              <a:ext cx="362585" cy="177800"/>
            </a:xfrm>
            <a:custGeom>
              <a:avLst/>
              <a:gdLst/>
              <a:ahLst/>
              <a:cxnLst/>
              <a:rect l="l" t="t" r="r" b="b"/>
              <a:pathLst>
                <a:path w="362585" h="177800">
                  <a:moveTo>
                    <a:pt x="337184" y="0"/>
                  </a:moveTo>
                  <a:lnTo>
                    <a:pt x="25399" y="0"/>
                  </a:lnTo>
                  <a:lnTo>
                    <a:pt x="21431" y="396"/>
                  </a:lnTo>
                  <a:lnTo>
                    <a:pt x="12699" y="3175"/>
                  </a:lnTo>
                  <a:lnTo>
                    <a:pt x="3968" y="10715"/>
                  </a:lnTo>
                  <a:lnTo>
                    <a:pt x="0" y="25400"/>
                  </a:lnTo>
                  <a:lnTo>
                    <a:pt x="0" y="152400"/>
                  </a:lnTo>
                  <a:lnTo>
                    <a:pt x="396" y="156368"/>
                  </a:lnTo>
                  <a:lnTo>
                    <a:pt x="3174" y="165100"/>
                  </a:lnTo>
                  <a:lnTo>
                    <a:pt x="10715" y="173831"/>
                  </a:lnTo>
                  <a:lnTo>
                    <a:pt x="25399" y="177800"/>
                  </a:lnTo>
                  <a:lnTo>
                    <a:pt x="337184" y="177800"/>
                  </a:lnTo>
                  <a:lnTo>
                    <a:pt x="341153" y="177403"/>
                  </a:lnTo>
                  <a:lnTo>
                    <a:pt x="349884" y="174625"/>
                  </a:lnTo>
                  <a:lnTo>
                    <a:pt x="358616" y="167084"/>
                  </a:lnTo>
                  <a:lnTo>
                    <a:pt x="362584" y="152400"/>
                  </a:lnTo>
                  <a:lnTo>
                    <a:pt x="362584" y="25400"/>
                  </a:lnTo>
                  <a:lnTo>
                    <a:pt x="362188" y="21431"/>
                  </a:lnTo>
                  <a:lnTo>
                    <a:pt x="359409" y="12700"/>
                  </a:lnTo>
                  <a:lnTo>
                    <a:pt x="351869" y="3968"/>
                  </a:lnTo>
                  <a:lnTo>
                    <a:pt x="337184" y="0"/>
                  </a:lnTo>
                  <a:close/>
                </a:path>
              </a:pathLst>
            </a:custGeom>
            <a:solidFill>
              <a:srgbClr val="C3ED70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267007" y="3108452"/>
            <a:ext cx="3117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0">
                <a:solidFill>
                  <a:srgbClr val="4D6B2D"/>
                </a:solidFill>
                <a:latin typeface="Avenir Next Pro"/>
              </a:rPr>
              <a:t>{{s04.pct7}}</a:t>
            </a:r>
            <a:endParaRPr sz="1000">
              <a:latin typeface="Avenir Next Pr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358085" y="3036316"/>
            <a:ext cx="331470" cy="177800"/>
          </a:xfrm>
          <a:custGeom>
            <a:avLst/>
            <a:gdLst/>
            <a:ahLst/>
            <a:cxnLst/>
            <a:rect l="l" t="t" r="r" b="b"/>
            <a:pathLst>
              <a:path w="331470" h="177800">
                <a:moveTo>
                  <a:pt x="305561" y="0"/>
                </a:moveTo>
                <a:lnTo>
                  <a:pt x="25399" y="0"/>
                </a:lnTo>
                <a:lnTo>
                  <a:pt x="21431" y="396"/>
                </a:lnTo>
                <a:lnTo>
                  <a:pt x="12699" y="3174"/>
                </a:lnTo>
                <a:lnTo>
                  <a:pt x="3968" y="10715"/>
                </a:lnTo>
                <a:lnTo>
                  <a:pt x="0" y="25399"/>
                </a:lnTo>
                <a:lnTo>
                  <a:pt x="0" y="152399"/>
                </a:lnTo>
                <a:lnTo>
                  <a:pt x="396" y="156368"/>
                </a:lnTo>
                <a:lnTo>
                  <a:pt x="3174" y="165099"/>
                </a:lnTo>
                <a:lnTo>
                  <a:pt x="10715" y="173831"/>
                </a:lnTo>
                <a:lnTo>
                  <a:pt x="25399" y="177799"/>
                </a:lnTo>
                <a:lnTo>
                  <a:pt x="305561" y="177799"/>
                </a:lnTo>
                <a:lnTo>
                  <a:pt x="309530" y="177403"/>
                </a:lnTo>
                <a:lnTo>
                  <a:pt x="318261" y="174624"/>
                </a:lnTo>
                <a:lnTo>
                  <a:pt x="326993" y="167084"/>
                </a:lnTo>
                <a:lnTo>
                  <a:pt x="330961" y="152399"/>
                </a:lnTo>
                <a:lnTo>
                  <a:pt x="330961" y="25399"/>
                </a:lnTo>
                <a:lnTo>
                  <a:pt x="330565" y="21431"/>
                </a:lnTo>
                <a:lnTo>
                  <a:pt x="327786" y="12699"/>
                </a:lnTo>
                <a:lnTo>
                  <a:pt x="320246" y="3968"/>
                </a:lnTo>
                <a:lnTo>
                  <a:pt x="305561" y="0"/>
                </a:lnTo>
                <a:close/>
              </a:path>
            </a:pathLst>
          </a:custGeom>
          <a:solidFill>
            <a:srgbClr val="C3ED70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83485" y="3049015"/>
            <a:ext cx="280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4D6B2D"/>
                </a:solidFill>
                <a:latin typeface="Avenir Next Pro"/>
              </a:rPr>
              <a:t>{{s04.pct8}}</a:t>
            </a:r>
            <a:endParaRPr sz="1000">
              <a:latin typeface="Avenir Next Pr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458753" y="3483864"/>
            <a:ext cx="331470" cy="177800"/>
          </a:xfrm>
          <a:custGeom>
            <a:avLst/>
            <a:gdLst/>
            <a:ahLst/>
            <a:cxnLst/>
            <a:rect l="l" t="t" r="r" b="b"/>
            <a:pathLst>
              <a:path w="331470" h="177800">
                <a:moveTo>
                  <a:pt x="305562" y="0"/>
                </a:moveTo>
                <a:lnTo>
                  <a:pt x="25399" y="0"/>
                </a:lnTo>
                <a:lnTo>
                  <a:pt x="21431" y="396"/>
                </a:lnTo>
                <a:lnTo>
                  <a:pt x="12699" y="3175"/>
                </a:lnTo>
                <a:lnTo>
                  <a:pt x="3968" y="10715"/>
                </a:lnTo>
                <a:lnTo>
                  <a:pt x="0" y="25400"/>
                </a:lnTo>
                <a:lnTo>
                  <a:pt x="0" y="152400"/>
                </a:lnTo>
                <a:lnTo>
                  <a:pt x="396" y="156368"/>
                </a:lnTo>
                <a:lnTo>
                  <a:pt x="3174" y="165100"/>
                </a:lnTo>
                <a:lnTo>
                  <a:pt x="10715" y="173831"/>
                </a:lnTo>
                <a:lnTo>
                  <a:pt x="25399" y="177800"/>
                </a:lnTo>
                <a:lnTo>
                  <a:pt x="305562" y="177800"/>
                </a:lnTo>
                <a:lnTo>
                  <a:pt x="309530" y="177403"/>
                </a:lnTo>
                <a:lnTo>
                  <a:pt x="318262" y="174625"/>
                </a:lnTo>
                <a:lnTo>
                  <a:pt x="326993" y="167084"/>
                </a:lnTo>
                <a:lnTo>
                  <a:pt x="330962" y="152400"/>
                </a:lnTo>
                <a:lnTo>
                  <a:pt x="330962" y="25400"/>
                </a:lnTo>
                <a:lnTo>
                  <a:pt x="330565" y="21431"/>
                </a:lnTo>
                <a:lnTo>
                  <a:pt x="327787" y="12700"/>
                </a:lnTo>
                <a:lnTo>
                  <a:pt x="320246" y="3968"/>
                </a:lnTo>
                <a:lnTo>
                  <a:pt x="305562" y="0"/>
                </a:lnTo>
                <a:close/>
              </a:path>
            </a:pathLst>
          </a:custGeom>
          <a:solidFill>
            <a:srgbClr val="C3ED70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84153" y="3496564"/>
            <a:ext cx="280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4D6B2D"/>
                </a:solidFill>
                <a:latin typeface="Avenir Next Pro"/>
              </a:rPr>
              <a:t>{{s04.pct9}}</a:t>
            </a:r>
            <a:endParaRPr sz="1000">
              <a:latin typeface="Avenir Next Pr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561133" y="3231388"/>
            <a:ext cx="327660" cy="177800"/>
          </a:xfrm>
          <a:custGeom>
            <a:avLst/>
            <a:gdLst/>
            <a:ahLst/>
            <a:cxnLst/>
            <a:rect l="l" t="t" r="r" b="b"/>
            <a:pathLst>
              <a:path w="327659" h="177800">
                <a:moveTo>
                  <a:pt x="302132" y="0"/>
                </a:moveTo>
                <a:lnTo>
                  <a:pt x="25400" y="0"/>
                </a:lnTo>
                <a:lnTo>
                  <a:pt x="21431" y="396"/>
                </a:lnTo>
                <a:lnTo>
                  <a:pt x="12700" y="3175"/>
                </a:lnTo>
                <a:lnTo>
                  <a:pt x="3968" y="10715"/>
                </a:lnTo>
                <a:lnTo>
                  <a:pt x="0" y="25400"/>
                </a:lnTo>
                <a:lnTo>
                  <a:pt x="0" y="152400"/>
                </a:lnTo>
                <a:lnTo>
                  <a:pt x="396" y="156368"/>
                </a:lnTo>
                <a:lnTo>
                  <a:pt x="3175" y="165100"/>
                </a:lnTo>
                <a:lnTo>
                  <a:pt x="10715" y="173831"/>
                </a:lnTo>
                <a:lnTo>
                  <a:pt x="25400" y="177800"/>
                </a:lnTo>
                <a:lnTo>
                  <a:pt x="302132" y="177800"/>
                </a:lnTo>
                <a:lnTo>
                  <a:pt x="306101" y="177403"/>
                </a:lnTo>
                <a:lnTo>
                  <a:pt x="314832" y="174625"/>
                </a:lnTo>
                <a:lnTo>
                  <a:pt x="323564" y="167084"/>
                </a:lnTo>
                <a:lnTo>
                  <a:pt x="327532" y="152400"/>
                </a:lnTo>
                <a:lnTo>
                  <a:pt x="327532" y="25400"/>
                </a:lnTo>
                <a:lnTo>
                  <a:pt x="327136" y="21431"/>
                </a:lnTo>
                <a:lnTo>
                  <a:pt x="324357" y="12700"/>
                </a:lnTo>
                <a:lnTo>
                  <a:pt x="316817" y="3968"/>
                </a:lnTo>
                <a:lnTo>
                  <a:pt x="302132" y="0"/>
                </a:lnTo>
                <a:close/>
              </a:path>
            </a:pathLst>
          </a:custGeom>
          <a:solidFill>
            <a:srgbClr val="C3ED70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586533" y="3244088"/>
            <a:ext cx="2768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4D6B2D"/>
                </a:solidFill>
                <a:latin typeface="Avenir Next Pro"/>
              </a:rPr>
              <a:t>{{s04.pct10}}</a:t>
            </a:r>
            <a:endParaRPr sz="1000">
              <a:latin typeface="Avenir Next Pr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684406" y="3854196"/>
            <a:ext cx="282575" cy="177800"/>
          </a:xfrm>
          <a:custGeom>
            <a:avLst/>
            <a:gdLst/>
            <a:ahLst/>
            <a:cxnLst/>
            <a:rect l="l" t="t" r="r" b="b"/>
            <a:pathLst>
              <a:path w="282575" h="177800">
                <a:moveTo>
                  <a:pt x="256921" y="0"/>
                </a:moveTo>
                <a:lnTo>
                  <a:pt x="25400" y="0"/>
                </a:lnTo>
                <a:lnTo>
                  <a:pt x="21431" y="396"/>
                </a:lnTo>
                <a:lnTo>
                  <a:pt x="12700" y="3174"/>
                </a:lnTo>
                <a:lnTo>
                  <a:pt x="3968" y="10715"/>
                </a:lnTo>
                <a:lnTo>
                  <a:pt x="0" y="25399"/>
                </a:lnTo>
                <a:lnTo>
                  <a:pt x="0" y="152399"/>
                </a:lnTo>
                <a:lnTo>
                  <a:pt x="396" y="156368"/>
                </a:lnTo>
                <a:lnTo>
                  <a:pt x="3175" y="165099"/>
                </a:lnTo>
                <a:lnTo>
                  <a:pt x="10715" y="173831"/>
                </a:lnTo>
                <a:lnTo>
                  <a:pt x="25400" y="177799"/>
                </a:lnTo>
                <a:lnTo>
                  <a:pt x="256921" y="177799"/>
                </a:lnTo>
                <a:lnTo>
                  <a:pt x="260889" y="177403"/>
                </a:lnTo>
                <a:lnTo>
                  <a:pt x="269621" y="174624"/>
                </a:lnTo>
                <a:lnTo>
                  <a:pt x="278352" y="167084"/>
                </a:lnTo>
                <a:lnTo>
                  <a:pt x="282321" y="152399"/>
                </a:lnTo>
                <a:lnTo>
                  <a:pt x="282321" y="25399"/>
                </a:lnTo>
                <a:lnTo>
                  <a:pt x="281924" y="21431"/>
                </a:lnTo>
                <a:lnTo>
                  <a:pt x="279146" y="12699"/>
                </a:lnTo>
                <a:lnTo>
                  <a:pt x="271605" y="3968"/>
                </a:lnTo>
                <a:lnTo>
                  <a:pt x="256921" y="0"/>
                </a:lnTo>
                <a:close/>
              </a:path>
            </a:pathLst>
          </a:custGeom>
          <a:solidFill>
            <a:srgbClr val="C3ED70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709806" y="3866895"/>
            <a:ext cx="2317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0">
                <a:solidFill>
                  <a:srgbClr val="4D6B2D"/>
                </a:solidFill>
                <a:latin typeface="Avenir Next Pro"/>
              </a:rPr>
              <a:t>{{s04.pct11}}</a:t>
            </a:r>
            <a:endParaRPr sz="1000">
              <a:latin typeface="Avenir Next Pr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0758847" y="3808984"/>
            <a:ext cx="335280" cy="177800"/>
          </a:xfrm>
          <a:custGeom>
            <a:avLst/>
            <a:gdLst/>
            <a:ahLst/>
            <a:cxnLst/>
            <a:rect l="l" t="t" r="r" b="b"/>
            <a:pathLst>
              <a:path w="335279" h="177800">
                <a:moveTo>
                  <a:pt x="309372" y="0"/>
                </a:moveTo>
                <a:lnTo>
                  <a:pt x="25400" y="0"/>
                </a:lnTo>
                <a:lnTo>
                  <a:pt x="21431" y="396"/>
                </a:lnTo>
                <a:lnTo>
                  <a:pt x="12700" y="3174"/>
                </a:lnTo>
                <a:lnTo>
                  <a:pt x="3968" y="10715"/>
                </a:lnTo>
                <a:lnTo>
                  <a:pt x="0" y="25399"/>
                </a:lnTo>
                <a:lnTo>
                  <a:pt x="0" y="152399"/>
                </a:lnTo>
                <a:lnTo>
                  <a:pt x="396" y="156368"/>
                </a:lnTo>
                <a:lnTo>
                  <a:pt x="3175" y="165099"/>
                </a:lnTo>
                <a:lnTo>
                  <a:pt x="10715" y="173831"/>
                </a:lnTo>
                <a:lnTo>
                  <a:pt x="25400" y="177799"/>
                </a:lnTo>
                <a:lnTo>
                  <a:pt x="309372" y="177799"/>
                </a:lnTo>
                <a:lnTo>
                  <a:pt x="313340" y="177403"/>
                </a:lnTo>
                <a:lnTo>
                  <a:pt x="322072" y="174624"/>
                </a:lnTo>
                <a:lnTo>
                  <a:pt x="330803" y="167084"/>
                </a:lnTo>
                <a:lnTo>
                  <a:pt x="334772" y="152399"/>
                </a:lnTo>
                <a:lnTo>
                  <a:pt x="334772" y="25399"/>
                </a:lnTo>
                <a:lnTo>
                  <a:pt x="334375" y="21431"/>
                </a:lnTo>
                <a:lnTo>
                  <a:pt x="331597" y="12699"/>
                </a:lnTo>
                <a:lnTo>
                  <a:pt x="324056" y="3968"/>
                </a:lnTo>
                <a:lnTo>
                  <a:pt x="309372" y="0"/>
                </a:lnTo>
                <a:close/>
              </a:path>
            </a:pathLst>
          </a:custGeom>
          <a:solidFill>
            <a:srgbClr val="C3ED70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784247" y="3821683"/>
            <a:ext cx="284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>
                <a:solidFill>
                  <a:srgbClr val="4D6B2D"/>
                </a:solidFill>
                <a:latin typeface="Avenir Next Pro"/>
              </a:rPr>
              <a:t>{{s04.pct12}}</a:t>
            </a:r>
            <a:endParaRPr sz="1000">
              <a:latin typeface="Avenir Next Pro"/>
            </a:endParaRPr>
          </a:p>
        </p:txBody>
      </p:sp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74050" y="5092700"/>
            <a:ext cx="254000" cy="15240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6580450" y="5041900"/>
            <a:ext cx="11106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>
                <a:latin typeface="Avenir Next Pro"/>
              </a:rPr>
              <a:t>{{s04.nombre9}}</a:t>
            </a:r>
            <a:endParaRPr sz="1400">
              <a:latin typeface="Avenir Next Pro"/>
            </a:endParaRPr>
          </a:p>
        </p:txBody>
      </p:sp>
      <p:pic>
        <p:nvPicPr>
          <p:cNvPr id="62" name="object 6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40263" y="5092700"/>
            <a:ext cx="254000" cy="15240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8846663" y="5041900"/>
            <a:ext cx="11633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>
                <a:latin typeface="Avenir Next Pro"/>
              </a:rPr>
              <a:t>{{s04.nombre10}}</a:t>
            </a:r>
            <a:endParaRPr sz="1400">
              <a:latin typeface="Avenir Next Pro"/>
            </a:endParaRPr>
          </a:p>
        </p:txBody>
      </p:sp>
      <p:pic>
        <p:nvPicPr>
          <p:cNvPr id="64" name="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18299" y="5664200"/>
            <a:ext cx="1079999" cy="66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05016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952500"/>
            <a:ext cx="284797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30">
                <a:solidFill>
                  <a:srgbClr val="C3ED74"/>
                </a:solidFill>
                <a:latin typeface="Avenir Next Pro"/>
              </a:rPr>
              <a:t>Diagnóstico</a:t>
            </a:r>
            <a:r>
              <a:rPr sz="2350" spc="-220">
                <a:solidFill>
                  <a:srgbClr val="C3ED74"/>
                </a:solidFill>
                <a:latin typeface="Avenir Next Pro"/>
              </a:rPr>
              <a:t> </a:t>
            </a:r>
            <a:r>
              <a:rPr sz="2350" spc="-10">
                <a:solidFill>
                  <a:srgbClr val="C3ED74"/>
                </a:solidFill>
                <a:latin typeface="Avenir Next Pro"/>
              </a:rPr>
              <a:t>general</a:t>
            </a:r>
            <a:endParaRPr sz="2350">
              <a:latin typeface="Avenir Next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1739900"/>
            <a:ext cx="2540000" cy="3429000"/>
          </a:xfrm>
          <a:custGeom>
            <a:avLst/>
            <a:gdLst/>
            <a:ahLst/>
            <a:cxnLst/>
            <a:rect l="l" t="t" r="r" b="b"/>
            <a:pathLst>
              <a:path w="2540000" h="3429000">
                <a:moveTo>
                  <a:pt x="2413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3302000"/>
                </a:lnTo>
                <a:lnTo>
                  <a:pt x="9971" y="3351461"/>
                </a:lnTo>
                <a:lnTo>
                  <a:pt x="37172" y="3391827"/>
                </a:lnTo>
                <a:lnTo>
                  <a:pt x="77538" y="3419028"/>
                </a:lnTo>
                <a:lnTo>
                  <a:pt x="127000" y="3429000"/>
                </a:lnTo>
                <a:lnTo>
                  <a:pt x="2413000" y="3429000"/>
                </a:lnTo>
                <a:lnTo>
                  <a:pt x="2462461" y="3419028"/>
                </a:lnTo>
                <a:lnTo>
                  <a:pt x="2502827" y="3391827"/>
                </a:lnTo>
                <a:lnTo>
                  <a:pt x="2530028" y="3351461"/>
                </a:lnTo>
                <a:lnTo>
                  <a:pt x="2540000" y="3302000"/>
                </a:lnTo>
                <a:lnTo>
                  <a:pt x="2540000" y="127000"/>
                </a:lnTo>
                <a:lnTo>
                  <a:pt x="2530028" y="77538"/>
                </a:lnTo>
                <a:lnTo>
                  <a:pt x="2502827" y="37172"/>
                </a:lnTo>
                <a:lnTo>
                  <a:pt x="2462461" y="9971"/>
                </a:lnTo>
                <a:lnTo>
                  <a:pt x="2413000" y="0"/>
                </a:lnTo>
                <a:close/>
              </a:path>
            </a:pathLst>
          </a:custGeom>
          <a:solidFill>
            <a:srgbClr val="C3ED74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7977" y="2616200"/>
            <a:ext cx="1825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90">
                <a:solidFill>
                  <a:srgbClr val="213311"/>
                </a:solidFill>
                <a:latin typeface="Avenir Next Pro"/>
              </a:rPr>
              <a:t>{{s05.score}}</a:t>
            </a:r>
            <a:endParaRPr sz="6000">
              <a:latin typeface="Avenir Next Pr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4250" y="1733550"/>
            <a:ext cx="2552700" cy="3441700"/>
            <a:chOff x="984250" y="1733550"/>
            <a:chExt cx="2552700" cy="3441700"/>
          </a:xfrm>
        </p:grpSpPr>
        <p:sp>
          <p:nvSpPr>
            <p:cNvPr id="6" name="object 6"/>
            <p:cNvSpPr/>
            <p:nvPr/>
          </p:nvSpPr>
          <p:spPr>
            <a:xfrm>
              <a:off x="1384300" y="3632200"/>
              <a:ext cx="1752600" cy="25400"/>
            </a:xfrm>
            <a:custGeom>
              <a:avLst/>
              <a:gdLst/>
              <a:ahLst/>
              <a:cxnLst/>
              <a:rect l="l" t="t" r="r" b="b"/>
              <a:pathLst>
                <a:path w="1752600" h="25400">
                  <a:moveTo>
                    <a:pt x="17526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752600" y="25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3F5E21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90600" y="1739900"/>
              <a:ext cx="2540000" cy="3429000"/>
            </a:xfrm>
            <a:custGeom>
              <a:avLst/>
              <a:gdLst/>
              <a:ahLst/>
              <a:cxnLst/>
              <a:rect l="l" t="t" r="r" b="b"/>
              <a:pathLst>
                <a:path w="2540000" h="3429000">
                  <a:moveTo>
                    <a:pt x="37172" y="37172"/>
                  </a:moveTo>
                  <a:lnTo>
                    <a:pt x="55964" y="21672"/>
                  </a:lnTo>
                  <a:lnTo>
                    <a:pt x="77538" y="9971"/>
                  </a:lnTo>
                  <a:lnTo>
                    <a:pt x="101386" y="2577"/>
                  </a:lnTo>
                  <a:lnTo>
                    <a:pt x="127000" y="0"/>
                  </a:lnTo>
                  <a:lnTo>
                    <a:pt x="2413000" y="0"/>
                  </a:lnTo>
                  <a:lnTo>
                    <a:pt x="2438613" y="2577"/>
                  </a:lnTo>
                  <a:lnTo>
                    <a:pt x="2462461" y="9971"/>
                  </a:lnTo>
                  <a:lnTo>
                    <a:pt x="2484035" y="21672"/>
                  </a:lnTo>
                  <a:lnTo>
                    <a:pt x="2502827" y="37172"/>
                  </a:lnTo>
                </a:path>
                <a:path w="2540000" h="3429000">
                  <a:moveTo>
                    <a:pt x="37172" y="3391827"/>
                  </a:moveTo>
                  <a:lnTo>
                    <a:pt x="55964" y="3407327"/>
                  </a:lnTo>
                  <a:lnTo>
                    <a:pt x="77538" y="3419028"/>
                  </a:lnTo>
                  <a:lnTo>
                    <a:pt x="101386" y="3426422"/>
                  </a:lnTo>
                  <a:lnTo>
                    <a:pt x="127000" y="3429000"/>
                  </a:lnTo>
                  <a:lnTo>
                    <a:pt x="2413000" y="3429000"/>
                  </a:lnTo>
                  <a:lnTo>
                    <a:pt x="2438613" y="3426422"/>
                  </a:lnTo>
                  <a:lnTo>
                    <a:pt x="2462461" y="3419028"/>
                  </a:lnTo>
                  <a:lnTo>
                    <a:pt x="2484035" y="3407327"/>
                  </a:lnTo>
                  <a:lnTo>
                    <a:pt x="2502827" y="3391827"/>
                  </a:lnTo>
                </a:path>
                <a:path w="2540000" h="3429000">
                  <a:moveTo>
                    <a:pt x="37172" y="3391827"/>
                  </a:moveTo>
                  <a:lnTo>
                    <a:pt x="21672" y="3373035"/>
                  </a:lnTo>
                  <a:lnTo>
                    <a:pt x="9971" y="3351461"/>
                  </a:lnTo>
                  <a:lnTo>
                    <a:pt x="2577" y="3327613"/>
                  </a:lnTo>
                  <a:lnTo>
                    <a:pt x="0" y="3302000"/>
                  </a:lnTo>
                  <a:lnTo>
                    <a:pt x="0" y="127000"/>
                  </a:lnTo>
                  <a:lnTo>
                    <a:pt x="2577" y="101386"/>
                  </a:lnTo>
                  <a:lnTo>
                    <a:pt x="9971" y="77538"/>
                  </a:lnTo>
                  <a:lnTo>
                    <a:pt x="21672" y="55964"/>
                  </a:lnTo>
                  <a:lnTo>
                    <a:pt x="37172" y="37172"/>
                  </a:lnTo>
                </a:path>
                <a:path w="2540000" h="3429000">
                  <a:moveTo>
                    <a:pt x="2502827" y="3391827"/>
                  </a:moveTo>
                  <a:lnTo>
                    <a:pt x="2518327" y="3373035"/>
                  </a:lnTo>
                  <a:lnTo>
                    <a:pt x="2530028" y="3351461"/>
                  </a:lnTo>
                  <a:lnTo>
                    <a:pt x="2537422" y="3327613"/>
                  </a:lnTo>
                  <a:lnTo>
                    <a:pt x="2540000" y="3302000"/>
                  </a:lnTo>
                  <a:lnTo>
                    <a:pt x="2540000" y="127000"/>
                  </a:lnTo>
                  <a:lnTo>
                    <a:pt x="2537422" y="101386"/>
                  </a:lnTo>
                  <a:lnTo>
                    <a:pt x="2530028" y="77538"/>
                  </a:lnTo>
                  <a:lnTo>
                    <a:pt x="2518327" y="55964"/>
                  </a:lnTo>
                  <a:lnTo>
                    <a:pt x="2502827" y="37172"/>
                  </a:lnTo>
                </a:path>
              </a:pathLst>
            </a:custGeom>
            <a:ln w="12700">
              <a:solidFill>
                <a:srgbClr val="C3ED7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61186" y="3886200"/>
            <a:ext cx="202438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539115" marR="5080" indent="-527050">
              <a:lnSpc>
                <a:spcPts val="1600"/>
              </a:lnSpc>
              <a:spcBef>
                <a:spcPts val="219"/>
              </a:spcBef>
            </a:pPr>
            <a:r>
              <a:rPr sz="1400">
                <a:solidFill>
                  <a:srgbClr val="213311"/>
                </a:solidFill>
                <a:latin typeface="Avenir Next Pro"/>
              </a:rPr>
              <a:t>{{s05.nombre}}</a:t>
            </a:r>
            <a:endParaRPr sz="1400">
              <a:latin typeface="Avenir Next Pr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83000" y="1778000"/>
            <a:ext cx="3683000" cy="1651000"/>
          </a:xfrm>
          <a:custGeom>
            <a:avLst/>
            <a:gdLst/>
            <a:ahLst/>
            <a:cxnLst/>
            <a:rect l="l" t="t" r="r" b="b"/>
            <a:pathLst>
              <a:path w="3683000" h="1651000">
                <a:moveTo>
                  <a:pt x="355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524000"/>
                </a:lnTo>
                <a:lnTo>
                  <a:pt x="9971" y="1573461"/>
                </a:lnTo>
                <a:lnTo>
                  <a:pt x="37172" y="1613827"/>
                </a:lnTo>
                <a:lnTo>
                  <a:pt x="77538" y="1641028"/>
                </a:lnTo>
                <a:lnTo>
                  <a:pt x="127000" y="1651000"/>
                </a:lnTo>
                <a:lnTo>
                  <a:pt x="3556000" y="1651000"/>
                </a:lnTo>
                <a:lnTo>
                  <a:pt x="3605461" y="1641028"/>
                </a:lnTo>
                <a:lnTo>
                  <a:pt x="3645827" y="1613827"/>
                </a:lnTo>
                <a:lnTo>
                  <a:pt x="3673028" y="1573461"/>
                </a:lnTo>
                <a:lnTo>
                  <a:pt x="3683000" y="1524000"/>
                </a:lnTo>
                <a:lnTo>
                  <a:pt x="3683000" y="127000"/>
                </a:lnTo>
                <a:lnTo>
                  <a:pt x="3673028" y="77538"/>
                </a:lnTo>
                <a:lnTo>
                  <a:pt x="3645827" y="37172"/>
                </a:lnTo>
                <a:lnTo>
                  <a:pt x="3605461" y="9971"/>
                </a:lnTo>
                <a:lnTo>
                  <a:pt x="355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1600" y="2038350"/>
            <a:ext cx="23342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FFFFFF"/>
                </a:solidFill>
                <a:latin typeface="Avenir Next Pro"/>
              </a:rPr>
              <a:t>Calidad de portafolio ({{s05.pct}})</a:t>
            </a:r>
            <a:endParaRPr sz="1500">
              <a:latin typeface="Avenir Next Pr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76650" y="1771650"/>
            <a:ext cx="3695700" cy="1663700"/>
            <a:chOff x="3676650" y="1771650"/>
            <a:chExt cx="3695700" cy="16637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1800" y="2025650"/>
              <a:ext cx="215900" cy="215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949700" y="2419350"/>
              <a:ext cx="3149600" cy="25400"/>
            </a:xfrm>
            <a:custGeom>
              <a:avLst/>
              <a:gdLst/>
              <a:ahLst/>
              <a:cxnLst/>
              <a:rect l="l" t="t" r="r" b="b"/>
              <a:pathLst>
                <a:path w="3149600" h="25400">
                  <a:moveTo>
                    <a:pt x="31496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3149600" y="25400"/>
                  </a:lnTo>
                  <a:lnTo>
                    <a:pt x="3149600" y="0"/>
                  </a:lnTo>
                  <a:close/>
                </a:path>
              </a:pathLst>
            </a:custGeom>
            <a:solidFill>
              <a:srgbClr val="9CBC60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683000" y="1778000"/>
              <a:ext cx="3683000" cy="1651000"/>
            </a:xfrm>
            <a:custGeom>
              <a:avLst/>
              <a:gdLst/>
              <a:ahLst/>
              <a:cxnLst/>
              <a:rect l="l" t="t" r="r" b="b"/>
              <a:pathLst>
                <a:path w="3683000" h="1651000">
                  <a:moveTo>
                    <a:pt x="37172" y="37172"/>
                  </a:moveTo>
                  <a:lnTo>
                    <a:pt x="55964" y="21672"/>
                  </a:lnTo>
                  <a:lnTo>
                    <a:pt x="77538" y="9971"/>
                  </a:lnTo>
                  <a:lnTo>
                    <a:pt x="101386" y="2577"/>
                  </a:lnTo>
                  <a:lnTo>
                    <a:pt x="127000" y="0"/>
                  </a:lnTo>
                  <a:lnTo>
                    <a:pt x="3556000" y="0"/>
                  </a:lnTo>
                  <a:lnTo>
                    <a:pt x="3581613" y="2577"/>
                  </a:lnTo>
                  <a:lnTo>
                    <a:pt x="3605461" y="9971"/>
                  </a:lnTo>
                  <a:lnTo>
                    <a:pt x="3627035" y="21672"/>
                  </a:lnTo>
                  <a:lnTo>
                    <a:pt x="3645827" y="37172"/>
                  </a:lnTo>
                </a:path>
                <a:path w="3683000" h="1651000">
                  <a:moveTo>
                    <a:pt x="37172" y="1613827"/>
                  </a:moveTo>
                  <a:lnTo>
                    <a:pt x="55964" y="1629327"/>
                  </a:lnTo>
                  <a:lnTo>
                    <a:pt x="77538" y="1641028"/>
                  </a:lnTo>
                  <a:lnTo>
                    <a:pt x="101386" y="1648422"/>
                  </a:lnTo>
                  <a:lnTo>
                    <a:pt x="127000" y="1651000"/>
                  </a:lnTo>
                  <a:lnTo>
                    <a:pt x="3556000" y="1651000"/>
                  </a:lnTo>
                  <a:lnTo>
                    <a:pt x="3581613" y="1648422"/>
                  </a:lnTo>
                  <a:lnTo>
                    <a:pt x="3605461" y="1641028"/>
                  </a:lnTo>
                  <a:lnTo>
                    <a:pt x="3627035" y="1629327"/>
                  </a:lnTo>
                  <a:lnTo>
                    <a:pt x="3645827" y="1613827"/>
                  </a:lnTo>
                </a:path>
                <a:path w="3683000" h="1651000">
                  <a:moveTo>
                    <a:pt x="37172" y="1613827"/>
                  </a:moveTo>
                  <a:lnTo>
                    <a:pt x="21672" y="1595035"/>
                  </a:lnTo>
                  <a:lnTo>
                    <a:pt x="9971" y="1573461"/>
                  </a:lnTo>
                  <a:lnTo>
                    <a:pt x="2577" y="1549613"/>
                  </a:lnTo>
                  <a:lnTo>
                    <a:pt x="0" y="1524000"/>
                  </a:lnTo>
                  <a:lnTo>
                    <a:pt x="0" y="127000"/>
                  </a:lnTo>
                  <a:lnTo>
                    <a:pt x="2577" y="101386"/>
                  </a:lnTo>
                  <a:lnTo>
                    <a:pt x="9971" y="77538"/>
                  </a:lnTo>
                  <a:lnTo>
                    <a:pt x="21672" y="55964"/>
                  </a:lnTo>
                  <a:lnTo>
                    <a:pt x="37172" y="37172"/>
                  </a:lnTo>
                </a:path>
                <a:path w="3683000" h="1651000">
                  <a:moveTo>
                    <a:pt x="3645827" y="1613827"/>
                  </a:moveTo>
                  <a:lnTo>
                    <a:pt x="3661327" y="1595035"/>
                  </a:lnTo>
                  <a:lnTo>
                    <a:pt x="3673028" y="1573461"/>
                  </a:lnTo>
                  <a:lnTo>
                    <a:pt x="3680422" y="1549613"/>
                  </a:lnTo>
                  <a:lnTo>
                    <a:pt x="3683000" y="1524000"/>
                  </a:lnTo>
                  <a:lnTo>
                    <a:pt x="3683000" y="127000"/>
                  </a:lnTo>
                  <a:lnTo>
                    <a:pt x="3680422" y="101386"/>
                  </a:lnTo>
                  <a:lnTo>
                    <a:pt x="3673028" y="77538"/>
                  </a:lnTo>
                  <a:lnTo>
                    <a:pt x="3661327" y="55964"/>
                  </a:lnTo>
                  <a:lnTo>
                    <a:pt x="3645827" y="37172"/>
                  </a:lnTo>
                </a:path>
              </a:pathLst>
            </a:custGeom>
            <a:ln w="12700">
              <a:solidFill>
                <a:srgbClr val="38561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88000" y="2627629"/>
            <a:ext cx="1092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  <a:latin typeface="Avenir Next Pro"/>
              </a:rPr>
              <a:t>Cómo </a:t>
            </a:r>
            <a:r>
              <a:rPr sz="1200" spc="-10">
                <a:solidFill>
                  <a:srgbClr val="FFFFFF"/>
                </a:solidFill>
                <a:latin typeface="Avenir Next Pro"/>
              </a:rPr>
              <a:t>están </a:t>
            </a:r>
            <a:r>
              <a:rPr sz="1200">
                <a:solidFill>
                  <a:srgbClr val="FFFFFF"/>
                </a:solidFill>
                <a:latin typeface="Avenir Next Pro"/>
              </a:rPr>
              <a:t>combinados </a:t>
            </a:r>
            <a:r>
              <a:rPr sz="1200" spc="-25">
                <a:solidFill>
                  <a:srgbClr val="FFFFFF"/>
                </a:solidFill>
                <a:latin typeface="Avenir Next Pro"/>
              </a:rPr>
              <a:t>tus </a:t>
            </a:r>
            <a:r>
              <a:rPr sz="1200" spc="-10">
                <a:solidFill>
                  <a:srgbClr val="FFFFFF"/>
                </a:solidFill>
                <a:latin typeface="Avenir Next Pro"/>
              </a:rPr>
              <a:t>activos</a:t>
            </a:r>
            <a:endParaRPr sz="1200">
              <a:latin typeface="Avenir Next Pr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93000" y="1778000"/>
            <a:ext cx="3683000" cy="1651000"/>
          </a:xfrm>
          <a:custGeom>
            <a:avLst/>
            <a:gdLst/>
            <a:ahLst/>
            <a:cxnLst/>
            <a:rect l="l" t="t" r="r" b="b"/>
            <a:pathLst>
              <a:path w="3683000" h="1651000">
                <a:moveTo>
                  <a:pt x="355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524000"/>
                </a:lnTo>
                <a:lnTo>
                  <a:pt x="9971" y="1573461"/>
                </a:lnTo>
                <a:lnTo>
                  <a:pt x="37172" y="1613827"/>
                </a:lnTo>
                <a:lnTo>
                  <a:pt x="77538" y="1641028"/>
                </a:lnTo>
                <a:lnTo>
                  <a:pt x="127000" y="1651000"/>
                </a:lnTo>
                <a:lnTo>
                  <a:pt x="3556000" y="1651000"/>
                </a:lnTo>
                <a:lnTo>
                  <a:pt x="3605461" y="1641028"/>
                </a:lnTo>
                <a:lnTo>
                  <a:pt x="3645827" y="1613827"/>
                </a:lnTo>
                <a:lnTo>
                  <a:pt x="3673028" y="1573461"/>
                </a:lnTo>
                <a:lnTo>
                  <a:pt x="3683000" y="1524000"/>
                </a:lnTo>
                <a:lnTo>
                  <a:pt x="3683000" y="127000"/>
                </a:lnTo>
                <a:lnTo>
                  <a:pt x="3673028" y="77538"/>
                </a:lnTo>
                <a:lnTo>
                  <a:pt x="3645827" y="37172"/>
                </a:lnTo>
                <a:lnTo>
                  <a:pt x="3605461" y="9971"/>
                </a:lnTo>
                <a:lnTo>
                  <a:pt x="355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21600" y="2038350"/>
            <a:ext cx="2122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solidFill>
                  <a:srgbClr val="FFFFFF"/>
                </a:solidFill>
                <a:latin typeface="Avenir Next Pro"/>
              </a:rPr>
              <a:t>Riesgo estructural ({{s05.pct2}})</a:t>
            </a:r>
            <a:endParaRPr sz="1500">
              <a:latin typeface="Avenir Next Pr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59700" y="2025650"/>
            <a:ext cx="3149600" cy="419100"/>
            <a:chOff x="7759700" y="2025650"/>
            <a:chExt cx="3149600" cy="4191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91800" y="2025650"/>
              <a:ext cx="215900" cy="215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59700" y="2419350"/>
              <a:ext cx="3149600" cy="25400"/>
            </a:xfrm>
            <a:custGeom>
              <a:avLst/>
              <a:gdLst/>
              <a:ahLst/>
              <a:cxnLst/>
              <a:rect l="l" t="t" r="r" b="b"/>
              <a:pathLst>
                <a:path w="3149600" h="25400">
                  <a:moveTo>
                    <a:pt x="31496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3149600" y="25400"/>
                  </a:lnTo>
                  <a:lnTo>
                    <a:pt x="3149600" y="0"/>
                  </a:lnTo>
                  <a:close/>
                </a:path>
              </a:pathLst>
            </a:custGeom>
            <a:solidFill>
              <a:srgbClr val="9CBC60"/>
            </a:solidFill>
          </p:spPr>
          <p:txBody>
            <a:bodyPr wrap="square" lIns="0" tIns="0" rIns="0" bIns="0" rtlCol="0"/>
            <a:lstStyle/>
            <a:p>
              <a:endParaRPr>
                <a:latin typeface="Avenir Next Pro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90415" y="2622550"/>
            <a:ext cx="50076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1750" algn="l"/>
              </a:tabLst>
            </a:pPr>
            <a:r>
              <a:rPr sz="4000" spc="-20">
                <a:solidFill>
                  <a:srgbClr val="C3ED74"/>
                </a:solidFill>
                <a:latin typeface="Avenir Next Pro"/>
              </a:rPr>
              <a:t>{{s05.score2}}	{{s05.score3}}</a:t>
            </a:r>
            <a:endParaRPr sz="4000">
              <a:latin typeface="Avenir Next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98000" y="2627629"/>
            <a:ext cx="122872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  <a:latin typeface="Avenir Next Pro"/>
              </a:rPr>
              <a:t>Qué tan </a:t>
            </a:r>
            <a:r>
              <a:rPr sz="1200" spc="-10">
                <a:solidFill>
                  <a:srgbClr val="FFFFFF"/>
                </a:solidFill>
                <a:latin typeface="Avenir Next Pro"/>
              </a:rPr>
              <a:t>expuesto </a:t>
            </a:r>
            <a:r>
              <a:rPr sz="1200">
                <a:solidFill>
                  <a:srgbClr val="FFFFFF"/>
                </a:solidFill>
                <a:latin typeface="Avenir Next Pro"/>
              </a:rPr>
              <a:t>estas a </a:t>
            </a:r>
            <a:r>
              <a:rPr sz="1200" spc="-10">
                <a:solidFill>
                  <a:srgbClr val="FFFFFF"/>
                </a:solidFill>
                <a:latin typeface="Avenir Next Pro"/>
              </a:rPr>
              <a:t>shocks</a:t>
            </a:r>
            <a:endParaRPr sz="1200">
              <a:latin typeface="Avenir Next Pr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93000" y="1778000"/>
            <a:ext cx="3683000" cy="1651000"/>
          </a:xfrm>
          <a:custGeom>
            <a:avLst/>
            <a:gdLst/>
            <a:ahLst/>
            <a:cxnLst/>
            <a:rect l="l" t="t" r="r" b="b"/>
            <a:pathLst>
              <a:path w="3683000" h="1651000">
                <a:moveTo>
                  <a:pt x="37172" y="37172"/>
                </a:moveTo>
                <a:lnTo>
                  <a:pt x="55964" y="21672"/>
                </a:lnTo>
                <a:lnTo>
                  <a:pt x="77538" y="9971"/>
                </a:lnTo>
                <a:lnTo>
                  <a:pt x="101386" y="2577"/>
                </a:lnTo>
                <a:lnTo>
                  <a:pt x="127000" y="0"/>
                </a:lnTo>
                <a:lnTo>
                  <a:pt x="3556000" y="0"/>
                </a:lnTo>
                <a:lnTo>
                  <a:pt x="3581613" y="2577"/>
                </a:lnTo>
                <a:lnTo>
                  <a:pt x="3605461" y="9971"/>
                </a:lnTo>
                <a:lnTo>
                  <a:pt x="3627035" y="21672"/>
                </a:lnTo>
                <a:lnTo>
                  <a:pt x="3645827" y="37172"/>
                </a:lnTo>
              </a:path>
              <a:path w="3683000" h="1651000">
                <a:moveTo>
                  <a:pt x="37172" y="1613827"/>
                </a:moveTo>
                <a:lnTo>
                  <a:pt x="55964" y="1629327"/>
                </a:lnTo>
                <a:lnTo>
                  <a:pt x="77538" y="1641028"/>
                </a:lnTo>
                <a:lnTo>
                  <a:pt x="101386" y="1648422"/>
                </a:lnTo>
                <a:lnTo>
                  <a:pt x="127000" y="1651000"/>
                </a:lnTo>
                <a:lnTo>
                  <a:pt x="3556000" y="1651000"/>
                </a:lnTo>
                <a:lnTo>
                  <a:pt x="3581613" y="1648422"/>
                </a:lnTo>
                <a:lnTo>
                  <a:pt x="3605461" y="1641028"/>
                </a:lnTo>
                <a:lnTo>
                  <a:pt x="3627035" y="1629327"/>
                </a:lnTo>
                <a:lnTo>
                  <a:pt x="3645827" y="1613827"/>
                </a:lnTo>
              </a:path>
              <a:path w="3683000" h="1651000">
                <a:moveTo>
                  <a:pt x="37172" y="1613827"/>
                </a:moveTo>
                <a:lnTo>
                  <a:pt x="21672" y="1595035"/>
                </a:lnTo>
                <a:lnTo>
                  <a:pt x="9971" y="1573461"/>
                </a:lnTo>
                <a:lnTo>
                  <a:pt x="2577" y="1549613"/>
                </a:lnTo>
                <a:lnTo>
                  <a:pt x="0" y="1524000"/>
                </a:lnTo>
                <a:lnTo>
                  <a:pt x="0" y="127000"/>
                </a:lnTo>
                <a:lnTo>
                  <a:pt x="2577" y="101386"/>
                </a:lnTo>
                <a:lnTo>
                  <a:pt x="9971" y="77538"/>
                </a:lnTo>
                <a:lnTo>
                  <a:pt x="21672" y="55964"/>
                </a:lnTo>
                <a:lnTo>
                  <a:pt x="37172" y="37172"/>
                </a:lnTo>
              </a:path>
              <a:path w="3683000" h="1651000">
                <a:moveTo>
                  <a:pt x="3645827" y="1613827"/>
                </a:moveTo>
                <a:lnTo>
                  <a:pt x="3661327" y="1595035"/>
                </a:lnTo>
                <a:lnTo>
                  <a:pt x="3673028" y="1573461"/>
                </a:lnTo>
                <a:lnTo>
                  <a:pt x="3680422" y="1549613"/>
                </a:lnTo>
                <a:lnTo>
                  <a:pt x="3683000" y="1524000"/>
                </a:lnTo>
                <a:lnTo>
                  <a:pt x="3683000" y="127000"/>
                </a:lnTo>
                <a:lnTo>
                  <a:pt x="3680422" y="101386"/>
                </a:lnTo>
                <a:lnTo>
                  <a:pt x="3673028" y="77538"/>
                </a:lnTo>
                <a:lnTo>
                  <a:pt x="3661327" y="55964"/>
                </a:lnTo>
                <a:lnTo>
                  <a:pt x="3645827" y="37172"/>
                </a:lnTo>
              </a:path>
            </a:pathLst>
          </a:custGeom>
          <a:ln w="12700">
            <a:solidFill>
              <a:srgbClr val="38561C"/>
            </a:solidFill>
          </a:ln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83000" y="3644900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736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397000"/>
                </a:lnTo>
                <a:lnTo>
                  <a:pt x="9971" y="1446461"/>
                </a:lnTo>
                <a:lnTo>
                  <a:pt x="37172" y="1486827"/>
                </a:lnTo>
                <a:lnTo>
                  <a:pt x="77538" y="1514028"/>
                </a:lnTo>
                <a:lnTo>
                  <a:pt x="127000" y="1524000"/>
                </a:lnTo>
                <a:lnTo>
                  <a:pt x="7366000" y="1524000"/>
                </a:lnTo>
                <a:lnTo>
                  <a:pt x="7415461" y="1514028"/>
                </a:lnTo>
                <a:lnTo>
                  <a:pt x="7455827" y="1486827"/>
                </a:lnTo>
                <a:lnTo>
                  <a:pt x="7483028" y="1446461"/>
                </a:lnTo>
                <a:lnTo>
                  <a:pt x="7493000" y="1397000"/>
                </a:lnTo>
                <a:lnTo>
                  <a:pt x="7493000" y="127000"/>
                </a:lnTo>
                <a:lnTo>
                  <a:pt x="7483028" y="77538"/>
                </a:lnTo>
                <a:lnTo>
                  <a:pt x="7455827" y="37172"/>
                </a:lnTo>
                <a:lnTo>
                  <a:pt x="7415461" y="9971"/>
                </a:lnTo>
                <a:lnTo>
                  <a:pt x="7366000" y="0"/>
                </a:lnTo>
                <a:close/>
              </a:path>
            </a:pathLst>
          </a:custGeom>
          <a:solidFill>
            <a:srgbClr val="1A280E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93259" y="3968750"/>
            <a:ext cx="6306820" cy="8051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ct val="76900"/>
              </a:lnSpc>
              <a:spcBef>
                <a:spcPts val="459"/>
              </a:spcBef>
            </a:pPr>
            <a:r>
              <a:rPr sz="1300" spc="-25">
                <a:solidFill>
                  <a:srgbClr val="C3ED74"/>
                </a:solidFill>
                <a:latin typeface="Avenir Next Pro"/>
              </a:rPr>
              <a:t>{{s05.nombre2}}</a:t>
            </a:r>
            <a:endParaRPr sz="1300">
              <a:latin typeface="Avenir Next Pro"/>
            </a:endParaRPr>
          </a:p>
          <a:p>
            <a:pPr marL="12700" marR="669925">
              <a:lnSpc>
                <a:spcPts val="1200"/>
              </a:lnSpc>
              <a:spcBef>
                <a:spcPts val="980"/>
              </a:spcBef>
            </a:pPr>
            <a:r>
              <a:rPr sz="1200">
                <a:solidFill>
                  <a:srgbClr val="FFFFFF"/>
                </a:solidFill>
                <a:latin typeface="Avenir Next Pro"/>
              </a:rPr>
              <a:t>{{s05.nombre3}}</a:t>
            </a:r>
            <a:endParaRPr sz="1200">
              <a:latin typeface="Avenir Next Pr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83000" y="3644900"/>
            <a:ext cx="7493000" cy="1524000"/>
          </a:xfrm>
          <a:custGeom>
            <a:avLst/>
            <a:gdLst/>
            <a:ahLst/>
            <a:cxnLst/>
            <a:rect l="l" t="t" r="r" b="b"/>
            <a:pathLst>
              <a:path w="7493000" h="1524000">
                <a:moveTo>
                  <a:pt x="37172" y="37172"/>
                </a:moveTo>
                <a:lnTo>
                  <a:pt x="55964" y="21672"/>
                </a:lnTo>
                <a:lnTo>
                  <a:pt x="77538" y="9971"/>
                </a:lnTo>
                <a:lnTo>
                  <a:pt x="101386" y="2577"/>
                </a:lnTo>
                <a:lnTo>
                  <a:pt x="127000" y="0"/>
                </a:lnTo>
                <a:lnTo>
                  <a:pt x="7366000" y="0"/>
                </a:lnTo>
                <a:lnTo>
                  <a:pt x="7391613" y="2577"/>
                </a:lnTo>
                <a:lnTo>
                  <a:pt x="7415461" y="9971"/>
                </a:lnTo>
                <a:lnTo>
                  <a:pt x="7437035" y="21672"/>
                </a:lnTo>
                <a:lnTo>
                  <a:pt x="7455827" y="37172"/>
                </a:lnTo>
              </a:path>
              <a:path w="7493000" h="1524000">
                <a:moveTo>
                  <a:pt x="37172" y="1486827"/>
                </a:moveTo>
                <a:lnTo>
                  <a:pt x="55964" y="1502327"/>
                </a:lnTo>
                <a:lnTo>
                  <a:pt x="77538" y="1514028"/>
                </a:lnTo>
                <a:lnTo>
                  <a:pt x="101386" y="1521422"/>
                </a:lnTo>
                <a:lnTo>
                  <a:pt x="127000" y="1524000"/>
                </a:lnTo>
                <a:lnTo>
                  <a:pt x="7366000" y="1524000"/>
                </a:lnTo>
                <a:lnTo>
                  <a:pt x="7391613" y="1521422"/>
                </a:lnTo>
                <a:lnTo>
                  <a:pt x="7415461" y="1514028"/>
                </a:lnTo>
                <a:lnTo>
                  <a:pt x="7437035" y="1502327"/>
                </a:lnTo>
                <a:lnTo>
                  <a:pt x="7455827" y="1486827"/>
                </a:lnTo>
              </a:path>
              <a:path w="7493000" h="1524000">
                <a:moveTo>
                  <a:pt x="37172" y="1486827"/>
                </a:moveTo>
                <a:lnTo>
                  <a:pt x="21672" y="1468035"/>
                </a:lnTo>
                <a:lnTo>
                  <a:pt x="9971" y="1446461"/>
                </a:lnTo>
                <a:lnTo>
                  <a:pt x="2577" y="1422613"/>
                </a:lnTo>
                <a:lnTo>
                  <a:pt x="0" y="1397000"/>
                </a:lnTo>
                <a:lnTo>
                  <a:pt x="0" y="127000"/>
                </a:lnTo>
                <a:lnTo>
                  <a:pt x="2577" y="101386"/>
                </a:lnTo>
                <a:lnTo>
                  <a:pt x="9971" y="77538"/>
                </a:lnTo>
                <a:lnTo>
                  <a:pt x="21672" y="55964"/>
                </a:lnTo>
                <a:lnTo>
                  <a:pt x="37172" y="37172"/>
                </a:lnTo>
              </a:path>
              <a:path w="7493000" h="1524000">
                <a:moveTo>
                  <a:pt x="7455827" y="1486827"/>
                </a:moveTo>
                <a:lnTo>
                  <a:pt x="7471327" y="1468035"/>
                </a:lnTo>
                <a:lnTo>
                  <a:pt x="7483028" y="1446461"/>
                </a:lnTo>
                <a:lnTo>
                  <a:pt x="7490422" y="1422613"/>
                </a:lnTo>
                <a:lnTo>
                  <a:pt x="7493000" y="1397000"/>
                </a:lnTo>
                <a:lnTo>
                  <a:pt x="7493000" y="127000"/>
                </a:lnTo>
                <a:lnTo>
                  <a:pt x="7490422" y="101386"/>
                </a:lnTo>
                <a:lnTo>
                  <a:pt x="7483028" y="77538"/>
                </a:lnTo>
                <a:lnTo>
                  <a:pt x="7471327" y="55964"/>
                </a:lnTo>
                <a:lnTo>
                  <a:pt x="7455827" y="37172"/>
                </a:lnTo>
              </a:path>
            </a:pathLst>
          </a:custGeom>
          <a:ln w="25400">
            <a:solidFill>
              <a:srgbClr val="C3ED74"/>
            </a:solidFill>
          </a:ln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8299" y="5435600"/>
            <a:ext cx="1079999" cy="62790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604000"/>
          </a:xfrm>
          <a:custGeom>
            <a:avLst/>
            <a:gdLst/>
            <a:ahLst/>
            <a:cxnLst/>
            <a:rect l="l" t="t" r="r" b="b"/>
            <a:pathLst>
              <a:path w="12179300" h="6604000">
                <a:moveTo>
                  <a:pt x="12179300" y="0"/>
                </a:moveTo>
                <a:lnTo>
                  <a:pt x="0" y="0"/>
                </a:lnTo>
                <a:lnTo>
                  <a:pt x="0" y="6604000"/>
                </a:lnTo>
                <a:lnTo>
                  <a:pt x="12179300" y="6604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1A280E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179300" y="76200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2F4ED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>
                <a:solidFill>
                  <a:srgbClr val="C3ED74"/>
                </a:solidFill>
                <a:latin typeface="Avenir Next Pro"/>
              </a:rPr>
              <a:t>¿Cuánto</a:t>
            </a:r>
            <a:r>
              <a:rPr spc="-80">
                <a:solidFill>
                  <a:srgbClr val="C3ED74"/>
                </a:solidFill>
                <a:latin typeface="Avenir Next Pro"/>
              </a:rPr>
              <a:t> </a:t>
            </a:r>
            <a:r>
              <a:rPr spc="-45">
                <a:solidFill>
                  <a:srgbClr val="C3ED74"/>
                </a:solidFill>
                <a:latin typeface="Avenir Next Pro"/>
              </a:rPr>
              <a:t>estás</a:t>
            </a:r>
            <a:r>
              <a:rPr spc="-80">
                <a:solidFill>
                  <a:srgbClr val="C3ED74"/>
                </a:solidFill>
                <a:latin typeface="Avenir Next Pro"/>
              </a:rPr>
              <a:t> </a:t>
            </a:r>
            <a:r>
              <a:rPr spc="85">
                <a:solidFill>
                  <a:srgbClr val="FFFFFF"/>
                </a:solidFill>
                <a:latin typeface="Avenir Next Pro"/>
              </a:rPr>
              <a:t>pagando</a:t>
            </a:r>
            <a:r>
              <a:rPr spc="-80">
                <a:solidFill>
                  <a:srgbClr val="FFFFFF"/>
                </a:solidFill>
                <a:latin typeface="Avenir Next Pro"/>
              </a:rPr>
              <a:t> </a:t>
            </a:r>
            <a:r>
              <a:rPr spc="55">
                <a:solidFill>
                  <a:srgbClr val="FFFFFF"/>
                </a:solidFill>
                <a:latin typeface="Avenir Next Pro"/>
              </a:rPr>
              <a:t>hoy</a:t>
            </a:r>
            <a:r>
              <a:rPr spc="-80">
                <a:solidFill>
                  <a:srgbClr val="FFFFFF"/>
                </a:solidFill>
                <a:latin typeface="Avenir Next Pro"/>
              </a:rPr>
              <a:t> </a:t>
            </a:r>
            <a:r>
              <a:rPr>
                <a:solidFill>
                  <a:srgbClr val="FFFFFF"/>
                </a:solidFill>
                <a:latin typeface="Avenir Next Pro"/>
              </a:rPr>
              <a:t>en</a:t>
            </a:r>
            <a:r>
              <a:rPr spc="-75">
                <a:solidFill>
                  <a:srgbClr val="FFFFFF"/>
                </a:solidFill>
                <a:latin typeface="Avenir Next Pro"/>
              </a:rPr>
              <a:t> </a:t>
            </a:r>
            <a:r>
              <a:rPr spc="-10">
                <a:solidFill>
                  <a:srgbClr val="FFFFFF"/>
                </a:solidFill>
                <a:latin typeface="Avenir Next Pro"/>
              </a:rPr>
              <a:t>comisiones?</a:t>
            </a:r>
          </a:p>
        </p:txBody>
      </p:sp>
      <p:sp>
        <p:nvSpPr>
          <p:cNvPr id="5" name="object 5"/>
          <p:cNvSpPr/>
          <p:nvPr/>
        </p:nvSpPr>
        <p:spPr>
          <a:xfrm>
            <a:off x="914400" y="13335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1474384"/>
            <a:ext cx="2286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20">
                <a:solidFill>
                  <a:srgbClr val="F2F4ED"/>
                </a:solidFill>
                <a:latin typeface="Avenir Next Pro"/>
              </a:rPr>
              <a:t>{{s06.nombre}}</a:t>
            </a:r>
            <a:endParaRPr sz="1400">
              <a:latin typeface="Avenir Next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1900" y="15494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1400" spc="-10">
                <a:solidFill>
                  <a:srgbClr val="F2F4ED"/>
                </a:solidFill>
                <a:latin typeface="Avenir Next Pro"/>
              </a:rPr>
              <a:t>{{s06.pct}}</a:t>
            </a:r>
            <a:endParaRPr sz="1400">
              <a:latin typeface="Avenir Next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4900" y="1549400"/>
            <a:ext cx="7937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>
                <a:solidFill>
                  <a:srgbClr val="C3ED59"/>
                </a:solidFill>
                <a:latin typeface="Avenir Next Pro"/>
              </a:rPr>
              <a:t>{{s06.monto}}</a:t>
            </a:r>
            <a:endParaRPr sz="1400">
              <a:latin typeface="Avenir Next Pr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21463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5700" y="2252592"/>
            <a:ext cx="23831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>
                <a:solidFill>
                  <a:srgbClr val="F2F4ED"/>
                </a:solidFill>
                <a:latin typeface="Avenir Next Pro"/>
              </a:rPr>
              <a:t>{{s06.nombre2}}</a:t>
            </a:r>
            <a:endParaRPr sz="1400">
              <a:latin typeface="Avenir Next Pr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1900" y="23622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1400" spc="-10">
                <a:solidFill>
                  <a:srgbClr val="F2F4ED"/>
                </a:solidFill>
                <a:latin typeface="Avenir Next Pro"/>
              </a:rPr>
              <a:t>{{s06.pct2}}</a:t>
            </a:r>
            <a:endParaRPr sz="1400">
              <a:latin typeface="Avenir Next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4900" y="2362200"/>
            <a:ext cx="7175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>
                <a:solidFill>
                  <a:srgbClr val="C3ED59"/>
                </a:solidFill>
                <a:latin typeface="Avenir Next Pro"/>
              </a:rPr>
              <a:t>{{s06.monto2}}</a:t>
            </a:r>
            <a:endParaRPr sz="1400">
              <a:latin typeface="Avenir Next Pr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29591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5700" y="3073400"/>
            <a:ext cx="228600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90">
                <a:solidFill>
                  <a:srgbClr val="F2F4ED"/>
                </a:solidFill>
                <a:latin typeface="Avenir Next Pro"/>
              </a:rPr>
              <a:t>{{s06.nombre3}}</a:t>
            </a:r>
            <a:endParaRPr sz="1400">
              <a:latin typeface="Avenir Next Pr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1900" y="31750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10">
                <a:solidFill>
                  <a:srgbClr val="F2F4ED"/>
                </a:solidFill>
                <a:latin typeface="Avenir Next Pro"/>
              </a:rPr>
              <a:t>{{s06.pct3}}</a:t>
            </a:r>
            <a:endParaRPr sz="1400">
              <a:latin typeface="Avenir Next Pr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4900" y="3175000"/>
            <a:ext cx="4953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-{{s06.monto3}}</a:t>
            </a:r>
            <a:endParaRPr sz="1400">
              <a:latin typeface="Avenir Next Pr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400" y="37719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5700" y="3886200"/>
            <a:ext cx="245110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90">
                <a:solidFill>
                  <a:srgbClr val="F2F4ED"/>
                </a:solidFill>
                <a:latin typeface="Avenir Next Pro"/>
              </a:rPr>
              <a:t>{{s06.nombre4}}</a:t>
            </a:r>
            <a:endParaRPr sz="1400">
              <a:latin typeface="Avenir Next Pr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1900" y="39878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{{s06.pct4}}</a:t>
            </a:r>
            <a:endParaRPr sz="1400">
              <a:latin typeface="Avenir Next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4900" y="3987800"/>
            <a:ext cx="4953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-{{s06.monto4}}</a:t>
            </a:r>
            <a:endParaRPr sz="1400">
              <a:latin typeface="Avenir Next Pr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4400" y="45847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5700" y="4597400"/>
            <a:ext cx="2051050" cy="6451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20">
                <a:solidFill>
                  <a:srgbClr val="F2F4ED"/>
                </a:solidFill>
                <a:latin typeface="Avenir Next Pro"/>
              </a:rPr>
              <a:t>{{s06.nombre5}}</a:t>
            </a:r>
            <a:endParaRPr sz="1400">
              <a:latin typeface="Avenir Next Pr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1900" y="48006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{{s06.pct5}}</a:t>
            </a:r>
            <a:endParaRPr sz="1400">
              <a:latin typeface="Avenir Next Pr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4900" y="4800600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-{{s06.monto5}}</a:t>
            </a:r>
            <a:endParaRPr sz="1400">
              <a:latin typeface="Avenir Next Pro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329F8FEE-EA99-142B-087A-1A82ADD3D10F}"/>
              </a:ext>
            </a:extLst>
          </p:cNvPr>
          <p:cNvSpPr/>
          <p:nvPr/>
        </p:nvSpPr>
        <p:spPr>
          <a:xfrm>
            <a:off x="914400" y="53975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0EBD55A4-0012-D5B2-1896-B8D8C6E0CC20}"/>
              </a:ext>
            </a:extLst>
          </p:cNvPr>
          <p:cNvSpPr txBox="1"/>
          <p:nvPr/>
        </p:nvSpPr>
        <p:spPr>
          <a:xfrm>
            <a:off x="1155700" y="5489319"/>
            <a:ext cx="2051050" cy="43858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lang="es-PE" sz="1400" spc="-20">
                <a:solidFill>
                  <a:srgbClr val="F2F4ED"/>
                </a:solidFill>
                <a:latin typeface="Avenir Next Pro"/>
              </a:rPr>
              <a:t>{{s06.nombre6}}</a:t>
            </a:r>
            <a:endParaRPr sz="1400">
              <a:latin typeface="Avenir Next Pro"/>
            </a:endParaRP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CFC9FAC4-24E0-24E4-21CC-920A6AAD0716}"/>
              </a:ext>
            </a:extLst>
          </p:cNvPr>
          <p:cNvSpPr txBox="1"/>
          <p:nvPr/>
        </p:nvSpPr>
        <p:spPr>
          <a:xfrm>
            <a:off x="3771900" y="56134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{{s06.pct6}}</a:t>
            </a:r>
            <a:endParaRPr sz="1400">
              <a:latin typeface="Avenir Next Pro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14199D68-15B7-3AE0-63C0-5AB12ACDD329}"/>
              </a:ext>
            </a:extLst>
          </p:cNvPr>
          <p:cNvSpPr txBox="1"/>
          <p:nvPr/>
        </p:nvSpPr>
        <p:spPr>
          <a:xfrm>
            <a:off x="4914900" y="5613400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-{{s06.monto6}}</a:t>
            </a:r>
            <a:endParaRPr sz="1400">
              <a:latin typeface="Avenir Next Pro"/>
            </a:endParaRPr>
          </a:p>
        </p:txBody>
      </p:sp>
      <p:pic>
        <p:nvPicPr>
          <p:cNvPr id="29" name="object 36">
            <a:extLst>
              <a:ext uri="{FF2B5EF4-FFF2-40B4-BE49-F238E27FC236}">
                <a16:creationId xmlns:a16="http://schemas.microsoft.com/office/drawing/2014/main" id="{AE66AB0F-998A-B840-DCC3-E7B1CD1AE5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8637" y="5613400"/>
            <a:ext cx="1079999" cy="627906"/>
          </a:xfrm>
          <a:prstGeom prst="rect">
            <a:avLst/>
          </a:prstGeom>
        </p:spPr>
      </p:pic>
      <p:sp>
        <p:nvSpPr>
          <p:cNvPr id="31" name="object 5">
            <a:extLst>
              <a:ext uri="{FF2B5EF4-FFF2-40B4-BE49-F238E27FC236}">
                <a16:creationId xmlns:a16="http://schemas.microsoft.com/office/drawing/2014/main" id="{4C28DBBE-1F08-5BED-0E86-666ECBDA09CF}"/>
              </a:ext>
            </a:extLst>
          </p:cNvPr>
          <p:cNvSpPr/>
          <p:nvPr/>
        </p:nvSpPr>
        <p:spPr>
          <a:xfrm>
            <a:off x="6324600" y="1320800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CE7DBC41-FCF5-80D8-0346-CD57CA6A5058}"/>
              </a:ext>
            </a:extLst>
          </p:cNvPr>
          <p:cNvSpPr txBox="1"/>
          <p:nvPr/>
        </p:nvSpPr>
        <p:spPr>
          <a:xfrm>
            <a:off x="6565900" y="1461684"/>
            <a:ext cx="2286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1400" spc="-20">
                <a:solidFill>
                  <a:srgbClr val="F2F4ED"/>
                </a:solidFill>
                <a:latin typeface="Avenir Next Pro"/>
              </a:rPr>
              <a:t>{{s06.nombre7}}</a:t>
            </a:r>
            <a:endParaRPr sz="1400">
              <a:latin typeface="Avenir Next Pro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6C203D92-62B9-1209-39BB-023131346D2E}"/>
              </a:ext>
            </a:extLst>
          </p:cNvPr>
          <p:cNvSpPr txBox="1"/>
          <p:nvPr/>
        </p:nvSpPr>
        <p:spPr>
          <a:xfrm>
            <a:off x="9182100" y="1536700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1400" spc="-10">
                <a:solidFill>
                  <a:srgbClr val="F2F4ED"/>
                </a:solidFill>
                <a:latin typeface="Avenir Next Pro"/>
              </a:rPr>
              <a:t>{{s06.monto7}}</a:t>
            </a:r>
            <a:endParaRPr lang="es-419" sz="1400">
              <a:latin typeface="Avenir Next Pro"/>
            </a:endParaRPr>
          </a:p>
        </p:txBody>
      </p:sp>
      <p:sp>
        <p:nvSpPr>
          <p:cNvPr id="34" name="object 8">
            <a:extLst>
              <a:ext uri="{FF2B5EF4-FFF2-40B4-BE49-F238E27FC236}">
                <a16:creationId xmlns:a16="http://schemas.microsoft.com/office/drawing/2014/main" id="{9955A3DA-7F85-4ECF-C680-AE662F69099C}"/>
              </a:ext>
            </a:extLst>
          </p:cNvPr>
          <p:cNvSpPr txBox="1"/>
          <p:nvPr/>
        </p:nvSpPr>
        <p:spPr>
          <a:xfrm>
            <a:off x="10325100" y="1536700"/>
            <a:ext cx="7937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1400" spc="-25">
                <a:solidFill>
                  <a:srgbClr val="C3ED59"/>
                </a:solidFill>
                <a:latin typeface="Avenir Next Pro"/>
              </a:rPr>
              <a:t>{{s06.monto8}}</a:t>
            </a:r>
            <a:endParaRPr sz="1400">
              <a:latin typeface="Avenir Next Pro"/>
            </a:endParaRPr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0EFC658A-57C7-EA0C-491D-D25CEACFC1D5}"/>
              </a:ext>
            </a:extLst>
          </p:cNvPr>
          <p:cNvSpPr/>
          <p:nvPr/>
        </p:nvSpPr>
        <p:spPr>
          <a:xfrm>
            <a:off x="6321094" y="21580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4A6D9E59-825D-B41C-6E42-DABAC8F76B4C}"/>
              </a:ext>
            </a:extLst>
          </p:cNvPr>
          <p:cNvSpPr txBox="1"/>
          <p:nvPr/>
        </p:nvSpPr>
        <p:spPr>
          <a:xfrm>
            <a:off x="6562394" y="2272319"/>
            <a:ext cx="237807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20">
                <a:solidFill>
                  <a:srgbClr val="F2F4ED"/>
                </a:solidFill>
                <a:latin typeface="Avenir Next Pro"/>
              </a:rPr>
              <a:t>{{s06.nombre8}}</a:t>
            </a:r>
            <a:endParaRPr sz="1400">
              <a:latin typeface="Avenir Next Pro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AEFD94C8-A868-C738-9FEF-E577192D1319}"/>
              </a:ext>
            </a:extLst>
          </p:cNvPr>
          <p:cNvSpPr txBox="1"/>
          <p:nvPr/>
        </p:nvSpPr>
        <p:spPr>
          <a:xfrm>
            <a:off x="9178594" y="23739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{{s06.pct7}}</a:t>
            </a:r>
            <a:endParaRPr sz="1400">
              <a:latin typeface="Avenir Next Pro"/>
            </a:endParaRPr>
          </a:p>
        </p:txBody>
      </p:sp>
      <p:sp>
        <p:nvSpPr>
          <p:cNvPr id="41" name="object 5">
            <a:extLst>
              <a:ext uri="{FF2B5EF4-FFF2-40B4-BE49-F238E27FC236}">
                <a16:creationId xmlns:a16="http://schemas.microsoft.com/office/drawing/2014/main" id="{35A60D4A-5F62-9753-2159-97C622FA7912}"/>
              </a:ext>
            </a:extLst>
          </p:cNvPr>
          <p:cNvSpPr txBox="1"/>
          <p:nvPr/>
        </p:nvSpPr>
        <p:spPr>
          <a:xfrm>
            <a:off x="10321594" y="2373919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-{{s06.monto9}}</a:t>
            </a:r>
            <a:endParaRPr sz="1400">
              <a:latin typeface="Avenir Next Pro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816482" y="11454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782" y="1259719"/>
            <a:ext cx="241617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20">
                <a:solidFill>
                  <a:srgbClr val="F2F4ED"/>
                </a:solidFill>
                <a:latin typeface="Avenir Next Pro"/>
              </a:rPr>
              <a:t>{{s07.nombre}}</a:t>
            </a:r>
            <a:endParaRPr sz="1400">
              <a:latin typeface="Avenir Next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3981" y="13613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{{s07.pct}}</a:t>
            </a:r>
            <a:endParaRPr sz="1400">
              <a:latin typeface="Avenir Next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981" y="1361319"/>
            <a:ext cx="4953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-{{s07.monto}}</a:t>
            </a:r>
            <a:endParaRPr sz="1400">
              <a:latin typeface="Avenir Next Pr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6482" y="19582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7782" y="2072519"/>
            <a:ext cx="204660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20">
                <a:solidFill>
                  <a:srgbClr val="F2F4ED"/>
                </a:solidFill>
                <a:latin typeface="Avenir Next Pro"/>
              </a:rPr>
              <a:t>{{s07.monto2}}</a:t>
            </a:r>
            <a:endParaRPr sz="1400">
              <a:latin typeface="Avenir Next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3981" y="21741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{{s07.pct2}}</a:t>
            </a:r>
            <a:endParaRPr sz="1400">
              <a:latin typeface="Avenir Next Pr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6981" y="2174119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-{{s07.monto3}}</a:t>
            </a:r>
            <a:endParaRPr sz="1400">
              <a:latin typeface="Avenir Next Pr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6482" y="27710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7782" y="2885319"/>
            <a:ext cx="1986280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20">
                <a:solidFill>
                  <a:srgbClr val="F2F4ED"/>
                </a:solidFill>
                <a:latin typeface="Avenir Next Pro"/>
              </a:rPr>
              <a:t>{{s07.nombre2}}</a:t>
            </a:r>
            <a:endParaRPr sz="1400">
              <a:latin typeface="Avenir Next Pr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73981" y="29869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{{s07.pct3}}</a:t>
            </a:r>
            <a:endParaRPr sz="1400">
              <a:latin typeface="Avenir Next Pr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6981" y="2986919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-{{s07.monto4}}</a:t>
            </a:r>
            <a:endParaRPr sz="1400">
              <a:latin typeface="Avenir Next Pr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6482" y="35838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7782" y="3698119"/>
            <a:ext cx="220154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>
                <a:solidFill>
                  <a:srgbClr val="F2F4ED"/>
                </a:solidFill>
                <a:latin typeface="Avenir Next Pro"/>
              </a:rPr>
              <a:t>{{s07.nombre3}}</a:t>
            </a:r>
            <a:endParaRPr sz="1400">
              <a:latin typeface="Avenir Next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3981" y="37997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400" spc="-10">
                <a:solidFill>
                  <a:srgbClr val="F2F4ED"/>
                </a:solidFill>
                <a:latin typeface="Avenir Next Pro"/>
              </a:rPr>
              <a:t>{{s07.pct4}}</a:t>
            </a:r>
            <a:endParaRPr sz="1400">
              <a:latin typeface="Avenir Next Pr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16981" y="3799719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-{{s07.monto5}}</a:t>
            </a:r>
            <a:endParaRPr sz="1400">
              <a:latin typeface="Avenir Next Pr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6482" y="43966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7782" y="4409319"/>
            <a:ext cx="2183130" cy="6451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19"/>
              </a:spcBef>
            </a:pPr>
            <a:r>
              <a:rPr sz="1400" spc="-90">
                <a:solidFill>
                  <a:srgbClr val="F2F4ED"/>
                </a:solidFill>
                <a:latin typeface="Avenir Next Pro"/>
              </a:rPr>
              <a:t>{{s07.monto6}}</a:t>
            </a:r>
            <a:endParaRPr sz="1400">
              <a:latin typeface="Avenir Next Pr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3981" y="4612519"/>
            <a:ext cx="5295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F2F4ED"/>
                </a:solidFill>
                <a:latin typeface="Avenir Next Pro"/>
              </a:rPr>
              <a:t>{{s07.pct5}}</a:t>
            </a:r>
            <a:endParaRPr sz="1400">
              <a:latin typeface="Avenir Next Pr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6981" y="4612519"/>
            <a:ext cx="391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C3ED59"/>
                </a:solidFill>
                <a:latin typeface="Avenir Next Pro"/>
              </a:rPr>
              <a:t>-{{s07.monto7}}</a:t>
            </a:r>
            <a:endParaRPr sz="1400">
              <a:latin typeface="Avenir Next Pr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6482" y="5209419"/>
            <a:ext cx="4953000" cy="660400"/>
          </a:xfrm>
          <a:custGeom>
            <a:avLst/>
            <a:gdLst/>
            <a:ahLst/>
            <a:cxnLst/>
            <a:rect l="l" t="t" r="r" b="b"/>
            <a:pathLst>
              <a:path w="4953000" h="660400">
                <a:moveTo>
                  <a:pt x="4826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533400"/>
                </a:lnTo>
                <a:lnTo>
                  <a:pt x="9971" y="582861"/>
                </a:lnTo>
                <a:lnTo>
                  <a:pt x="37172" y="623227"/>
                </a:lnTo>
                <a:lnTo>
                  <a:pt x="77538" y="650428"/>
                </a:lnTo>
                <a:lnTo>
                  <a:pt x="127000" y="660400"/>
                </a:lnTo>
                <a:lnTo>
                  <a:pt x="4826000" y="660400"/>
                </a:lnTo>
                <a:lnTo>
                  <a:pt x="4875461" y="650428"/>
                </a:lnTo>
                <a:lnTo>
                  <a:pt x="4915827" y="623227"/>
                </a:lnTo>
                <a:lnTo>
                  <a:pt x="4943028" y="582861"/>
                </a:lnTo>
                <a:lnTo>
                  <a:pt x="4953000" y="533400"/>
                </a:lnTo>
                <a:lnTo>
                  <a:pt x="4953000" y="127000"/>
                </a:lnTo>
                <a:lnTo>
                  <a:pt x="4943028" y="77538"/>
                </a:lnTo>
                <a:lnTo>
                  <a:pt x="4915827" y="37172"/>
                </a:lnTo>
                <a:lnTo>
                  <a:pt x="4875461" y="9971"/>
                </a:lnTo>
                <a:lnTo>
                  <a:pt x="4826000" y="0"/>
                </a:lnTo>
                <a:close/>
              </a:path>
            </a:pathLst>
          </a:custGeom>
          <a:solidFill>
            <a:srgbClr val="38561C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7782" y="5323719"/>
            <a:ext cx="2444115" cy="4419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20"/>
              </a:spcBef>
            </a:pPr>
            <a:r>
              <a:rPr sz="1400">
                <a:solidFill>
                  <a:srgbClr val="F2F4ED"/>
                </a:solidFill>
                <a:latin typeface="Avenir Next Pro"/>
              </a:rPr>
              <a:t>{{s07.nombre4}}</a:t>
            </a:r>
            <a:endParaRPr sz="1400">
              <a:latin typeface="Avenir Next Pr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73981" y="5425319"/>
            <a:ext cx="15347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5065" algn="l"/>
              </a:tabLst>
            </a:pPr>
            <a:r>
              <a:rPr lang="es-ES" sz="1400" spc="-10">
                <a:solidFill>
                  <a:srgbClr val="F2F4ED"/>
                </a:solidFill>
                <a:latin typeface="Avenir Next Pro"/>
              </a:rPr>
              <a:t>{{s07.pct6}}	-{{s07.monto8}}</a:t>
            </a:r>
            <a:endParaRPr sz="1400">
              <a:latin typeface="Avenir Next Pr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74904" y="1137910"/>
            <a:ext cx="5297805" cy="2184400"/>
          </a:xfrm>
          <a:custGeom>
            <a:avLst/>
            <a:gdLst/>
            <a:ahLst/>
            <a:cxnLst/>
            <a:rect l="l" t="t" r="r" b="b"/>
            <a:pathLst>
              <a:path w="5297805" h="2184400">
                <a:moveTo>
                  <a:pt x="517036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2057400"/>
                </a:lnTo>
                <a:lnTo>
                  <a:pt x="9971" y="2106861"/>
                </a:lnTo>
                <a:lnTo>
                  <a:pt x="37172" y="2147227"/>
                </a:lnTo>
                <a:lnTo>
                  <a:pt x="77538" y="2174428"/>
                </a:lnTo>
                <a:lnTo>
                  <a:pt x="127000" y="2184400"/>
                </a:lnTo>
                <a:lnTo>
                  <a:pt x="5170360" y="2184400"/>
                </a:lnTo>
                <a:lnTo>
                  <a:pt x="5219822" y="2174428"/>
                </a:lnTo>
                <a:lnTo>
                  <a:pt x="5260187" y="2147227"/>
                </a:lnTo>
                <a:lnTo>
                  <a:pt x="5287389" y="2106861"/>
                </a:lnTo>
                <a:lnTo>
                  <a:pt x="5297360" y="2057400"/>
                </a:lnTo>
                <a:lnTo>
                  <a:pt x="5297360" y="127000"/>
                </a:lnTo>
                <a:lnTo>
                  <a:pt x="5287389" y="77538"/>
                </a:lnTo>
                <a:lnTo>
                  <a:pt x="5260187" y="37172"/>
                </a:lnTo>
                <a:lnTo>
                  <a:pt x="5219822" y="9971"/>
                </a:lnTo>
                <a:lnTo>
                  <a:pt x="5170360" y="0"/>
                </a:lnTo>
                <a:close/>
              </a:path>
            </a:pathLst>
          </a:custGeom>
          <a:solidFill>
            <a:srgbClr val="D4FF82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73896" y="1476620"/>
            <a:ext cx="13188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35">
                <a:solidFill>
                  <a:srgbClr val="38561C"/>
                </a:solidFill>
                <a:latin typeface="Avenir Next Pro"/>
              </a:rPr>
              <a:t>Total</a:t>
            </a:r>
            <a:r>
              <a:rPr sz="1900" b="1" spc="-105">
                <a:solidFill>
                  <a:srgbClr val="38561C"/>
                </a:solidFill>
                <a:latin typeface="Avenir Next Pro"/>
              </a:rPr>
              <a:t> </a:t>
            </a:r>
            <a:r>
              <a:rPr sz="1900" b="1" spc="-40">
                <a:solidFill>
                  <a:srgbClr val="38561C"/>
                </a:solidFill>
                <a:latin typeface="Avenir Next Pro"/>
              </a:rPr>
              <a:t>anual</a:t>
            </a:r>
            <a:endParaRPr sz="1900">
              <a:latin typeface="Avenir Next Pr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88564" y="2004050"/>
            <a:ext cx="2817781" cy="12849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800" b="1" spc="-10">
                <a:solidFill>
                  <a:srgbClr val="38561C"/>
                </a:solidFill>
                <a:latin typeface="Avenir Next Pro"/>
              </a:rPr>
              <a:t>{{s07.monto9}}</a:t>
            </a:r>
            <a:endParaRPr sz="3800">
              <a:latin typeface="Avenir Next Pro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1400" spc="-10">
                <a:solidFill>
                  <a:srgbClr val="111A0C"/>
                </a:solidFill>
                <a:latin typeface="Avenir Next Pro"/>
              </a:rPr>
              <a:t>USD/</a:t>
            </a:r>
            <a:r>
              <a:rPr sz="1400" spc="-10" err="1">
                <a:solidFill>
                  <a:srgbClr val="111A0C"/>
                </a:solidFill>
                <a:latin typeface="Avenir Next Pro"/>
              </a:rPr>
              <a:t>año</a:t>
            </a:r>
            <a:endParaRPr lang="es-419" sz="1400" spc="-10">
              <a:solidFill>
                <a:srgbClr val="111A0C"/>
              </a:solidFill>
              <a:latin typeface="Avenir Next Pro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lang="es-PE" sz="1400" spc="-10" err="1">
                <a:solidFill>
                  <a:srgbClr val="111A0C"/>
                </a:solidFill>
                <a:latin typeface="Avenir Next Pro"/>
              </a:rPr>
              <a:t>Incluído</a:t>
            </a:r>
            <a:r>
              <a:rPr lang="es-PE" sz="1400" spc="-10">
                <a:solidFill>
                  <a:srgbClr val="111A0C"/>
                </a:solidFill>
                <a:latin typeface="Avenir Next Pro"/>
              </a:rPr>
              <a:t> IGV</a:t>
            </a:r>
            <a:endParaRPr sz="1400">
              <a:latin typeface="Avenir Next Pr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79705" y="3601711"/>
            <a:ext cx="93154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>
                <a:solidFill>
                  <a:srgbClr val="FFFFFF"/>
                </a:solidFill>
                <a:latin typeface="Avenir Next Pro"/>
              </a:rPr>
              <a:t>Diagnóstico</a:t>
            </a:r>
            <a:endParaRPr sz="1300">
              <a:latin typeface="Avenir Next Pr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79705" y="3822690"/>
            <a:ext cx="463550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100"/>
              </a:spcBef>
            </a:pPr>
            <a:r>
              <a:rPr sz="1200" spc="60">
                <a:solidFill>
                  <a:srgbClr val="FFFFFF"/>
                </a:solidFill>
                <a:latin typeface="Avenir Next Pro"/>
              </a:rPr>
              <a:t>{{s07.nombre5}}</a:t>
            </a:r>
            <a:endParaRPr sz="1200">
              <a:latin typeface="Avenir Next Pr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974905" y="3423911"/>
            <a:ext cx="5297805" cy="1587500"/>
          </a:xfrm>
          <a:custGeom>
            <a:avLst/>
            <a:gdLst/>
            <a:ahLst/>
            <a:cxnLst/>
            <a:rect l="l" t="t" r="r" b="b"/>
            <a:pathLst>
              <a:path w="5297805" h="1587500">
                <a:moveTo>
                  <a:pt x="37172" y="37172"/>
                </a:moveTo>
                <a:lnTo>
                  <a:pt x="55964" y="21672"/>
                </a:lnTo>
                <a:lnTo>
                  <a:pt x="77538" y="9971"/>
                </a:lnTo>
                <a:lnTo>
                  <a:pt x="101386" y="2577"/>
                </a:lnTo>
                <a:lnTo>
                  <a:pt x="127000" y="0"/>
                </a:lnTo>
                <a:lnTo>
                  <a:pt x="5170360" y="0"/>
                </a:lnTo>
                <a:lnTo>
                  <a:pt x="5195974" y="2577"/>
                </a:lnTo>
                <a:lnTo>
                  <a:pt x="5219822" y="9971"/>
                </a:lnTo>
                <a:lnTo>
                  <a:pt x="5241396" y="21672"/>
                </a:lnTo>
                <a:lnTo>
                  <a:pt x="5260187" y="37172"/>
                </a:lnTo>
              </a:path>
              <a:path w="5297805" h="1587500">
                <a:moveTo>
                  <a:pt x="37172" y="1550327"/>
                </a:moveTo>
                <a:lnTo>
                  <a:pt x="55964" y="1565827"/>
                </a:lnTo>
                <a:lnTo>
                  <a:pt x="77538" y="1577528"/>
                </a:lnTo>
                <a:lnTo>
                  <a:pt x="101386" y="1584922"/>
                </a:lnTo>
                <a:lnTo>
                  <a:pt x="127000" y="1587500"/>
                </a:lnTo>
                <a:lnTo>
                  <a:pt x="5170360" y="1587500"/>
                </a:lnTo>
                <a:lnTo>
                  <a:pt x="5195974" y="1584922"/>
                </a:lnTo>
                <a:lnTo>
                  <a:pt x="5219822" y="1577528"/>
                </a:lnTo>
                <a:lnTo>
                  <a:pt x="5241396" y="1565827"/>
                </a:lnTo>
                <a:lnTo>
                  <a:pt x="5260187" y="1550327"/>
                </a:lnTo>
              </a:path>
              <a:path w="5297805" h="1587500">
                <a:moveTo>
                  <a:pt x="37172" y="1550327"/>
                </a:moveTo>
                <a:lnTo>
                  <a:pt x="21672" y="1531535"/>
                </a:lnTo>
                <a:lnTo>
                  <a:pt x="9971" y="1509961"/>
                </a:lnTo>
                <a:lnTo>
                  <a:pt x="2577" y="1486113"/>
                </a:lnTo>
                <a:lnTo>
                  <a:pt x="0" y="1460500"/>
                </a:lnTo>
                <a:lnTo>
                  <a:pt x="0" y="127000"/>
                </a:lnTo>
                <a:lnTo>
                  <a:pt x="2577" y="101386"/>
                </a:lnTo>
                <a:lnTo>
                  <a:pt x="9971" y="77538"/>
                </a:lnTo>
                <a:lnTo>
                  <a:pt x="21672" y="55964"/>
                </a:lnTo>
                <a:lnTo>
                  <a:pt x="37172" y="37172"/>
                </a:lnTo>
              </a:path>
              <a:path w="5297805" h="1587500">
                <a:moveTo>
                  <a:pt x="5260187" y="1550327"/>
                </a:moveTo>
                <a:lnTo>
                  <a:pt x="5275688" y="1531535"/>
                </a:lnTo>
                <a:lnTo>
                  <a:pt x="5287389" y="1509961"/>
                </a:lnTo>
                <a:lnTo>
                  <a:pt x="5294782" y="1486113"/>
                </a:lnTo>
                <a:lnTo>
                  <a:pt x="5297360" y="1460500"/>
                </a:lnTo>
                <a:lnTo>
                  <a:pt x="5297360" y="127000"/>
                </a:lnTo>
                <a:lnTo>
                  <a:pt x="5294782" y="101386"/>
                </a:lnTo>
                <a:lnTo>
                  <a:pt x="5287389" y="77538"/>
                </a:lnTo>
                <a:lnTo>
                  <a:pt x="5275688" y="55964"/>
                </a:lnTo>
                <a:lnTo>
                  <a:pt x="5260187" y="37172"/>
                </a:lnTo>
              </a:path>
            </a:pathLst>
          </a:custGeom>
          <a:ln w="25400">
            <a:solidFill>
              <a:srgbClr val="D4FF82"/>
            </a:solidFill>
          </a:ln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8637" y="5613400"/>
            <a:ext cx="1079999" cy="62790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70521" y="5946019"/>
            <a:ext cx="43160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solidFill>
                  <a:srgbClr val="F2F4ED"/>
                </a:solidFill>
                <a:latin typeface="Avenir Next Pro"/>
              </a:rPr>
              <a:t>Referencia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basada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en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fees</a:t>
            </a:r>
            <a:r>
              <a:rPr sz="1100" spc="45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publicados.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No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incluye</a:t>
            </a:r>
            <a:r>
              <a:rPr sz="1100" spc="45">
                <a:solidFill>
                  <a:srgbClr val="F2F4ED"/>
                </a:solidFill>
                <a:latin typeface="Avenir Next Pro"/>
              </a:rPr>
              <a:t> </a:t>
            </a:r>
            <a:r>
              <a:rPr sz="1100">
                <a:solidFill>
                  <a:srgbClr val="F2F4ED"/>
                </a:solidFill>
                <a:latin typeface="Avenir Next Pro"/>
              </a:rPr>
              <a:t>costos</a:t>
            </a:r>
            <a:r>
              <a:rPr sz="1100" spc="40">
                <a:solidFill>
                  <a:srgbClr val="F2F4ED"/>
                </a:solidFill>
                <a:latin typeface="Avenir Next Pro"/>
              </a:rPr>
              <a:t> </a:t>
            </a:r>
            <a:r>
              <a:rPr sz="1100" spc="-10">
                <a:solidFill>
                  <a:srgbClr val="F2F4ED"/>
                </a:solidFill>
                <a:latin typeface="Avenir Next Pro"/>
              </a:rPr>
              <a:t>implícitos.</a:t>
            </a:r>
            <a:endParaRPr sz="1100">
              <a:latin typeface="Avenir Next Pro"/>
            </a:endParaRPr>
          </a:p>
        </p:txBody>
      </p:sp>
      <p:sp>
        <p:nvSpPr>
          <p:cNvPr id="39" name="object 4" descr="$PPTXTitle">
            <a:extLst>
              <a:ext uri="{FF2B5EF4-FFF2-40B4-BE49-F238E27FC236}">
                <a16:creationId xmlns:a16="http://schemas.microsoft.com/office/drawing/2014/main" id="{93267F0E-FDD4-7703-E839-DE0F46173C83}"/>
              </a:ext>
            </a:extLst>
          </p:cNvPr>
          <p:cNvSpPr txBox="1">
            <a:spLocks/>
          </p:cNvSpPr>
          <p:nvPr/>
        </p:nvSpPr>
        <p:spPr>
          <a:xfrm>
            <a:off x="818943" y="429509"/>
            <a:ext cx="6634480" cy="83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600" b="0" i="0">
                <a:solidFill>
                  <a:srgbClr val="38561C"/>
                </a:solidFill>
                <a:latin typeface="Avenir Next Pro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PE">
                <a:solidFill>
                  <a:srgbClr val="C3ED74"/>
                </a:solidFill>
                <a:latin typeface="Avenir Next Pro"/>
              </a:rPr>
              <a:t>¿Cuánto</a:t>
            </a:r>
            <a:r>
              <a:rPr lang="es-PE" spc="-80">
                <a:solidFill>
                  <a:srgbClr val="C3ED74"/>
                </a:solidFill>
                <a:latin typeface="Avenir Next Pro"/>
              </a:rPr>
              <a:t> </a:t>
            </a:r>
            <a:r>
              <a:rPr lang="es-PE" spc="-45">
                <a:solidFill>
                  <a:srgbClr val="C3ED74"/>
                </a:solidFill>
                <a:latin typeface="Avenir Next Pro"/>
              </a:rPr>
              <a:t>estás</a:t>
            </a:r>
            <a:r>
              <a:rPr lang="es-PE" spc="-80">
                <a:solidFill>
                  <a:srgbClr val="C3ED74"/>
                </a:solidFill>
                <a:latin typeface="Avenir Next Pro"/>
              </a:rPr>
              <a:t> </a:t>
            </a:r>
            <a:r>
              <a:rPr lang="es-PE" spc="85">
                <a:solidFill>
                  <a:srgbClr val="FFFFFF"/>
                </a:solidFill>
                <a:latin typeface="Avenir Next Pro"/>
              </a:rPr>
              <a:t>pagando</a:t>
            </a:r>
            <a:r>
              <a:rPr lang="es-PE" spc="-80">
                <a:solidFill>
                  <a:srgbClr val="FFFFFF"/>
                </a:solidFill>
                <a:latin typeface="Avenir Next Pro"/>
              </a:rPr>
              <a:t> </a:t>
            </a:r>
            <a:r>
              <a:rPr lang="es-PE" spc="55">
                <a:solidFill>
                  <a:srgbClr val="FFFFFF"/>
                </a:solidFill>
                <a:latin typeface="Avenir Next Pro"/>
              </a:rPr>
              <a:t>hoy</a:t>
            </a:r>
            <a:r>
              <a:rPr lang="es-PE" spc="-80">
                <a:solidFill>
                  <a:srgbClr val="FFFFFF"/>
                </a:solidFill>
                <a:latin typeface="Avenir Next Pro"/>
              </a:rPr>
              <a:t> </a:t>
            </a:r>
            <a:r>
              <a:rPr lang="es-PE">
                <a:solidFill>
                  <a:srgbClr val="FFFFFF"/>
                </a:solidFill>
                <a:latin typeface="Avenir Next Pro"/>
              </a:rPr>
              <a:t>en</a:t>
            </a:r>
            <a:r>
              <a:rPr lang="es-PE" spc="-75">
                <a:solidFill>
                  <a:srgbClr val="FFFFFF"/>
                </a:solidFill>
                <a:latin typeface="Avenir Next Pro"/>
              </a:rPr>
              <a:t> </a:t>
            </a:r>
            <a:r>
              <a:rPr lang="es-PE" spc="-10">
                <a:solidFill>
                  <a:srgbClr val="FFFFFF"/>
                </a:solidFill>
                <a:latin typeface="Avenir Next Pro"/>
              </a:rPr>
              <a:t>comisiones?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Focos</a:t>
            </a:r>
            <a:r>
              <a:rPr spc="-75">
                <a:latin typeface="Avenir Next Pro"/>
              </a:rPr>
              <a:t> </a:t>
            </a:r>
            <a:r>
              <a:rPr spc="114">
                <a:latin typeface="Avenir Next Pro"/>
              </a:rPr>
              <a:t>de</a:t>
            </a:r>
            <a:r>
              <a:rPr spc="-75">
                <a:latin typeface="Avenir Next Pro"/>
              </a:rPr>
              <a:t> </a:t>
            </a:r>
            <a:r>
              <a:rPr spc="55">
                <a:latin typeface="Avenir Next Pro"/>
              </a:rPr>
              <a:t>mejora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638300"/>
            <a:ext cx="10352405" cy="1206500"/>
          </a:xfrm>
          <a:custGeom>
            <a:avLst/>
            <a:gdLst/>
            <a:ahLst/>
            <a:cxnLst/>
            <a:rect l="l" t="t" r="r" b="b"/>
            <a:pathLst>
              <a:path w="10352405" h="1206500">
                <a:moveTo>
                  <a:pt x="10161905" y="0"/>
                </a:moveTo>
                <a:lnTo>
                  <a:pt x="190500" y="0"/>
                </a:lnTo>
                <a:lnTo>
                  <a:pt x="146789" y="5026"/>
                </a:lnTo>
                <a:lnTo>
                  <a:pt x="106680" y="19345"/>
                </a:lnTo>
                <a:lnTo>
                  <a:pt x="71310" y="41819"/>
                </a:lnTo>
                <a:lnTo>
                  <a:pt x="41819" y="71310"/>
                </a:lnTo>
                <a:lnTo>
                  <a:pt x="19345" y="106679"/>
                </a:lnTo>
                <a:lnTo>
                  <a:pt x="5026" y="146789"/>
                </a:lnTo>
                <a:lnTo>
                  <a:pt x="0" y="190500"/>
                </a:lnTo>
                <a:lnTo>
                  <a:pt x="0" y="1016000"/>
                </a:lnTo>
                <a:lnTo>
                  <a:pt x="5026" y="1059710"/>
                </a:lnTo>
                <a:lnTo>
                  <a:pt x="19345" y="1099820"/>
                </a:lnTo>
                <a:lnTo>
                  <a:pt x="41819" y="1135189"/>
                </a:lnTo>
                <a:lnTo>
                  <a:pt x="71310" y="1164680"/>
                </a:lnTo>
                <a:lnTo>
                  <a:pt x="106680" y="1187154"/>
                </a:lnTo>
                <a:lnTo>
                  <a:pt x="146789" y="1201473"/>
                </a:lnTo>
                <a:lnTo>
                  <a:pt x="190500" y="1206500"/>
                </a:lnTo>
                <a:lnTo>
                  <a:pt x="10161905" y="1206500"/>
                </a:lnTo>
                <a:lnTo>
                  <a:pt x="10205615" y="1201473"/>
                </a:lnTo>
                <a:lnTo>
                  <a:pt x="10245725" y="1187154"/>
                </a:lnTo>
                <a:lnTo>
                  <a:pt x="10281094" y="1164680"/>
                </a:lnTo>
                <a:lnTo>
                  <a:pt x="10310585" y="1135189"/>
                </a:lnTo>
                <a:lnTo>
                  <a:pt x="10333059" y="1099820"/>
                </a:lnTo>
                <a:lnTo>
                  <a:pt x="10347378" y="1059710"/>
                </a:lnTo>
                <a:lnTo>
                  <a:pt x="10352405" y="1016000"/>
                </a:lnTo>
                <a:lnTo>
                  <a:pt x="10352405" y="190500"/>
                </a:lnTo>
                <a:lnTo>
                  <a:pt x="10347378" y="146789"/>
                </a:lnTo>
                <a:lnTo>
                  <a:pt x="10333059" y="106679"/>
                </a:lnTo>
                <a:lnTo>
                  <a:pt x="10310585" y="71310"/>
                </a:lnTo>
                <a:lnTo>
                  <a:pt x="10281094" y="41819"/>
                </a:lnTo>
                <a:lnTo>
                  <a:pt x="10245725" y="19345"/>
                </a:lnTo>
                <a:lnTo>
                  <a:pt x="10205615" y="5026"/>
                </a:lnTo>
                <a:lnTo>
                  <a:pt x="10161905" y="0"/>
                </a:lnTo>
                <a:close/>
              </a:path>
            </a:pathLst>
          </a:custGeom>
          <a:solidFill>
            <a:srgbClr val="C3ED74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1866900"/>
            <a:ext cx="673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70">
                <a:solidFill>
                  <a:srgbClr val="38561C"/>
                </a:solidFill>
                <a:latin typeface="Avenir Next Pro"/>
              </a:rPr>
              <a:t>01</a:t>
            </a:r>
            <a:endParaRPr sz="4400">
              <a:latin typeface="Avenir Next Pr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044" y="1981200"/>
            <a:ext cx="1916430" cy="4978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60"/>
              </a:spcBef>
            </a:pPr>
            <a:r>
              <a:rPr sz="1600" b="1" spc="-55">
                <a:solidFill>
                  <a:srgbClr val="38561C"/>
                </a:solidFill>
                <a:latin typeface="Avenir Next Pro"/>
              </a:rPr>
              <a:t>{{s08.nombre}}</a:t>
            </a:r>
            <a:endParaRPr sz="1600">
              <a:latin typeface="Avenir Next Pr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6403" y="2005329"/>
            <a:ext cx="5598795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200" spc="10">
                <a:solidFill>
                  <a:srgbClr val="38561C"/>
                </a:solidFill>
                <a:latin typeface="Avenir Next Pro"/>
              </a:rPr>
              <a:t>{{s08.pct}}</a:t>
            </a:r>
            <a:endParaRPr sz="1200">
              <a:latin typeface="Avenir Next Pr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2946400"/>
            <a:ext cx="10352405" cy="1206500"/>
          </a:xfrm>
          <a:custGeom>
            <a:avLst/>
            <a:gdLst/>
            <a:ahLst/>
            <a:cxnLst/>
            <a:rect l="l" t="t" r="r" b="b"/>
            <a:pathLst>
              <a:path w="10352405" h="1206500">
                <a:moveTo>
                  <a:pt x="10161905" y="0"/>
                </a:moveTo>
                <a:lnTo>
                  <a:pt x="190500" y="0"/>
                </a:lnTo>
                <a:lnTo>
                  <a:pt x="146789" y="5026"/>
                </a:lnTo>
                <a:lnTo>
                  <a:pt x="106680" y="19345"/>
                </a:lnTo>
                <a:lnTo>
                  <a:pt x="71310" y="41819"/>
                </a:lnTo>
                <a:lnTo>
                  <a:pt x="41819" y="71310"/>
                </a:lnTo>
                <a:lnTo>
                  <a:pt x="19345" y="106679"/>
                </a:lnTo>
                <a:lnTo>
                  <a:pt x="5026" y="146789"/>
                </a:lnTo>
                <a:lnTo>
                  <a:pt x="0" y="190500"/>
                </a:lnTo>
                <a:lnTo>
                  <a:pt x="0" y="1016000"/>
                </a:lnTo>
                <a:lnTo>
                  <a:pt x="5026" y="1059710"/>
                </a:lnTo>
                <a:lnTo>
                  <a:pt x="19345" y="1099820"/>
                </a:lnTo>
                <a:lnTo>
                  <a:pt x="41819" y="1135189"/>
                </a:lnTo>
                <a:lnTo>
                  <a:pt x="71310" y="1164680"/>
                </a:lnTo>
                <a:lnTo>
                  <a:pt x="106680" y="1187154"/>
                </a:lnTo>
                <a:lnTo>
                  <a:pt x="146789" y="1201473"/>
                </a:lnTo>
                <a:lnTo>
                  <a:pt x="190500" y="1206500"/>
                </a:lnTo>
                <a:lnTo>
                  <a:pt x="10161905" y="1206500"/>
                </a:lnTo>
                <a:lnTo>
                  <a:pt x="10205615" y="1201473"/>
                </a:lnTo>
                <a:lnTo>
                  <a:pt x="10245725" y="1187154"/>
                </a:lnTo>
                <a:lnTo>
                  <a:pt x="10281094" y="1164680"/>
                </a:lnTo>
                <a:lnTo>
                  <a:pt x="10310585" y="1135189"/>
                </a:lnTo>
                <a:lnTo>
                  <a:pt x="10333059" y="1099820"/>
                </a:lnTo>
                <a:lnTo>
                  <a:pt x="10347378" y="1059710"/>
                </a:lnTo>
                <a:lnTo>
                  <a:pt x="10352405" y="1016000"/>
                </a:lnTo>
                <a:lnTo>
                  <a:pt x="10352405" y="190500"/>
                </a:lnTo>
                <a:lnTo>
                  <a:pt x="10347378" y="146789"/>
                </a:lnTo>
                <a:lnTo>
                  <a:pt x="10333059" y="106679"/>
                </a:lnTo>
                <a:lnTo>
                  <a:pt x="10310585" y="71310"/>
                </a:lnTo>
                <a:lnTo>
                  <a:pt x="10281094" y="41819"/>
                </a:lnTo>
                <a:lnTo>
                  <a:pt x="10245725" y="19345"/>
                </a:lnTo>
                <a:lnTo>
                  <a:pt x="10205615" y="5026"/>
                </a:lnTo>
                <a:lnTo>
                  <a:pt x="10161905" y="0"/>
                </a:lnTo>
                <a:close/>
              </a:path>
            </a:pathLst>
          </a:custGeom>
          <a:solidFill>
            <a:srgbClr val="265216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4767" y="3175000"/>
            <a:ext cx="673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70">
                <a:solidFill>
                  <a:srgbClr val="C3ED74"/>
                </a:solidFill>
                <a:latin typeface="Avenir Next Pro"/>
              </a:rPr>
              <a:t>02</a:t>
            </a:r>
            <a:endParaRPr sz="4400">
              <a:latin typeface="Avenir Next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6044" y="3289300"/>
            <a:ext cx="1667510" cy="4978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60"/>
              </a:spcBef>
            </a:pPr>
            <a:r>
              <a:rPr sz="1600" b="1" spc="-35">
                <a:solidFill>
                  <a:srgbClr val="FFFFFF"/>
                </a:solidFill>
                <a:latin typeface="Avenir Next Pro"/>
              </a:rPr>
              <a:t>{{s08.nombre2}}</a:t>
            </a:r>
            <a:endParaRPr sz="1600">
              <a:latin typeface="Avenir Next Pr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6403" y="3313429"/>
            <a:ext cx="605282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200">
                <a:solidFill>
                  <a:srgbClr val="FFFFFF"/>
                </a:solidFill>
                <a:latin typeface="Avenir Next Pro"/>
              </a:rPr>
              <a:t>{{s08.monto}}</a:t>
            </a:r>
            <a:endParaRPr sz="1200">
              <a:latin typeface="Avenir Next Pr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4254500"/>
            <a:ext cx="10352405" cy="1206500"/>
          </a:xfrm>
          <a:custGeom>
            <a:avLst/>
            <a:gdLst/>
            <a:ahLst/>
            <a:cxnLst/>
            <a:rect l="l" t="t" r="r" b="b"/>
            <a:pathLst>
              <a:path w="10352405" h="1206500">
                <a:moveTo>
                  <a:pt x="10161905" y="0"/>
                </a:moveTo>
                <a:lnTo>
                  <a:pt x="190500" y="0"/>
                </a:lnTo>
                <a:lnTo>
                  <a:pt x="146789" y="5026"/>
                </a:lnTo>
                <a:lnTo>
                  <a:pt x="106680" y="19345"/>
                </a:lnTo>
                <a:lnTo>
                  <a:pt x="71310" y="41819"/>
                </a:lnTo>
                <a:lnTo>
                  <a:pt x="41819" y="71310"/>
                </a:lnTo>
                <a:lnTo>
                  <a:pt x="19345" y="106680"/>
                </a:lnTo>
                <a:lnTo>
                  <a:pt x="5026" y="146789"/>
                </a:lnTo>
                <a:lnTo>
                  <a:pt x="0" y="190500"/>
                </a:lnTo>
                <a:lnTo>
                  <a:pt x="0" y="1016000"/>
                </a:lnTo>
                <a:lnTo>
                  <a:pt x="5026" y="1059710"/>
                </a:lnTo>
                <a:lnTo>
                  <a:pt x="19345" y="1099820"/>
                </a:lnTo>
                <a:lnTo>
                  <a:pt x="41819" y="1135189"/>
                </a:lnTo>
                <a:lnTo>
                  <a:pt x="71310" y="1164680"/>
                </a:lnTo>
                <a:lnTo>
                  <a:pt x="106680" y="1187154"/>
                </a:lnTo>
                <a:lnTo>
                  <a:pt x="146789" y="1201473"/>
                </a:lnTo>
                <a:lnTo>
                  <a:pt x="190500" y="1206500"/>
                </a:lnTo>
                <a:lnTo>
                  <a:pt x="10161905" y="1206500"/>
                </a:lnTo>
                <a:lnTo>
                  <a:pt x="10205615" y="1201473"/>
                </a:lnTo>
                <a:lnTo>
                  <a:pt x="10245725" y="1187154"/>
                </a:lnTo>
                <a:lnTo>
                  <a:pt x="10281094" y="1164680"/>
                </a:lnTo>
                <a:lnTo>
                  <a:pt x="10310585" y="1135189"/>
                </a:lnTo>
                <a:lnTo>
                  <a:pt x="10333059" y="1099820"/>
                </a:lnTo>
                <a:lnTo>
                  <a:pt x="10347378" y="1059710"/>
                </a:lnTo>
                <a:lnTo>
                  <a:pt x="10352405" y="1016000"/>
                </a:lnTo>
                <a:lnTo>
                  <a:pt x="10352405" y="190500"/>
                </a:lnTo>
                <a:lnTo>
                  <a:pt x="10347378" y="146789"/>
                </a:lnTo>
                <a:lnTo>
                  <a:pt x="10333059" y="106680"/>
                </a:lnTo>
                <a:lnTo>
                  <a:pt x="10310585" y="71310"/>
                </a:lnTo>
                <a:lnTo>
                  <a:pt x="10281094" y="41819"/>
                </a:lnTo>
                <a:lnTo>
                  <a:pt x="10245725" y="19345"/>
                </a:lnTo>
                <a:lnTo>
                  <a:pt x="10205615" y="5026"/>
                </a:lnTo>
                <a:lnTo>
                  <a:pt x="10161905" y="0"/>
                </a:lnTo>
                <a:close/>
              </a:path>
            </a:pathLst>
          </a:custGeom>
          <a:solidFill>
            <a:srgbClr val="243A1A"/>
          </a:solidFill>
        </p:spPr>
        <p:txBody>
          <a:bodyPr wrap="square" lIns="0" tIns="0" rIns="0" bIns="0" rtlCol="0"/>
          <a:lstStyle/>
          <a:p>
            <a:endParaRPr>
              <a:latin typeface="Avenir Next Pr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4767" y="4483100"/>
            <a:ext cx="6737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70">
                <a:solidFill>
                  <a:srgbClr val="C3ED74"/>
                </a:solidFill>
                <a:latin typeface="Avenir Next Pro"/>
              </a:rPr>
              <a:t>03</a:t>
            </a:r>
            <a:endParaRPr sz="4400">
              <a:latin typeface="Avenir Next Pr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6044" y="4609584"/>
            <a:ext cx="2461828" cy="495006"/>
          </a:xfrm>
          <a:prstGeom prst="rect">
            <a:avLst/>
          </a:prstGeom>
        </p:spPr>
        <p:txBody>
          <a:bodyPr vert="horz" wrap="square" lIns="0" tIns="33019" rIns="0" bIns="0" rtlCol="0" anchor="t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9"/>
              </a:spcBef>
            </a:pPr>
            <a:r>
              <a:rPr lang="es-ES" sz="1600" b="1" spc="-20">
                <a:solidFill>
                  <a:srgbClr val="FFFFFF"/>
                </a:solidFill>
                <a:latin typeface="Avenir Next Pro"/>
              </a:rPr>
              <a:t>{{s08.nombre3}}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56403" y="4565015"/>
            <a:ext cx="6245860" cy="61164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lang="es-ES" sz="1200">
                <a:solidFill>
                  <a:srgbClr val="FFFFFF"/>
                </a:solidFill>
                <a:latin typeface="Avenir Next Pro"/>
              </a:rPr>
              <a:t>{{s08.nombre4}}</a:t>
            </a: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1300" y="5626004"/>
            <a:ext cx="1079999" cy="66049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8A55FC-598E-D5C5-817E-D69A6ECB3557}"/>
              </a:ext>
            </a:extLst>
          </p:cNvPr>
          <p:cNvSpPr txBox="1"/>
          <p:nvPr/>
        </p:nvSpPr>
        <p:spPr>
          <a:xfrm>
            <a:off x="942722" y="805650"/>
            <a:ext cx="10861927" cy="503771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2696">
                <a:solidFill>
                  <a:schemeClr val="bg1"/>
                </a:solidFill>
                <a:latin typeface="Avenir Next Pro"/>
              </a:rPr>
              <a:t>{{s09.pct}}</a:t>
            </a:r>
            <a:endParaRPr lang="es-ES">
              <a:latin typeface="Avenir Next 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CF3DC-F25E-4466-9220-53892EB58656}"/>
              </a:ext>
            </a:extLst>
          </p:cNvPr>
          <p:cNvSpPr txBox="1"/>
          <p:nvPr/>
        </p:nvSpPr>
        <p:spPr>
          <a:xfrm>
            <a:off x="942723" y="1348919"/>
            <a:ext cx="5270057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chemeClr val="bg1"/>
                </a:solidFill>
                <a:latin typeface="Avenir Next Pro"/>
              </a:rPr>
              <a:t>Sin vender lo que funciona. Sin cambios drásticos.</a:t>
            </a:r>
            <a:endParaRPr lang="es-ES_tradnl" sz="1541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6FCFBA-7ABB-DDB4-2A36-2D8D8E922E4B}"/>
              </a:ext>
            </a:extLst>
          </p:cNvPr>
          <p:cNvSpPr/>
          <p:nvPr/>
        </p:nvSpPr>
        <p:spPr>
          <a:xfrm>
            <a:off x="942723" y="1918774"/>
            <a:ext cx="4757510" cy="3062153"/>
          </a:xfrm>
          <a:prstGeom prst="roundRect">
            <a:avLst>
              <a:gd name="adj" fmla="val 6796"/>
            </a:avLst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E39EA3-2DB3-95F3-D002-7CBD16A17E6E}"/>
              </a:ext>
            </a:extLst>
          </p:cNvPr>
          <p:cNvSpPr/>
          <p:nvPr/>
        </p:nvSpPr>
        <p:spPr>
          <a:xfrm>
            <a:off x="5988893" y="1918774"/>
            <a:ext cx="4941501" cy="3062153"/>
          </a:xfrm>
          <a:prstGeom prst="roundRect">
            <a:avLst>
              <a:gd name="adj" fmla="val 6796"/>
            </a:avLst>
          </a:prstGeom>
          <a:solidFill>
            <a:srgbClr val="2D4417"/>
          </a:solidFill>
          <a:ln>
            <a:solidFill>
              <a:srgbClr val="D5FF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8CF8F-1228-9FF0-85EE-B8A440CD40BA}"/>
              </a:ext>
            </a:extLst>
          </p:cNvPr>
          <p:cNvSpPr txBox="1"/>
          <p:nvPr/>
        </p:nvSpPr>
        <p:spPr>
          <a:xfrm>
            <a:off x="1248907" y="2157932"/>
            <a:ext cx="420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>
                <a:solidFill>
                  <a:schemeClr val="bg1"/>
                </a:solidFill>
                <a:latin typeface="Avenir Next Pro"/>
              </a:rPr>
              <a:t>Hoy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CC63F-A314-C7FF-C503-62B97AEA358B}"/>
              </a:ext>
            </a:extLst>
          </p:cNvPr>
          <p:cNvSpPr txBox="1"/>
          <p:nvPr/>
        </p:nvSpPr>
        <p:spPr>
          <a:xfrm>
            <a:off x="6111552" y="2157932"/>
            <a:ext cx="463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>
                <a:solidFill>
                  <a:srgbClr val="D5FF83"/>
                </a:solidFill>
                <a:latin typeface="Avenir Next Pro"/>
              </a:rPr>
              <a:t>Con el plan</a:t>
            </a:r>
          </a:p>
        </p:txBody>
      </p:sp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C2BE8303-EB95-FF55-57E2-9F1080869E81}"/>
              </a:ext>
            </a:extLst>
          </p:cNvPr>
          <p:cNvSpPr/>
          <p:nvPr/>
        </p:nvSpPr>
        <p:spPr>
          <a:xfrm>
            <a:off x="2230198" y="2712749"/>
            <a:ext cx="2194763" cy="1347651"/>
          </a:xfrm>
          <a:prstGeom prst="round2Same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ECF211DD-1374-2534-4A85-47A2B444C4AA}"/>
              </a:ext>
            </a:extLst>
          </p:cNvPr>
          <p:cNvSpPr/>
          <p:nvPr/>
        </p:nvSpPr>
        <p:spPr>
          <a:xfrm>
            <a:off x="1494230" y="3193575"/>
            <a:ext cx="630830" cy="866824"/>
          </a:xfrm>
          <a:prstGeom prst="round2SameRect">
            <a:avLst/>
          </a:prstGeom>
          <a:solidFill>
            <a:srgbClr val="2D4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0CB76A2D-92B6-32D4-2796-23AD5C9900FF}"/>
              </a:ext>
            </a:extLst>
          </p:cNvPr>
          <p:cNvSpPr/>
          <p:nvPr/>
        </p:nvSpPr>
        <p:spPr>
          <a:xfrm>
            <a:off x="4543241" y="3193575"/>
            <a:ext cx="630830" cy="866824"/>
          </a:xfrm>
          <a:prstGeom prst="round2SameRect">
            <a:avLst/>
          </a:prstGeom>
          <a:solidFill>
            <a:srgbClr val="2D4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CCBED-D82A-8E66-38AA-B2C9BF1CCAA3}"/>
              </a:ext>
            </a:extLst>
          </p:cNvPr>
          <p:cNvSpPr txBox="1"/>
          <p:nvPr/>
        </p:nvSpPr>
        <p:spPr>
          <a:xfrm>
            <a:off x="1248907" y="4286983"/>
            <a:ext cx="4201152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ctr"/>
            <a:r>
              <a:rPr lang="es-ES_tradnl">
                <a:solidFill>
                  <a:schemeClr val="bg1"/>
                </a:solidFill>
                <a:latin typeface="Avenir Next Pro"/>
              </a:rPr>
              <a:t>{{s09.nombre}}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892C5A-F516-F8C9-4096-F72C54821289}"/>
              </a:ext>
            </a:extLst>
          </p:cNvPr>
          <p:cNvSpPr txBox="1"/>
          <p:nvPr/>
        </p:nvSpPr>
        <p:spPr>
          <a:xfrm>
            <a:off x="2084517" y="3183446"/>
            <a:ext cx="2518940" cy="385291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ctr"/>
            <a:r>
              <a:rPr lang="es-ES_tradnl" sz="1926">
                <a:solidFill>
                  <a:srgbClr val="15210B"/>
                </a:solidFill>
                <a:latin typeface="Avenir Next Pro"/>
              </a:rPr>
              <a:t>{{s09.pct2}}</a:t>
            </a:r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40221E7E-4051-43DA-E8AB-EE5C2EB50E20}"/>
              </a:ext>
            </a:extLst>
          </p:cNvPr>
          <p:cNvSpPr/>
          <p:nvPr/>
        </p:nvSpPr>
        <p:spPr>
          <a:xfrm>
            <a:off x="7620726" y="3193575"/>
            <a:ext cx="1787352" cy="866825"/>
          </a:xfrm>
          <a:prstGeom prst="round2SameRect">
            <a:avLst/>
          </a:prstGeom>
          <a:solidFill>
            <a:srgbClr val="D5F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73DB3C1C-D183-B68D-5D71-80553E75C26D}"/>
              </a:ext>
            </a:extLst>
          </p:cNvPr>
          <p:cNvSpPr/>
          <p:nvPr/>
        </p:nvSpPr>
        <p:spPr>
          <a:xfrm>
            <a:off x="6724861" y="3193575"/>
            <a:ext cx="808485" cy="866824"/>
          </a:xfrm>
          <a:prstGeom prst="round2SameRect">
            <a:avLst/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C3862D55-C9F0-11FF-8C58-E680BA213049}"/>
              </a:ext>
            </a:extLst>
          </p:cNvPr>
          <p:cNvSpPr/>
          <p:nvPr/>
        </p:nvSpPr>
        <p:spPr>
          <a:xfrm>
            <a:off x="9495460" y="3077076"/>
            <a:ext cx="909242" cy="983323"/>
          </a:xfrm>
          <a:prstGeom prst="round2SameRect">
            <a:avLst/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108BAD-4560-C3FB-034F-1D9F3190D6FF}"/>
              </a:ext>
            </a:extLst>
          </p:cNvPr>
          <p:cNvSpPr txBox="1"/>
          <p:nvPr/>
        </p:nvSpPr>
        <p:spPr>
          <a:xfrm>
            <a:off x="7285832" y="3471345"/>
            <a:ext cx="2518940" cy="385291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ctr"/>
            <a:r>
              <a:rPr lang="es-ES_tradnl" sz="1926">
                <a:solidFill>
                  <a:srgbClr val="15210B"/>
                </a:solidFill>
                <a:latin typeface="Avenir Next Pro"/>
              </a:rPr>
              <a:t>{{s09.pct3}}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95264-2E8A-7A26-9982-E951A3C3F1F4}"/>
              </a:ext>
            </a:extLst>
          </p:cNvPr>
          <p:cNvSpPr txBox="1"/>
          <p:nvPr/>
        </p:nvSpPr>
        <p:spPr>
          <a:xfrm>
            <a:off x="6111552" y="4300125"/>
            <a:ext cx="463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>
                <a:solidFill>
                  <a:srgbClr val="D5FF83"/>
                </a:solidFill>
                <a:latin typeface="Avenir Next Pro"/>
              </a:rPr>
              <a:t>{{s09.nombre2}}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79DC01F-E413-529F-2141-C79C3EA63B3F}"/>
              </a:ext>
            </a:extLst>
          </p:cNvPr>
          <p:cNvSpPr/>
          <p:nvPr/>
        </p:nvSpPr>
        <p:spPr>
          <a:xfrm>
            <a:off x="942724" y="5112351"/>
            <a:ext cx="2785695" cy="988274"/>
          </a:xfrm>
          <a:prstGeom prst="roundRect">
            <a:avLst>
              <a:gd name="adj" fmla="val 17435"/>
            </a:avLst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4BC29-0C4C-9694-A9AF-53C7927DD9F4}"/>
              </a:ext>
            </a:extLst>
          </p:cNvPr>
          <p:cNvSpPr txBox="1"/>
          <p:nvPr/>
        </p:nvSpPr>
        <p:spPr>
          <a:xfrm>
            <a:off x="1159686" y="5255082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{{s09.nombre3}}</a:t>
            </a:r>
            <a:endParaRPr lang="es-ES_tradnl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83ACF5-898C-091C-3F83-6FE452469C5C}"/>
              </a:ext>
            </a:extLst>
          </p:cNvPr>
          <p:cNvSpPr txBox="1"/>
          <p:nvPr/>
        </p:nvSpPr>
        <p:spPr>
          <a:xfrm>
            <a:off x="1159686" y="5607295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{{s09.delta}}</a:t>
            </a:r>
            <a:endParaRPr lang="es-ES_tradnl">
              <a:solidFill>
                <a:srgbClr val="D5FF83"/>
              </a:solidFill>
              <a:latin typeface="Avenir Next Pro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8615F17-47BF-08CF-7537-DEE32E6307A3}"/>
              </a:ext>
            </a:extLst>
          </p:cNvPr>
          <p:cNvSpPr/>
          <p:nvPr/>
        </p:nvSpPr>
        <p:spPr>
          <a:xfrm>
            <a:off x="3948278" y="5112351"/>
            <a:ext cx="2785695" cy="988274"/>
          </a:xfrm>
          <a:prstGeom prst="roundRect">
            <a:avLst>
              <a:gd name="adj" fmla="val 17435"/>
            </a:avLst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38FF1C-31D9-D518-F8CA-E831104A3598}"/>
              </a:ext>
            </a:extLst>
          </p:cNvPr>
          <p:cNvSpPr txBox="1"/>
          <p:nvPr/>
        </p:nvSpPr>
        <p:spPr>
          <a:xfrm>
            <a:off x="4165240" y="5255082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{{s09.nombre4}}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5B4699-422F-8FD0-D430-7585364F49BB}"/>
              </a:ext>
            </a:extLst>
          </p:cNvPr>
          <p:cNvSpPr txBox="1"/>
          <p:nvPr/>
        </p:nvSpPr>
        <p:spPr>
          <a:xfrm>
            <a:off x="4165240" y="5607295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{{s09.delta2}}</a:t>
            </a:r>
            <a:endParaRPr lang="es-ES_tradnl">
              <a:solidFill>
                <a:srgbClr val="D5FF83"/>
              </a:solidFill>
              <a:latin typeface="Avenir Next Pro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FFC672D-9EBA-E4F5-CC91-1D829202B3F4}"/>
              </a:ext>
            </a:extLst>
          </p:cNvPr>
          <p:cNvSpPr/>
          <p:nvPr/>
        </p:nvSpPr>
        <p:spPr>
          <a:xfrm>
            <a:off x="6930351" y="5112351"/>
            <a:ext cx="2785695" cy="988274"/>
          </a:xfrm>
          <a:prstGeom prst="roundRect">
            <a:avLst>
              <a:gd name="adj" fmla="val 17435"/>
            </a:avLst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DABB4F-2C2A-2E2B-8225-95A263A13181}"/>
              </a:ext>
            </a:extLst>
          </p:cNvPr>
          <p:cNvSpPr txBox="1"/>
          <p:nvPr/>
        </p:nvSpPr>
        <p:spPr>
          <a:xfrm>
            <a:off x="7147313" y="5255082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{{s09.nombre5}}</a:t>
            </a:r>
            <a:endParaRPr lang="es-ES_tradnl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F1E71-2385-2DB5-4E4F-95099D3703C2}"/>
              </a:ext>
            </a:extLst>
          </p:cNvPr>
          <p:cNvSpPr txBox="1"/>
          <p:nvPr/>
        </p:nvSpPr>
        <p:spPr>
          <a:xfrm>
            <a:off x="7147313" y="5607295"/>
            <a:ext cx="2351769" cy="365913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>
                <a:solidFill>
                  <a:schemeClr val="bg1"/>
                </a:solidFill>
                <a:latin typeface="Avenir Next Pro"/>
              </a:rPr>
              <a:t>{{s09.delta3}}</a:t>
            </a:r>
            <a:endParaRPr lang="es-ES_tradnl">
              <a:solidFill>
                <a:srgbClr val="D5FF83"/>
              </a:solidFill>
              <a:latin typeface="Avenir Next Pro"/>
            </a:endParaRPr>
          </a:p>
        </p:txBody>
      </p:sp>
    </p:spTree>
    <p:extLst>
      <p:ext uri="{BB962C8B-B14F-4D97-AF65-F5344CB8AC3E}">
        <p14:creationId xmlns:p14="http://schemas.microsoft.com/office/powerpoint/2010/main" val="225565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062E12-9F9E-6933-C2A2-F43BF1D1ABC7}"/>
              </a:ext>
            </a:extLst>
          </p:cNvPr>
          <p:cNvSpPr txBox="1"/>
          <p:nvPr/>
        </p:nvSpPr>
        <p:spPr>
          <a:xfrm>
            <a:off x="942724" y="805650"/>
            <a:ext cx="7756624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</a:rPr>
              <a:t>Tu plan: que mover, cuánto y a dónde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49DAE-3AEA-18D5-157A-FEEB88482AF7}"/>
              </a:ext>
            </a:extLst>
          </p:cNvPr>
          <p:cNvSpPr txBox="1"/>
          <p:nvPr/>
        </p:nvSpPr>
        <p:spPr>
          <a:xfrm>
            <a:off x="1059937" y="1482303"/>
            <a:ext cx="4656154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De dónde sale - {{s10.monto}}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2CB99B-66C2-C995-C0ED-A0896D423EC0}"/>
              </a:ext>
            </a:extLst>
          </p:cNvPr>
          <p:cNvSpPr/>
          <p:nvPr/>
        </p:nvSpPr>
        <p:spPr>
          <a:xfrm>
            <a:off x="1060133" y="1844040"/>
            <a:ext cx="4389120" cy="7429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007A7-4756-01A5-7D53-3EB789E98F71}"/>
              </a:ext>
            </a:extLst>
          </p:cNvPr>
          <p:cNvSpPr txBox="1"/>
          <p:nvPr/>
        </p:nvSpPr>
        <p:spPr>
          <a:xfrm>
            <a:off x="1180148" y="1901190"/>
            <a:ext cx="2719388" cy="36195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541">
                <a:solidFill>
                  <a:srgbClr val="2D4417"/>
                </a:solidFill>
                <a:latin typeface="Avenir Next Pro"/>
              </a:rPr>
              <a:t>{{s10.nombre}}</a:t>
            </a:r>
            <a:endParaRPr lang="es-ES">
              <a:latin typeface="Avenir Nex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F2148-E10E-7342-3279-691DDB828068}"/>
              </a:ext>
            </a:extLst>
          </p:cNvPr>
          <p:cNvSpPr txBox="1"/>
          <p:nvPr/>
        </p:nvSpPr>
        <p:spPr>
          <a:xfrm>
            <a:off x="1180148" y="2244090"/>
            <a:ext cx="3415665" cy="30480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156">
                <a:solidFill>
                  <a:srgbClr val="426421"/>
                </a:solidFill>
                <a:latin typeface="Avenir Next Pro"/>
              </a:rPr>
              <a:t>Liquidez por ingresar {{s10.conteo}}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188E2-58F7-9765-A076-7A4E99783363}"/>
              </a:ext>
            </a:extLst>
          </p:cNvPr>
          <p:cNvSpPr txBox="1"/>
          <p:nvPr/>
        </p:nvSpPr>
        <p:spPr>
          <a:xfrm>
            <a:off x="3994785" y="1986915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rgbClr val="2D4417"/>
                </a:solidFill>
                <a:latin typeface="Avenir Next Pro"/>
              </a:rPr>
              <a:t>{{s10.monto2}}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30D6D6-7EAA-DA1D-CF11-F94D952B56B9}"/>
              </a:ext>
            </a:extLst>
          </p:cNvPr>
          <p:cNvSpPr/>
          <p:nvPr/>
        </p:nvSpPr>
        <p:spPr>
          <a:xfrm>
            <a:off x="1060133" y="2663190"/>
            <a:ext cx="4389120" cy="10953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A27F91-6631-B33D-BEA3-FF1D18CC499A}"/>
              </a:ext>
            </a:extLst>
          </p:cNvPr>
          <p:cNvSpPr txBox="1"/>
          <p:nvPr/>
        </p:nvSpPr>
        <p:spPr>
          <a:xfrm>
            <a:off x="1180148" y="2720340"/>
            <a:ext cx="2719388" cy="36195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541">
                <a:solidFill>
                  <a:srgbClr val="2D4417"/>
                </a:solidFill>
                <a:latin typeface="Avenir Next Pro"/>
              </a:rPr>
              <a:t>{{s10.nombre2}}</a:t>
            </a:r>
            <a:endParaRPr lang="es-ES">
              <a:latin typeface="Avenir Next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0193E-262A-B4D7-86E8-450BEDF9EFBD}"/>
              </a:ext>
            </a:extLst>
          </p:cNvPr>
          <p:cNvSpPr txBox="1"/>
          <p:nvPr/>
        </p:nvSpPr>
        <p:spPr>
          <a:xfrm>
            <a:off x="1180148" y="3063240"/>
            <a:ext cx="3415665" cy="65722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156">
                <a:solidFill>
                  <a:srgbClr val="426421"/>
                </a:solidFill>
                <a:latin typeface="Avenir Next Pro"/>
              </a:rPr>
              <a:t>{{s10.monto3}}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CB6D7B-2C05-F26C-E75D-DE9BA9AA7954}"/>
              </a:ext>
            </a:extLst>
          </p:cNvPr>
          <p:cNvSpPr txBox="1"/>
          <p:nvPr/>
        </p:nvSpPr>
        <p:spPr>
          <a:xfrm>
            <a:off x="3994785" y="2806065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rgbClr val="2D4417"/>
                </a:solidFill>
                <a:latin typeface="Avenir Next Pro"/>
              </a:rPr>
              <a:t>{{s10.monto4}}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D227D58-6DD9-6B51-EEB6-61E3AD34A26D}"/>
              </a:ext>
            </a:extLst>
          </p:cNvPr>
          <p:cNvSpPr/>
          <p:nvPr/>
        </p:nvSpPr>
        <p:spPr>
          <a:xfrm>
            <a:off x="1060133" y="3834765"/>
            <a:ext cx="4389120" cy="9239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89851-A923-E7E6-E770-E2746849DA32}"/>
              </a:ext>
            </a:extLst>
          </p:cNvPr>
          <p:cNvSpPr txBox="1"/>
          <p:nvPr/>
        </p:nvSpPr>
        <p:spPr>
          <a:xfrm>
            <a:off x="1180148" y="3891915"/>
            <a:ext cx="2719388" cy="36195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541">
                <a:solidFill>
                  <a:srgbClr val="2D4417"/>
                </a:solidFill>
                <a:latin typeface="Avenir Next Pro"/>
              </a:rPr>
              <a:t>{{s10.nombre3}}</a:t>
            </a:r>
            <a:endParaRPr lang="es-ES">
              <a:latin typeface="Avenir Nex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C1FAD-E597-92FA-8916-E8195692FA21}"/>
              </a:ext>
            </a:extLst>
          </p:cNvPr>
          <p:cNvSpPr txBox="1"/>
          <p:nvPr/>
        </p:nvSpPr>
        <p:spPr>
          <a:xfrm>
            <a:off x="1180148" y="4234815"/>
            <a:ext cx="3415665" cy="48577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156">
                <a:solidFill>
                  <a:srgbClr val="426421"/>
                </a:solidFill>
                <a:latin typeface="Avenir Next Pro"/>
              </a:rPr>
              <a:t>{{s10.monto5}}</a:t>
            </a:r>
            <a:endParaRPr lang="es-ES">
              <a:latin typeface="Avenir Next Pr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A77586-4220-6CBD-D489-0737FD2751CB}"/>
              </a:ext>
            </a:extLst>
          </p:cNvPr>
          <p:cNvSpPr txBox="1"/>
          <p:nvPr/>
        </p:nvSpPr>
        <p:spPr>
          <a:xfrm>
            <a:off x="3994785" y="3977640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rgbClr val="2D4417"/>
                </a:solidFill>
                <a:latin typeface="Avenir Next Pro"/>
              </a:rPr>
              <a:t>{{s10.monto6}}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43542F-C6B9-BAE4-F637-C82D25F794AD}"/>
              </a:ext>
            </a:extLst>
          </p:cNvPr>
          <p:cNvSpPr txBox="1"/>
          <p:nvPr/>
        </p:nvSpPr>
        <p:spPr>
          <a:xfrm>
            <a:off x="5581557" y="1818890"/>
            <a:ext cx="522900" cy="507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  <a:sym typeface="Wingdings" pitchFamily="2" charset="2"/>
              </a:rPr>
              <a:t>{{s10.nombre4}}</a:t>
            </a:r>
            <a:endParaRPr lang="es-ES_tradnl" sz="2696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717945-F9F8-4EE0-C017-88EE23537492}"/>
              </a:ext>
            </a:extLst>
          </p:cNvPr>
          <p:cNvSpPr txBox="1"/>
          <p:nvPr/>
        </p:nvSpPr>
        <p:spPr>
          <a:xfrm>
            <a:off x="6183040" y="1482303"/>
            <a:ext cx="4656154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A dónde va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A986F78-4B08-0116-5D42-91C0C5F30FED}"/>
              </a:ext>
            </a:extLst>
          </p:cNvPr>
          <p:cNvSpPr/>
          <p:nvPr/>
        </p:nvSpPr>
        <p:spPr>
          <a:xfrm>
            <a:off x="6182678" y="1844040"/>
            <a:ext cx="4389120" cy="942975"/>
          </a:xfrm>
          <a:prstGeom prst="roundRect">
            <a:avLst/>
          </a:prstGeom>
          <a:solidFill>
            <a:srgbClr val="426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3B58D-A2E9-504C-801E-0AB4F1670890}"/>
              </a:ext>
            </a:extLst>
          </p:cNvPr>
          <p:cNvSpPr txBox="1"/>
          <p:nvPr/>
        </p:nvSpPr>
        <p:spPr>
          <a:xfrm>
            <a:off x="6302693" y="1920240"/>
            <a:ext cx="2720340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541">
                <a:solidFill>
                  <a:schemeClr val="bg1"/>
                </a:solidFill>
                <a:latin typeface="Avenir Next Pro"/>
              </a:rPr>
              <a:t>{{s10.nombre5}}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21C87F-6CC8-6194-4BD1-6869922F10BE}"/>
              </a:ext>
            </a:extLst>
          </p:cNvPr>
          <p:cNvSpPr txBox="1"/>
          <p:nvPr/>
        </p:nvSpPr>
        <p:spPr>
          <a:xfrm>
            <a:off x="6302693" y="2263140"/>
            <a:ext cx="3415665" cy="485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56">
                <a:solidFill>
                  <a:srgbClr val="D5FF83"/>
                </a:solidFill>
                <a:latin typeface="Avenir Next Pro"/>
              </a:rPr>
              <a:t>{{s10.pct}}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73D05-6742-1F0D-5F34-B825EB080441}"/>
              </a:ext>
            </a:extLst>
          </p:cNvPr>
          <p:cNvSpPr txBox="1"/>
          <p:nvPr/>
        </p:nvSpPr>
        <p:spPr>
          <a:xfrm>
            <a:off x="9118283" y="1882140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chemeClr val="bg1"/>
                </a:solidFill>
                <a:latin typeface="Avenir Next Pro"/>
              </a:rPr>
              <a:t>{{s10.monto7}}</a:t>
            </a:r>
            <a:endParaRPr lang="es-ES_tradnl" sz="1541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538947D-F037-1E49-FFC5-F230915787DD}"/>
              </a:ext>
            </a:extLst>
          </p:cNvPr>
          <p:cNvSpPr/>
          <p:nvPr/>
        </p:nvSpPr>
        <p:spPr>
          <a:xfrm>
            <a:off x="6182678" y="2863215"/>
            <a:ext cx="4389120" cy="762000"/>
          </a:xfrm>
          <a:prstGeom prst="roundRect">
            <a:avLst/>
          </a:prstGeom>
          <a:solidFill>
            <a:srgbClr val="426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AB554F-3148-C79A-5BF2-324A6DE6A005}"/>
              </a:ext>
            </a:extLst>
          </p:cNvPr>
          <p:cNvSpPr txBox="1"/>
          <p:nvPr/>
        </p:nvSpPr>
        <p:spPr>
          <a:xfrm>
            <a:off x="6302693" y="2939415"/>
            <a:ext cx="2720340" cy="36195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541">
                <a:solidFill>
                  <a:schemeClr val="bg1"/>
                </a:solidFill>
                <a:latin typeface="Avenir Next Pro"/>
              </a:rPr>
              <a:t>{{s10.nombre6}}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DDD25A-57D3-4AD4-DA34-4FD905C3991B}"/>
              </a:ext>
            </a:extLst>
          </p:cNvPr>
          <p:cNvSpPr txBox="1"/>
          <p:nvPr/>
        </p:nvSpPr>
        <p:spPr>
          <a:xfrm>
            <a:off x="6302693" y="3282315"/>
            <a:ext cx="3415665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56">
                <a:solidFill>
                  <a:srgbClr val="D5FF83"/>
                </a:solidFill>
                <a:latin typeface="Avenir Next Pro"/>
              </a:rPr>
              <a:t>Fondo Oportunidad {{s10.pct2}}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DB4908-B521-8486-3D43-8EBDA33119C0}"/>
              </a:ext>
            </a:extLst>
          </p:cNvPr>
          <p:cNvSpPr txBox="1"/>
          <p:nvPr/>
        </p:nvSpPr>
        <p:spPr>
          <a:xfrm>
            <a:off x="9118283" y="2901315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chemeClr val="bg1"/>
                </a:solidFill>
                <a:latin typeface="Avenir Next Pro"/>
              </a:rPr>
              <a:t>{{s10.monto8}}</a:t>
            </a:r>
            <a:endParaRPr lang="es-ES_tradnl" sz="1541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E509DB9-F372-80B2-A840-3F5E2C46A2CD}"/>
              </a:ext>
            </a:extLst>
          </p:cNvPr>
          <p:cNvSpPr/>
          <p:nvPr/>
        </p:nvSpPr>
        <p:spPr>
          <a:xfrm>
            <a:off x="6182678" y="3701415"/>
            <a:ext cx="4389120" cy="762000"/>
          </a:xfrm>
          <a:prstGeom prst="roundRect">
            <a:avLst/>
          </a:prstGeom>
          <a:solidFill>
            <a:srgbClr val="426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E78F43-6F27-CDA9-5F79-3D9786A526FF}"/>
              </a:ext>
            </a:extLst>
          </p:cNvPr>
          <p:cNvSpPr txBox="1"/>
          <p:nvPr/>
        </p:nvSpPr>
        <p:spPr>
          <a:xfrm>
            <a:off x="6302693" y="3777615"/>
            <a:ext cx="2720340" cy="36195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s-ES_tradnl" sz="1541">
                <a:solidFill>
                  <a:schemeClr val="bg1"/>
                </a:solidFill>
                <a:latin typeface="Avenir Next Pro"/>
              </a:rPr>
              <a:t>{{s10.nombre7}}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DACECA-92BA-0596-DDC2-1EB96EE7B942}"/>
              </a:ext>
            </a:extLst>
          </p:cNvPr>
          <p:cNvSpPr txBox="1"/>
          <p:nvPr/>
        </p:nvSpPr>
        <p:spPr>
          <a:xfrm>
            <a:off x="6302693" y="4120515"/>
            <a:ext cx="3415665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56">
                <a:solidFill>
                  <a:srgbClr val="D5FF83"/>
                </a:solidFill>
                <a:latin typeface="Avenir Next Pro"/>
              </a:rPr>
              <a:t>{{s10.pct3}}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19ACCF-3358-9BB8-E7CD-D57682057938}"/>
              </a:ext>
            </a:extLst>
          </p:cNvPr>
          <p:cNvSpPr txBox="1"/>
          <p:nvPr/>
        </p:nvSpPr>
        <p:spPr>
          <a:xfrm>
            <a:off x="9118283" y="3739515"/>
            <a:ext cx="1301115" cy="32575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541" b="1">
                <a:solidFill>
                  <a:schemeClr val="bg1"/>
                </a:solidFill>
                <a:latin typeface="Avenir Next Pro"/>
              </a:rPr>
              <a:t>{{s10.monto9}}</a:t>
            </a:r>
            <a:endParaRPr lang="es-ES_tradnl" sz="1541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C29CC9-6BE0-C2C9-5BD8-00DA0A676EFA}"/>
              </a:ext>
            </a:extLst>
          </p:cNvPr>
          <p:cNvSpPr txBox="1"/>
          <p:nvPr/>
        </p:nvSpPr>
        <p:spPr>
          <a:xfrm>
            <a:off x="10704660" y="1818890"/>
            <a:ext cx="522900" cy="507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  <a:sym typeface="Wingdings" pitchFamily="2" charset="2"/>
              </a:rPr>
              <a:t>{{s10.nombre8}}</a:t>
            </a:r>
            <a:endParaRPr lang="es-ES_tradnl" sz="2696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54CFE7-FC5A-BAB7-9010-5FFE807004C6}"/>
              </a:ext>
            </a:extLst>
          </p:cNvPr>
          <p:cNvSpPr txBox="1"/>
          <p:nvPr/>
        </p:nvSpPr>
        <p:spPr>
          <a:xfrm>
            <a:off x="9118283" y="2129790"/>
            <a:ext cx="1301115" cy="26670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156" b="1">
                <a:solidFill>
                  <a:srgbClr val="D5FF83"/>
                </a:solidFill>
                <a:latin typeface="Avenir Next Pro"/>
              </a:rPr>
              <a:t>{{s10.pct4}}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D8647C-4B39-182B-260C-35760F4AAACB}"/>
              </a:ext>
            </a:extLst>
          </p:cNvPr>
          <p:cNvSpPr txBox="1"/>
          <p:nvPr/>
        </p:nvSpPr>
        <p:spPr>
          <a:xfrm>
            <a:off x="9118283" y="3148965"/>
            <a:ext cx="1301115" cy="26670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156" b="1">
                <a:solidFill>
                  <a:srgbClr val="D5FF83"/>
                </a:solidFill>
                <a:latin typeface="Avenir Next Pro"/>
              </a:rPr>
              <a:t>{{s10.pct5}}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330C05-7197-A360-E17A-116EFB4B3759}"/>
              </a:ext>
            </a:extLst>
          </p:cNvPr>
          <p:cNvSpPr txBox="1"/>
          <p:nvPr/>
        </p:nvSpPr>
        <p:spPr>
          <a:xfrm>
            <a:off x="9118283" y="3987165"/>
            <a:ext cx="1301115" cy="266700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pPr algn="r"/>
            <a:r>
              <a:rPr lang="es-ES_tradnl" sz="1156" b="1">
                <a:solidFill>
                  <a:srgbClr val="D5FF83"/>
                </a:solidFill>
                <a:latin typeface="Avenir Next Pro"/>
              </a:rPr>
              <a:t>{{s10.pct6}}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51B1DC9-4965-39AD-ACAB-B994207FC74D}"/>
              </a:ext>
            </a:extLst>
          </p:cNvPr>
          <p:cNvSpPr/>
          <p:nvPr/>
        </p:nvSpPr>
        <p:spPr>
          <a:xfrm>
            <a:off x="10185463" y="5510004"/>
            <a:ext cx="1502028" cy="907216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</p:spTree>
    <p:extLst>
      <p:ext uri="{BB962C8B-B14F-4D97-AF65-F5344CB8AC3E}">
        <p14:creationId xmlns:p14="http://schemas.microsoft.com/office/powerpoint/2010/main" val="13039458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39243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{{s11.nombre}}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{{s11.delta}}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{{s11.pct}}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5336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{{s11.nombre2}}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5336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{{s11.monto2}}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29908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30480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{{s11.nombre3}}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30480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{{s11.monto3}}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3337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Row Nombre"/>
          <p:cNvSpPr txBox="1"/>
          <p:nvPr/>
        </p:nvSpPr>
        <p:spPr>
          <a:xfrm>
            <a:off x="685800" y="33909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{{s11.nombre4}}</a:t>
            </a:r>
          </a:p>
        </p:txBody>
      </p:sp>
      <p:sp>
        <p:nvSpPr>
          <p:cNvPr id="19" name="Row Monto"/>
          <p:cNvSpPr txBox="1"/>
          <p:nvPr/>
        </p:nvSpPr>
        <p:spPr>
          <a:xfrm>
            <a:off x="4629150" y="33909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{{s11.monto4}}</a:t>
            </a:r>
          </a:p>
        </p:txBody>
      </p:sp>
      <p:sp>
        <p:nvSpPr>
          <p:cNvPr id="20" name="Divider"/>
          <p:cNvSpPr/>
          <p:nvPr/>
        </p:nvSpPr>
        <p:spPr>
          <a:xfrm>
            <a:off x="685800" y="36766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1" name="Row Nombre"/>
          <p:cNvSpPr txBox="1"/>
          <p:nvPr/>
        </p:nvSpPr>
        <p:spPr>
          <a:xfrm>
            <a:off x="685800" y="37338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{{s11.nombre5}}</a:t>
            </a:r>
          </a:p>
        </p:txBody>
      </p:sp>
      <p:sp>
        <p:nvSpPr>
          <p:cNvPr id="22" name="Row Monto"/>
          <p:cNvSpPr txBox="1"/>
          <p:nvPr/>
        </p:nvSpPr>
        <p:spPr>
          <a:xfrm>
            <a:off x="4629150" y="37338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{{s11.monto5}}</a:t>
            </a:r>
          </a:p>
        </p:txBody>
      </p:sp>
      <p:sp>
        <p:nvSpPr>
          <p:cNvPr id="23" name="Divider"/>
          <p:cNvSpPr/>
          <p:nvPr/>
        </p:nvSpPr>
        <p:spPr>
          <a:xfrm>
            <a:off x="685800" y="40195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4" name="Row Nombre"/>
          <p:cNvSpPr txBox="1"/>
          <p:nvPr/>
        </p:nvSpPr>
        <p:spPr>
          <a:xfrm>
            <a:off x="685800" y="40767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{{s11.nombre6}}</a:t>
            </a:r>
          </a:p>
        </p:txBody>
      </p:sp>
      <p:sp>
        <p:nvSpPr>
          <p:cNvPr id="25" name="Row Monto"/>
          <p:cNvSpPr txBox="1"/>
          <p:nvPr/>
        </p:nvSpPr>
        <p:spPr>
          <a:xfrm>
            <a:off x="4629150" y="40767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{{s11.monto6}}</a:t>
            </a:r>
          </a:p>
        </p:txBody>
      </p:sp>
      <p:sp>
        <p:nvSpPr>
          <p:cNvPr id="26" name="Divider"/>
          <p:cNvSpPr/>
          <p:nvPr/>
        </p:nvSpPr>
        <p:spPr>
          <a:xfrm>
            <a:off x="685800" y="43624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7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28" name="Row Nombre"/>
          <p:cNvSpPr txBox="1"/>
          <p:nvPr/>
        </p:nvSpPr>
        <p:spPr>
          <a:xfrm>
            <a:off x="6248400" y="21907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{{s11.pct2}}</a:t>
            </a:r>
          </a:p>
        </p:txBody>
      </p:sp>
      <p:sp>
        <p:nvSpPr>
          <p:cNvPr id="29" name="Row Monto"/>
          <p:cNvSpPr txBox="1"/>
          <p:nvPr/>
        </p:nvSpPr>
        <p:spPr>
          <a:xfrm>
            <a:off x="10191750" y="21907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{{s11.monto7}}</a:t>
            </a:r>
          </a:p>
        </p:txBody>
      </p:sp>
      <p:sp>
        <p:nvSpPr>
          <p:cNvPr id="30" name="Divider"/>
          <p:cNvSpPr/>
          <p:nvPr/>
        </p:nvSpPr>
        <p:spPr>
          <a:xfrm>
            <a:off x="6248400" y="26479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1" name="Row Nombre"/>
          <p:cNvSpPr txBox="1"/>
          <p:nvPr/>
        </p:nvSpPr>
        <p:spPr>
          <a:xfrm>
            <a:off x="6248400" y="27051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{{s11.nombre7}}</a:t>
            </a:r>
          </a:p>
        </p:txBody>
      </p:sp>
      <p:sp>
        <p:nvSpPr>
          <p:cNvPr id="32" name="Row Monto"/>
          <p:cNvSpPr txBox="1"/>
          <p:nvPr/>
        </p:nvSpPr>
        <p:spPr>
          <a:xfrm>
            <a:off x="10191750" y="27051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{{s11.monto8}}</a:t>
            </a:r>
          </a:p>
        </p:txBody>
      </p:sp>
      <p:sp>
        <p:nvSpPr>
          <p:cNvPr id="33" name="Divider"/>
          <p:cNvSpPr/>
          <p:nvPr/>
        </p:nvSpPr>
        <p:spPr>
          <a:xfrm>
            <a:off x="6248400" y="31623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4" name="Row Nombre"/>
          <p:cNvSpPr txBox="1"/>
          <p:nvPr/>
        </p:nvSpPr>
        <p:spPr>
          <a:xfrm>
            <a:off x="6248400" y="32194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{{s11.nombre8}}</a:t>
            </a:r>
          </a:p>
        </p:txBody>
      </p:sp>
      <p:sp>
        <p:nvSpPr>
          <p:cNvPr id="35" name="Row Monto"/>
          <p:cNvSpPr txBox="1"/>
          <p:nvPr/>
        </p:nvSpPr>
        <p:spPr>
          <a:xfrm>
            <a:off x="10191750" y="32194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{{s11.monto9}}</a:t>
            </a:r>
          </a:p>
        </p:txBody>
      </p:sp>
      <p:sp>
        <p:nvSpPr>
          <p:cNvPr id="36" name="Divider"/>
          <p:cNvSpPr/>
          <p:nvPr/>
        </p:nvSpPr>
        <p:spPr>
          <a:xfrm>
            <a:off x="6248400" y="35052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7" name="Row Nombre"/>
          <p:cNvSpPr txBox="1"/>
          <p:nvPr/>
        </p:nvSpPr>
        <p:spPr>
          <a:xfrm>
            <a:off x="6248400" y="35623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{{s11.nombre9}}</a:t>
            </a:r>
          </a:p>
        </p:txBody>
      </p:sp>
      <p:sp>
        <p:nvSpPr>
          <p:cNvPr id="38" name="Row Monto"/>
          <p:cNvSpPr txBox="1"/>
          <p:nvPr/>
        </p:nvSpPr>
        <p:spPr>
          <a:xfrm>
            <a:off x="10191750" y="35623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{{s11.monto10}}</a:t>
            </a:r>
          </a:p>
        </p:txBody>
      </p:sp>
      <p:sp>
        <p:nvSpPr>
          <p:cNvPr id="39" name="Divider"/>
          <p:cNvSpPr/>
          <p:nvPr/>
        </p:nvSpPr>
        <p:spPr>
          <a:xfrm>
            <a:off x="6248400" y="38481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0" name="Row Nombre"/>
          <p:cNvSpPr txBox="1"/>
          <p:nvPr/>
        </p:nvSpPr>
        <p:spPr>
          <a:xfrm>
            <a:off x="6248400" y="39052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{{s11.nombre10}}</a:t>
            </a:r>
          </a:p>
        </p:txBody>
      </p:sp>
      <p:sp>
        <p:nvSpPr>
          <p:cNvPr id="41" name="Row Monto"/>
          <p:cNvSpPr txBox="1"/>
          <p:nvPr/>
        </p:nvSpPr>
        <p:spPr>
          <a:xfrm>
            <a:off x="10191750" y="39052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{{s11.monto11}}</a:t>
            </a:r>
          </a:p>
        </p:txBody>
      </p:sp>
      <p:sp>
        <p:nvSpPr>
          <p:cNvPr id="42" name="Divider"/>
          <p:cNvSpPr/>
          <p:nvPr/>
        </p:nvSpPr>
        <p:spPr>
          <a:xfrm>
            <a:off x="6248400" y="41910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3" name="Row Nombre"/>
          <p:cNvSpPr txBox="1"/>
          <p:nvPr/>
        </p:nvSpPr>
        <p:spPr>
          <a:xfrm>
            <a:off x="6248400" y="42481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{{s11.nombre11}}</a:t>
            </a:r>
          </a:p>
        </p:txBody>
      </p:sp>
      <p:sp>
        <p:nvSpPr>
          <p:cNvPr id="44" name="Row Monto"/>
          <p:cNvSpPr txBox="1"/>
          <p:nvPr/>
        </p:nvSpPr>
        <p:spPr>
          <a:xfrm>
            <a:off x="10191750" y="42481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{{s11.monto12}}</a:t>
            </a:r>
          </a:p>
        </p:txBody>
      </p:sp>
      <p:sp>
        <p:nvSpPr>
          <p:cNvPr id="45" name="Divider"/>
          <p:cNvSpPr/>
          <p:nvPr/>
        </p:nvSpPr>
        <p:spPr>
          <a:xfrm>
            <a:off x="6248400" y="45339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6" name="Row Nombre"/>
          <p:cNvSpPr txBox="1"/>
          <p:nvPr/>
        </p:nvSpPr>
        <p:spPr>
          <a:xfrm>
            <a:off x="6248400" y="45910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{{s11.nombre12}}</a:t>
            </a:r>
          </a:p>
        </p:txBody>
      </p:sp>
      <p:sp>
        <p:nvSpPr>
          <p:cNvPr id="47" name="Row Monto"/>
          <p:cNvSpPr txBox="1"/>
          <p:nvPr/>
        </p:nvSpPr>
        <p:spPr>
          <a:xfrm>
            <a:off x="10191750" y="45910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{{s11.monto13}}</a:t>
            </a:r>
          </a:p>
        </p:txBody>
      </p:sp>
      <p:sp>
        <p:nvSpPr>
          <p:cNvPr id="48" name="Divider"/>
          <p:cNvSpPr/>
          <p:nvPr/>
        </p:nvSpPr>
        <p:spPr>
          <a:xfrm>
            <a:off x="6248400" y="48768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9" name="Divider"/>
          <p:cNvSpPr/>
          <p:nvPr/>
        </p:nvSpPr>
        <p:spPr>
          <a:xfrm>
            <a:off x="6096000" y="1981200"/>
            <a:ext cx="9525" cy="295275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0" name="Rect"/>
          <p:cNvSpPr/>
          <p:nvPr/>
        </p:nvSpPr>
        <p:spPr>
          <a:xfrm>
            <a:off x="685800" y="48768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1" name="Subtotal A Label"/>
          <p:cNvSpPr txBox="1"/>
          <p:nvPr/>
        </p:nvSpPr>
        <p:spPr>
          <a:xfrm>
            <a:off x="819150" y="49339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{{s11.nombre13}}</a:t>
            </a:r>
          </a:p>
        </p:txBody>
      </p:sp>
      <p:sp>
        <p:nvSpPr>
          <p:cNvPr id="52" name="Subtotal A Val"/>
          <p:cNvSpPr txBox="1"/>
          <p:nvPr/>
        </p:nvSpPr>
        <p:spPr>
          <a:xfrm>
            <a:off x="819150" y="51244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{{s11.monto14}}</a:t>
            </a:r>
          </a:p>
        </p:txBody>
      </p:sp>
      <p:sp>
        <p:nvSpPr>
          <p:cNvPr id="53" name="Rect"/>
          <p:cNvSpPr/>
          <p:nvPr/>
        </p:nvSpPr>
        <p:spPr>
          <a:xfrm>
            <a:off x="6134100" y="48768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4" name="Subtotal D Label"/>
          <p:cNvSpPr txBox="1"/>
          <p:nvPr/>
        </p:nvSpPr>
        <p:spPr>
          <a:xfrm>
            <a:off x="6267450" y="49339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{{s11.nombre14}}</a:t>
            </a:r>
          </a:p>
        </p:txBody>
      </p:sp>
      <p:sp>
        <p:nvSpPr>
          <p:cNvPr id="55" name="Subtotal D Val"/>
          <p:cNvSpPr txBox="1"/>
          <p:nvPr/>
        </p:nvSpPr>
        <p:spPr>
          <a:xfrm>
            <a:off x="6267450" y="51244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{{s11.monto15}}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42672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{{s12.nombre}}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{{s12.delta}}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5336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{{s12.monto3}}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5336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{{s12.monto4}}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28194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28765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{{s12.monto5}}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28765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{{s12.monto6}}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1623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Row Nombre"/>
          <p:cNvSpPr txBox="1"/>
          <p:nvPr/>
        </p:nvSpPr>
        <p:spPr>
          <a:xfrm>
            <a:off x="685800" y="32194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{{s12.monto7}}</a:t>
            </a:r>
          </a:p>
        </p:txBody>
      </p:sp>
      <p:sp>
        <p:nvSpPr>
          <p:cNvPr id="19" name="Row Monto"/>
          <p:cNvSpPr txBox="1"/>
          <p:nvPr/>
        </p:nvSpPr>
        <p:spPr>
          <a:xfrm>
            <a:off x="4629150" y="32194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{{s12.monto8}}</a:t>
            </a:r>
          </a:p>
        </p:txBody>
      </p:sp>
      <p:sp>
        <p:nvSpPr>
          <p:cNvPr id="20" name="Divider"/>
          <p:cNvSpPr/>
          <p:nvPr/>
        </p:nvSpPr>
        <p:spPr>
          <a:xfrm>
            <a:off x="685800" y="36766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1" name="Row Nombre"/>
          <p:cNvSpPr txBox="1"/>
          <p:nvPr/>
        </p:nvSpPr>
        <p:spPr>
          <a:xfrm>
            <a:off x="685800" y="37338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{{s12.monto9}}</a:t>
            </a:r>
          </a:p>
        </p:txBody>
      </p:sp>
      <p:sp>
        <p:nvSpPr>
          <p:cNvPr id="22" name="Row Monto"/>
          <p:cNvSpPr txBox="1"/>
          <p:nvPr/>
        </p:nvSpPr>
        <p:spPr>
          <a:xfrm>
            <a:off x="4629150" y="37338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{{s12.monto10}}</a:t>
            </a:r>
          </a:p>
        </p:txBody>
      </p:sp>
      <p:sp>
        <p:nvSpPr>
          <p:cNvPr id="23" name="Divider"/>
          <p:cNvSpPr/>
          <p:nvPr/>
        </p:nvSpPr>
        <p:spPr>
          <a:xfrm>
            <a:off x="685800" y="40195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4" name="Row Nombre"/>
          <p:cNvSpPr txBox="1"/>
          <p:nvPr/>
        </p:nvSpPr>
        <p:spPr>
          <a:xfrm>
            <a:off x="685800" y="40767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{{s12.monto11}}</a:t>
            </a:r>
          </a:p>
        </p:txBody>
      </p:sp>
      <p:sp>
        <p:nvSpPr>
          <p:cNvPr id="25" name="Row Monto"/>
          <p:cNvSpPr txBox="1"/>
          <p:nvPr/>
        </p:nvSpPr>
        <p:spPr>
          <a:xfrm>
            <a:off x="4629150" y="40767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{{s12.monto12}}</a:t>
            </a:r>
          </a:p>
        </p:txBody>
      </p:sp>
      <p:sp>
        <p:nvSpPr>
          <p:cNvPr id="26" name="Divider"/>
          <p:cNvSpPr/>
          <p:nvPr/>
        </p:nvSpPr>
        <p:spPr>
          <a:xfrm>
            <a:off x="685800" y="43624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7" name="Row Nombre"/>
          <p:cNvSpPr txBox="1"/>
          <p:nvPr/>
        </p:nvSpPr>
        <p:spPr>
          <a:xfrm>
            <a:off x="685800" y="44196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{{s12.monto13}}</a:t>
            </a:r>
          </a:p>
        </p:txBody>
      </p:sp>
      <p:sp>
        <p:nvSpPr>
          <p:cNvPr id="28" name="Row Monto"/>
          <p:cNvSpPr txBox="1"/>
          <p:nvPr/>
        </p:nvSpPr>
        <p:spPr>
          <a:xfrm>
            <a:off x="4629150" y="44196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{{s12.monto14}}</a:t>
            </a:r>
          </a:p>
        </p:txBody>
      </p:sp>
      <p:sp>
        <p:nvSpPr>
          <p:cNvPr id="29" name="Divider"/>
          <p:cNvSpPr/>
          <p:nvPr/>
        </p:nvSpPr>
        <p:spPr>
          <a:xfrm>
            <a:off x="685800" y="47053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0" name="Row Nombre"/>
          <p:cNvSpPr txBox="1"/>
          <p:nvPr/>
        </p:nvSpPr>
        <p:spPr>
          <a:xfrm>
            <a:off x="685800" y="47625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{{s12.monto15}}</a:t>
            </a:r>
          </a:p>
        </p:txBody>
      </p:sp>
      <p:sp>
        <p:nvSpPr>
          <p:cNvPr id="31" name="Row Monto"/>
          <p:cNvSpPr txBox="1"/>
          <p:nvPr/>
        </p:nvSpPr>
        <p:spPr>
          <a:xfrm>
            <a:off x="4629150" y="47625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{{s12.monto16}}</a:t>
            </a:r>
          </a:p>
        </p:txBody>
      </p:sp>
      <p:sp>
        <p:nvSpPr>
          <p:cNvPr id="32" name="Divider"/>
          <p:cNvSpPr/>
          <p:nvPr/>
        </p:nvSpPr>
        <p:spPr>
          <a:xfrm>
            <a:off x="685800" y="50482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3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34" name="Row Nombre"/>
          <p:cNvSpPr txBox="1"/>
          <p:nvPr/>
        </p:nvSpPr>
        <p:spPr>
          <a:xfrm>
            <a:off x="62484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{{s12.monto17}}</a:t>
            </a:r>
          </a:p>
        </p:txBody>
      </p:sp>
      <p:sp>
        <p:nvSpPr>
          <p:cNvPr id="35" name="Row Monto"/>
          <p:cNvSpPr txBox="1"/>
          <p:nvPr/>
        </p:nvSpPr>
        <p:spPr>
          <a:xfrm>
            <a:off x="101917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{{s12.monto18}}</a:t>
            </a:r>
          </a:p>
        </p:txBody>
      </p:sp>
      <p:sp>
        <p:nvSpPr>
          <p:cNvPr id="36" name="Divider"/>
          <p:cNvSpPr/>
          <p:nvPr/>
        </p:nvSpPr>
        <p:spPr>
          <a:xfrm>
            <a:off x="62484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7" name="Row Nombre"/>
          <p:cNvSpPr txBox="1"/>
          <p:nvPr/>
        </p:nvSpPr>
        <p:spPr>
          <a:xfrm>
            <a:off x="6248400" y="25336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{{s12.nombre2}}</a:t>
            </a:r>
          </a:p>
        </p:txBody>
      </p:sp>
      <p:sp>
        <p:nvSpPr>
          <p:cNvPr id="38" name="Row Monto"/>
          <p:cNvSpPr txBox="1"/>
          <p:nvPr/>
        </p:nvSpPr>
        <p:spPr>
          <a:xfrm>
            <a:off x="10191750" y="25336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{{s12.monto19}}</a:t>
            </a:r>
          </a:p>
        </p:txBody>
      </p:sp>
      <p:sp>
        <p:nvSpPr>
          <p:cNvPr id="39" name="Divider"/>
          <p:cNvSpPr/>
          <p:nvPr/>
        </p:nvSpPr>
        <p:spPr>
          <a:xfrm>
            <a:off x="6248400" y="28194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0" name="Row Nombre"/>
          <p:cNvSpPr txBox="1"/>
          <p:nvPr/>
        </p:nvSpPr>
        <p:spPr>
          <a:xfrm>
            <a:off x="6248400" y="28765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{{s12.nombre3}}</a:t>
            </a:r>
          </a:p>
        </p:txBody>
      </p:sp>
      <p:sp>
        <p:nvSpPr>
          <p:cNvPr id="41" name="Row Monto"/>
          <p:cNvSpPr txBox="1"/>
          <p:nvPr/>
        </p:nvSpPr>
        <p:spPr>
          <a:xfrm>
            <a:off x="10191750" y="28765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{{s12.monto20}}</a:t>
            </a:r>
          </a:p>
        </p:txBody>
      </p:sp>
      <p:sp>
        <p:nvSpPr>
          <p:cNvPr id="42" name="Divider"/>
          <p:cNvSpPr/>
          <p:nvPr/>
        </p:nvSpPr>
        <p:spPr>
          <a:xfrm>
            <a:off x="6248400" y="31623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3" name="Row Nombre"/>
          <p:cNvSpPr txBox="1"/>
          <p:nvPr/>
        </p:nvSpPr>
        <p:spPr>
          <a:xfrm>
            <a:off x="6248400" y="32194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{{s12.nombre4}}</a:t>
            </a:r>
          </a:p>
        </p:txBody>
      </p:sp>
      <p:sp>
        <p:nvSpPr>
          <p:cNvPr id="44" name="Row Monto"/>
          <p:cNvSpPr txBox="1"/>
          <p:nvPr/>
        </p:nvSpPr>
        <p:spPr>
          <a:xfrm>
            <a:off x="10191750" y="32194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{{s12.monto21}}</a:t>
            </a:r>
          </a:p>
        </p:txBody>
      </p:sp>
      <p:sp>
        <p:nvSpPr>
          <p:cNvPr id="45" name="Divider"/>
          <p:cNvSpPr/>
          <p:nvPr/>
        </p:nvSpPr>
        <p:spPr>
          <a:xfrm>
            <a:off x="6248400" y="35052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6" name="Row Nombre"/>
          <p:cNvSpPr txBox="1"/>
          <p:nvPr/>
        </p:nvSpPr>
        <p:spPr>
          <a:xfrm>
            <a:off x="6248400" y="35623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{{s12.monto22}}</a:t>
            </a:r>
          </a:p>
        </p:txBody>
      </p:sp>
      <p:sp>
        <p:nvSpPr>
          <p:cNvPr id="47" name="Row Monto"/>
          <p:cNvSpPr txBox="1"/>
          <p:nvPr/>
        </p:nvSpPr>
        <p:spPr>
          <a:xfrm>
            <a:off x="10191750" y="35623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{{s12.monto23}}</a:t>
            </a:r>
          </a:p>
        </p:txBody>
      </p:sp>
      <p:sp>
        <p:nvSpPr>
          <p:cNvPr id="48" name="Divider"/>
          <p:cNvSpPr/>
          <p:nvPr/>
        </p:nvSpPr>
        <p:spPr>
          <a:xfrm>
            <a:off x="6248400" y="38481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9" name="Row Nombre"/>
          <p:cNvSpPr txBox="1"/>
          <p:nvPr/>
        </p:nvSpPr>
        <p:spPr>
          <a:xfrm>
            <a:off x="6248400" y="39052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{{s12.monto24}}</a:t>
            </a:r>
          </a:p>
        </p:txBody>
      </p:sp>
      <p:sp>
        <p:nvSpPr>
          <p:cNvPr id="50" name="Row Monto"/>
          <p:cNvSpPr txBox="1"/>
          <p:nvPr/>
        </p:nvSpPr>
        <p:spPr>
          <a:xfrm>
            <a:off x="10191750" y="39052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{{s12.monto25}}</a:t>
            </a:r>
          </a:p>
        </p:txBody>
      </p:sp>
      <p:sp>
        <p:nvSpPr>
          <p:cNvPr id="51" name="Divider"/>
          <p:cNvSpPr/>
          <p:nvPr/>
        </p:nvSpPr>
        <p:spPr>
          <a:xfrm>
            <a:off x="6248400" y="41910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2" name="Row Nombre"/>
          <p:cNvSpPr txBox="1"/>
          <p:nvPr/>
        </p:nvSpPr>
        <p:spPr>
          <a:xfrm>
            <a:off x="6248400" y="42481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{{s12.monto26}}</a:t>
            </a:r>
          </a:p>
        </p:txBody>
      </p:sp>
      <p:sp>
        <p:nvSpPr>
          <p:cNvPr id="53" name="Row Monto"/>
          <p:cNvSpPr txBox="1"/>
          <p:nvPr/>
        </p:nvSpPr>
        <p:spPr>
          <a:xfrm>
            <a:off x="10191750" y="42481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{{s12.monto27}}</a:t>
            </a:r>
          </a:p>
        </p:txBody>
      </p:sp>
      <p:sp>
        <p:nvSpPr>
          <p:cNvPr id="54" name="Divider"/>
          <p:cNvSpPr/>
          <p:nvPr/>
        </p:nvSpPr>
        <p:spPr>
          <a:xfrm>
            <a:off x="6248400" y="47053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5" name="Row Nombre"/>
          <p:cNvSpPr txBox="1"/>
          <p:nvPr/>
        </p:nvSpPr>
        <p:spPr>
          <a:xfrm>
            <a:off x="6248400" y="47625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{{s12.monto28}}</a:t>
            </a:r>
          </a:p>
        </p:txBody>
      </p:sp>
      <p:sp>
        <p:nvSpPr>
          <p:cNvPr id="56" name="Row Monto"/>
          <p:cNvSpPr txBox="1"/>
          <p:nvPr/>
        </p:nvSpPr>
        <p:spPr>
          <a:xfrm>
            <a:off x="10191750" y="47625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{{s12.monto29}}</a:t>
            </a:r>
          </a:p>
        </p:txBody>
      </p:sp>
      <p:sp>
        <p:nvSpPr>
          <p:cNvPr id="57" name="Divider"/>
          <p:cNvSpPr/>
          <p:nvPr/>
        </p:nvSpPr>
        <p:spPr>
          <a:xfrm>
            <a:off x="6248400" y="52197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8" name="Divider"/>
          <p:cNvSpPr/>
          <p:nvPr/>
        </p:nvSpPr>
        <p:spPr>
          <a:xfrm>
            <a:off x="6096000" y="1981200"/>
            <a:ext cx="9525" cy="329565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9" name="Rect"/>
          <p:cNvSpPr/>
          <p:nvPr/>
        </p:nvSpPr>
        <p:spPr>
          <a:xfrm>
            <a:off x="685800" y="52197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0" name="Subtotal A Label"/>
          <p:cNvSpPr txBox="1"/>
          <p:nvPr/>
        </p:nvSpPr>
        <p:spPr>
          <a:xfrm>
            <a:off x="819150" y="52768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{{s12.nombre5}}</a:t>
            </a:r>
          </a:p>
        </p:txBody>
      </p:sp>
      <p:sp>
        <p:nvSpPr>
          <p:cNvPr id="61" name="Subtotal A Val"/>
          <p:cNvSpPr txBox="1"/>
          <p:nvPr/>
        </p:nvSpPr>
        <p:spPr>
          <a:xfrm>
            <a:off x="819150" y="54673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{{s12.monto30}}</a:t>
            </a:r>
          </a:p>
        </p:txBody>
      </p:sp>
      <p:sp>
        <p:nvSpPr>
          <p:cNvPr id="62" name="Rect"/>
          <p:cNvSpPr/>
          <p:nvPr/>
        </p:nvSpPr>
        <p:spPr>
          <a:xfrm>
            <a:off x="6134100" y="52197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3" name="Subtotal D Label"/>
          <p:cNvSpPr txBox="1"/>
          <p:nvPr/>
        </p:nvSpPr>
        <p:spPr>
          <a:xfrm>
            <a:off x="6267450" y="52768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{{s12.nombre6}}</a:t>
            </a:r>
          </a:p>
        </p:txBody>
      </p:sp>
      <p:sp>
        <p:nvSpPr>
          <p:cNvPr id="64" name="Subtotal D Val"/>
          <p:cNvSpPr txBox="1"/>
          <p:nvPr/>
        </p:nvSpPr>
        <p:spPr>
          <a:xfrm>
            <a:off x="6267450" y="54673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{{s12.monto31}}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42672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{{s13.nombre}}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{{s13.delta}}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{{s13.nombre2}}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5336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{{s13.nombre3}}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5336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{{s13.monto2}}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29908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30480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{{s13.nombre4}}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30480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{{s13.monto3}}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3337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Row Nombre"/>
          <p:cNvSpPr txBox="1"/>
          <p:nvPr/>
        </p:nvSpPr>
        <p:spPr>
          <a:xfrm>
            <a:off x="685800" y="33909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{{s13.nombre5}}</a:t>
            </a:r>
          </a:p>
        </p:txBody>
      </p:sp>
      <p:sp>
        <p:nvSpPr>
          <p:cNvPr id="19" name="Row Monto"/>
          <p:cNvSpPr txBox="1"/>
          <p:nvPr/>
        </p:nvSpPr>
        <p:spPr>
          <a:xfrm>
            <a:off x="4629150" y="33909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{{s13.monto4}}</a:t>
            </a:r>
          </a:p>
        </p:txBody>
      </p:sp>
      <p:sp>
        <p:nvSpPr>
          <p:cNvPr id="20" name="Divider"/>
          <p:cNvSpPr/>
          <p:nvPr/>
        </p:nvSpPr>
        <p:spPr>
          <a:xfrm>
            <a:off x="685800" y="38481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1" name="Row Nombre"/>
          <p:cNvSpPr txBox="1"/>
          <p:nvPr/>
        </p:nvSpPr>
        <p:spPr>
          <a:xfrm>
            <a:off x="685800" y="39052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{{s13.nombre6}}</a:t>
            </a:r>
          </a:p>
        </p:txBody>
      </p:sp>
      <p:sp>
        <p:nvSpPr>
          <p:cNvPr id="22" name="Row Monto"/>
          <p:cNvSpPr txBox="1"/>
          <p:nvPr/>
        </p:nvSpPr>
        <p:spPr>
          <a:xfrm>
            <a:off x="4629150" y="39052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{{s13.monto5}}</a:t>
            </a:r>
          </a:p>
        </p:txBody>
      </p:sp>
      <p:sp>
        <p:nvSpPr>
          <p:cNvPr id="23" name="Divider"/>
          <p:cNvSpPr/>
          <p:nvPr/>
        </p:nvSpPr>
        <p:spPr>
          <a:xfrm>
            <a:off x="685800" y="41910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4" name="Row Nombre"/>
          <p:cNvSpPr txBox="1"/>
          <p:nvPr/>
        </p:nvSpPr>
        <p:spPr>
          <a:xfrm>
            <a:off x="685800" y="42481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{{s13.nombre7}}</a:t>
            </a:r>
          </a:p>
        </p:txBody>
      </p:sp>
      <p:sp>
        <p:nvSpPr>
          <p:cNvPr id="25" name="Row Monto"/>
          <p:cNvSpPr txBox="1"/>
          <p:nvPr/>
        </p:nvSpPr>
        <p:spPr>
          <a:xfrm>
            <a:off x="4629150" y="42481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{{s13.monto6}}</a:t>
            </a:r>
          </a:p>
        </p:txBody>
      </p:sp>
      <p:sp>
        <p:nvSpPr>
          <p:cNvPr id="26" name="Divider"/>
          <p:cNvSpPr/>
          <p:nvPr/>
        </p:nvSpPr>
        <p:spPr>
          <a:xfrm>
            <a:off x="685800" y="45339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7" name="Row Nombre"/>
          <p:cNvSpPr txBox="1"/>
          <p:nvPr/>
        </p:nvSpPr>
        <p:spPr>
          <a:xfrm>
            <a:off x="685800" y="45910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{{s13.nombre8}}</a:t>
            </a:r>
          </a:p>
        </p:txBody>
      </p:sp>
      <p:sp>
        <p:nvSpPr>
          <p:cNvPr id="28" name="Row Monto"/>
          <p:cNvSpPr txBox="1"/>
          <p:nvPr/>
        </p:nvSpPr>
        <p:spPr>
          <a:xfrm>
            <a:off x="4629150" y="45910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{{s13.monto7}}</a:t>
            </a:r>
          </a:p>
        </p:txBody>
      </p:sp>
      <p:sp>
        <p:nvSpPr>
          <p:cNvPr id="29" name="Divider"/>
          <p:cNvSpPr/>
          <p:nvPr/>
        </p:nvSpPr>
        <p:spPr>
          <a:xfrm>
            <a:off x="685800" y="48768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0" name="Row Nombre"/>
          <p:cNvSpPr txBox="1"/>
          <p:nvPr/>
        </p:nvSpPr>
        <p:spPr>
          <a:xfrm>
            <a:off x="685800" y="49339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{{s13.nombre9}}</a:t>
            </a:r>
          </a:p>
        </p:txBody>
      </p:sp>
      <p:sp>
        <p:nvSpPr>
          <p:cNvPr id="31" name="Row Monto"/>
          <p:cNvSpPr txBox="1"/>
          <p:nvPr/>
        </p:nvSpPr>
        <p:spPr>
          <a:xfrm>
            <a:off x="4629150" y="49339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{{s13.monto8}}</a:t>
            </a:r>
          </a:p>
        </p:txBody>
      </p:sp>
      <p:sp>
        <p:nvSpPr>
          <p:cNvPr id="32" name="Divider"/>
          <p:cNvSpPr/>
          <p:nvPr/>
        </p:nvSpPr>
        <p:spPr>
          <a:xfrm>
            <a:off x="685800" y="52197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3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34" name="Row Nombre"/>
          <p:cNvSpPr txBox="1"/>
          <p:nvPr/>
        </p:nvSpPr>
        <p:spPr>
          <a:xfrm>
            <a:off x="6248400" y="21907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{{s13.nombre10}}</a:t>
            </a:r>
          </a:p>
        </p:txBody>
      </p:sp>
      <p:sp>
        <p:nvSpPr>
          <p:cNvPr id="35" name="Row Monto"/>
          <p:cNvSpPr txBox="1"/>
          <p:nvPr/>
        </p:nvSpPr>
        <p:spPr>
          <a:xfrm>
            <a:off x="10191750" y="21907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{{s13.monto9}}</a:t>
            </a:r>
          </a:p>
        </p:txBody>
      </p:sp>
      <p:sp>
        <p:nvSpPr>
          <p:cNvPr id="36" name="Divider"/>
          <p:cNvSpPr/>
          <p:nvPr/>
        </p:nvSpPr>
        <p:spPr>
          <a:xfrm>
            <a:off x="6248400" y="26479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7" name="Divider"/>
          <p:cNvSpPr/>
          <p:nvPr/>
        </p:nvSpPr>
        <p:spPr>
          <a:xfrm>
            <a:off x="6096000" y="1981200"/>
            <a:ext cx="9525" cy="329565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8" name="Rect"/>
          <p:cNvSpPr/>
          <p:nvPr/>
        </p:nvSpPr>
        <p:spPr>
          <a:xfrm>
            <a:off x="685800" y="52197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9" name="Subtotal A Label"/>
          <p:cNvSpPr txBox="1"/>
          <p:nvPr/>
        </p:nvSpPr>
        <p:spPr>
          <a:xfrm>
            <a:off x="819150" y="52768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{{s13.nombre11}}</a:t>
            </a:r>
          </a:p>
        </p:txBody>
      </p:sp>
      <p:sp>
        <p:nvSpPr>
          <p:cNvPr id="40" name="Subtotal A Val"/>
          <p:cNvSpPr txBox="1"/>
          <p:nvPr/>
        </p:nvSpPr>
        <p:spPr>
          <a:xfrm>
            <a:off x="819150" y="54673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{{s13.monto10}}</a:t>
            </a:r>
          </a:p>
        </p:txBody>
      </p:sp>
      <p:sp>
        <p:nvSpPr>
          <p:cNvPr id="41" name="Rect"/>
          <p:cNvSpPr/>
          <p:nvPr/>
        </p:nvSpPr>
        <p:spPr>
          <a:xfrm>
            <a:off x="6134100" y="521970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2" name="Subtotal D Label"/>
          <p:cNvSpPr txBox="1"/>
          <p:nvPr/>
        </p:nvSpPr>
        <p:spPr>
          <a:xfrm>
            <a:off x="6267450" y="527685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{{s13.nombre12}}</a:t>
            </a:r>
          </a:p>
        </p:txBody>
      </p:sp>
      <p:sp>
        <p:nvSpPr>
          <p:cNvPr id="43" name="Subtotal D Val"/>
          <p:cNvSpPr txBox="1"/>
          <p:nvPr/>
        </p:nvSpPr>
        <p:spPr>
          <a:xfrm>
            <a:off x="6267450" y="546735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{{s13.monto11}}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287655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{{s14.nombre}}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{{s14.delta}}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{{s14.pct}}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809875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867025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{{s14.monto2}}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867025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{{s14.monto3}}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3324225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3381375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{{s14.nombre2}}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3381375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{{s14.monto4}}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667125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19" name="Row Nombre"/>
          <p:cNvSpPr txBox="1"/>
          <p:nvPr/>
        </p:nvSpPr>
        <p:spPr>
          <a:xfrm>
            <a:off x="6248400" y="2190750"/>
            <a:ext cx="39433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{{s14.pct2}}</a:t>
            </a:r>
          </a:p>
        </p:txBody>
      </p:sp>
      <p:sp>
        <p:nvSpPr>
          <p:cNvPr id="20" name="Row Monto"/>
          <p:cNvSpPr txBox="1"/>
          <p:nvPr/>
        </p:nvSpPr>
        <p:spPr>
          <a:xfrm>
            <a:off x="10191750" y="2190750"/>
            <a:ext cx="13144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{{s14.monto5}}</a:t>
            </a:r>
          </a:p>
        </p:txBody>
      </p:sp>
      <p:sp>
        <p:nvSpPr>
          <p:cNvPr id="21" name="Divider"/>
          <p:cNvSpPr/>
          <p:nvPr/>
        </p:nvSpPr>
        <p:spPr>
          <a:xfrm>
            <a:off x="6248400" y="2809875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2" name="Row Nombre"/>
          <p:cNvSpPr txBox="1"/>
          <p:nvPr/>
        </p:nvSpPr>
        <p:spPr>
          <a:xfrm>
            <a:off x="6248400" y="2867025"/>
            <a:ext cx="39433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{{s14.monto6}}</a:t>
            </a:r>
          </a:p>
        </p:txBody>
      </p:sp>
      <p:sp>
        <p:nvSpPr>
          <p:cNvPr id="23" name="Row Monto"/>
          <p:cNvSpPr txBox="1"/>
          <p:nvPr/>
        </p:nvSpPr>
        <p:spPr>
          <a:xfrm>
            <a:off x="10191750" y="2867025"/>
            <a:ext cx="1314450" cy="590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{{s14.monto7}}</a:t>
            </a:r>
          </a:p>
        </p:txBody>
      </p:sp>
      <p:sp>
        <p:nvSpPr>
          <p:cNvPr id="24" name="Divider"/>
          <p:cNvSpPr/>
          <p:nvPr/>
        </p:nvSpPr>
        <p:spPr>
          <a:xfrm>
            <a:off x="6248400" y="34861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5" name="Row Nombre"/>
          <p:cNvSpPr txBox="1"/>
          <p:nvPr/>
        </p:nvSpPr>
        <p:spPr>
          <a:xfrm>
            <a:off x="6248400" y="354330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{{s14.nombre3}}</a:t>
            </a:r>
          </a:p>
        </p:txBody>
      </p:sp>
      <p:sp>
        <p:nvSpPr>
          <p:cNvPr id="26" name="Row Monto"/>
          <p:cNvSpPr txBox="1"/>
          <p:nvPr/>
        </p:nvSpPr>
        <p:spPr>
          <a:xfrm>
            <a:off x="10191750" y="354330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{{s14.monto8}}</a:t>
            </a:r>
          </a:p>
        </p:txBody>
      </p:sp>
      <p:sp>
        <p:nvSpPr>
          <p:cNvPr id="27" name="Divider"/>
          <p:cNvSpPr/>
          <p:nvPr/>
        </p:nvSpPr>
        <p:spPr>
          <a:xfrm>
            <a:off x="6248400" y="38290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8" name="Divider"/>
          <p:cNvSpPr/>
          <p:nvPr/>
        </p:nvSpPr>
        <p:spPr>
          <a:xfrm>
            <a:off x="6096000" y="1981200"/>
            <a:ext cx="9525" cy="190500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9" name="Rect"/>
          <p:cNvSpPr/>
          <p:nvPr/>
        </p:nvSpPr>
        <p:spPr>
          <a:xfrm>
            <a:off x="685800" y="38290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0" name="Subtotal A Label"/>
          <p:cNvSpPr txBox="1"/>
          <p:nvPr/>
        </p:nvSpPr>
        <p:spPr>
          <a:xfrm>
            <a:off x="819150" y="38862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{{s14.nombre4}}</a:t>
            </a:r>
          </a:p>
        </p:txBody>
      </p:sp>
      <p:sp>
        <p:nvSpPr>
          <p:cNvPr id="31" name="Subtotal A Val"/>
          <p:cNvSpPr txBox="1"/>
          <p:nvPr/>
        </p:nvSpPr>
        <p:spPr>
          <a:xfrm>
            <a:off x="819150" y="40767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{{s14.monto9}}</a:t>
            </a:r>
          </a:p>
        </p:txBody>
      </p:sp>
      <p:sp>
        <p:nvSpPr>
          <p:cNvPr id="32" name="Rect"/>
          <p:cNvSpPr/>
          <p:nvPr/>
        </p:nvSpPr>
        <p:spPr>
          <a:xfrm>
            <a:off x="6134100" y="38290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3" name="Subtotal D Label"/>
          <p:cNvSpPr txBox="1"/>
          <p:nvPr/>
        </p:nvSpPr>
        <p:spPr>
          <a:xfrm>
            <a:off x="6267450" y="38862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{{s14.nombre5}}</a:t>
            </a:r>
          </a:p>
        </p:txBody>
      </p:sp>
      <p:sp>
        <p:nvSpPr>
          <p:cNvPr id="34" name="Subtotal D Val"/>
          <p:cNvSpPr txBox="1"/>
          <p:nvPr/>
        </p:nvSpPr>
        <p:spPr>
          <a:xfrm>
            <a:off x="6267450" y="40767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{{s14.monto10}}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443865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{{s15.nombre}}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{{s15.delta}}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{{s15.monto2}}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5336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{{s15.monto3}}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5336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{{s15.monto4}}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28194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28765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{{s15.monto5}}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28765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{{s15.monto6}}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3337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Row Nombre"/>
          <p:cNvSpPr txBox="1"/>
          <p:nvPr/>
        </p:nvSpPr>
        <p:spPr>
          <a:xfrm>
            <a:off x="685800" y="33909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{{s15.monto7}}</a:t>
            </a:r>
          </a:p>
        </p:txBody>
      </p:sp>
      <p:sp>
        <p:nvSpPr>
          <p:cNvPr id="19" name="Row Monto"/>
          <p:cNvSpPr txBox="1"/>
          <p:nvPr/>
        </p:nvSpPr>
        <p:spPr>
          <a:xfrm>
            <a:off x="4629150" y="33909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{{s15.monto8}}</a:t>
            </a:r>
          </a:p>
        </p:txBody>
      </p:sp>
      <p:sp>
        <p:nvSpPr>
          <p:cNvPr id="20" name="Divider"/>
          <p:cNvSpPr/>
          <p:nvPr/>
        </p:nvSpPr>
        <p:spPr>
          <a:xfrm>
            <a:off x="685800" y="38481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1" name="Row Nombre"/>
          <p:cNvSpPr txBox="1"/>
          <p:nvPr/>
        </p:nvSpPr>
        <p:spPr>
          <a:xfrm>
            <a:off x="685800" y="39052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{{s15.monto9}}</a:t>
            </a:r>
          </a:p>
        </p:txBody>
      </p:sp>
      <p:sp>
        <p:nvSpPr>
          <p:cNvPr id="22" name="Row Monto"/>
          <p:cNvSpPr txBox="1"/>
          <p:nvPr/>
        </p:nvSpPr>
        <p:spPr>
          <a:xfrm>
            <a:off x="4629150" y="39052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{{s15.monto10}}</a:t>
            </a:r>
          </a:p>
        </p:txBody>
      </p:sp>
      <p:sp>
        <p:nvSpPr>
          <p:cNvPr id="23" name="Divider"/>
          <p:cNvSpPr/>
          <p:nvPr/>
        </p:nvSpPr>
        <p:spPr>
          <a:xfrm>
            <a:off x="685800" y="43624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4" name="Row Nombre"/>
          <p:cNvSpPr txBox="1"/>
          <p:nvPr/>
        </p:nvSpPr>
        <p:spPr>
          <a:xfrm>
            <a:off x="685800" y="44196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{{s15.monto11}}</a:t>
            </a:r>
          </a:p>
        </p:txBody>
      </p:sp>
      <p:sp>
        <p:nvSpPr>
          <p:cNvPr id="25" name="Row Monto"/>
          <p:cNvSpPr txBox="1"/>
          <p:nvPr/>
        </p:nvSpPr>
        <p:spPr>
          <a:xfrm>
            <a:off x="4629150" y="44196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{{s15.monto12}}</a:t>
            </a:r>
          </a:p>
        </p:txBody>
      </p:sp>
      <p:sp>
        <p:nvSpPr>
          <p:cNvPr id="26" name="Divider"/>
          <p:cNvSpPr/>
          <p:nvPr/>
        </p:nvSpPr>
        <p:spPr>
          <a:xfrm>
            <a:off x="685800" y="48768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7" name="Row Nombre"/>
          <p:cNvSpPr txBox="1"/>
          <p:nvPr/>
        </p:nvSpPr>
        <p:spPr>
          <a:xfrm>
            <a:off x="685800" y="49339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{{s15.monto13}}</a:t>
            </a:r>
          </a:p>
        </p:txBody>
      </p:sp>
      <p:sp>
        <p:nvSpPr>
          <p:cNvPr id="28" name="Row Monto"/>
          <p:cNvSpPr txBox="1"/>
          <p:nvPr/>
        </p:nvSpPr>
        <p:spPr>
          <a:xfrm>
            <a:off x="4629150" y="49339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{{s15.monto14}}</a:t>
            </a:r>
          </a:p>
        </p:txBody>
      </p:sp>
      <p:sp>
        <p:nvSpPr>
          <p:cNvPr id="29" name="Divider"/>
          <p:cNvSpPr/>
          <p:nvPr/>
        </p:nvSpPr>
        <p:spPr>
          <a:xfrm>
            <a:off x="685800" y="53911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0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31" name="Row Nombre"/>
          <p:cNvSpPr txBox="1"/>
          <p:nvPr/>
        </p:nvSpPr>
        <p:spPr>
          <a:xfrm>
            <a:off x="6248400" y="21907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{{s15.monto15}}</a:t>
            </a:r>
          </a:p>
        </p:txBody>
      </p:sp>
      <p:sp>
        <p:nvSpPr>
          <p:cNvPr id="32" name="Row Monto"/>
          <p:cNvSpPr txBox="1"/>
          <p:nvPr/>
        </p:nvSpPr>
        <p:spPr>
          <a:xfrm>
            <a:off x="10191750" y="21907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{{s15.monto16}}</a:t>
            </a:r>
          </a:p>
        </p:txBody>
      </p:sp>
      <p:sp>
        <p:nvSpPr>
          <p:cNvPr id="33" name="Divider"/>
          <p:cNvSpPr/>
          <p:nvPr/>
        </p:nvSpPr>
        <p:spPr>
          <a:xfrm>
            <a:off x="6248400" y="24765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4" name="Row Nombre"/>
          <p:cNvSpPr txBox="1"/>
          <p:nvPr/>
        </p:nvSpPr>
        <p:spPr>
          <a:xfrm>
            <a:off x="6248400" y="25336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{{s15.nombre2}}</a:t>
            </a:r>
          </a:p>
        </p:txBody>
      </p:sp>
      <p:sp>
        <p:nvSpPr>
          <p:cNvPr id="35" name="Row Monto"/>
          <p:cNvSpPr txBox="1"/>
          <p:nvPr/>
        </p:nvSpPr>
        <p:spPr>
          <a:xfrm>
            <a:off x="10191750" y="25336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{{s15.monto17}}</a:t>
            </a:r>
          </a:p>
        </p:txBody>
      </p:sp>
      <p:sp>
        <p:nvSpPr>
          <p:cNvPr id="36" name="Divider"/>
          <p:cNvSpPr/>
          <p:nvPr/>
        </p:nvSpPr>
        <p:spPr>
          <a:xfrm>
            <a:off x="6248400" y="28194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37" name="Row Nombre"/>
          <p:cNvSpPr txBox="1"/>
          <p:nvPr/>
        </p:nvSpPr>
        <p:spPr>
          <a:xfrm>
            <a:off x="6248400" y="28765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{{s15.monto18}}</a:t>
            </a:r>
          </a:p>
        </p:txBody>
      </p:sp>
      <p:sp>
        <p:nvSpPr>
          <p:cNvPr id="38" name="Row Monto"/>
          <p:cNvSpPr txBox="1"/>
          <p:nvPr/>
        </p:nvSpPr>
        <p:spPr>
          <a:xfrm>
            <a:off x="10191750" y="28765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{{s15.monto19}}</a:t>
            </a:r>
          </a:p>
        </p:txBody>
      </p:sp>
      <p:sp>
        <p:nvSpPr>
          <p:cNvPr id="39" name="Divider"/>
          <p:cNvSpPr/>
          <p:nvPr/>
        </p:nvSpPr>
        <p:spPr>
          <a:xfrm>
            <a:off x="6248400" y="31623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0" name="Row Nombre"/>
          <p:cNvSpPr txBox="1"/>
          <p:nvPr/>
        </p:nvSpPr>
        <p:spPr>
          <a:xfrm>
            <a:off x="6248400" y="3219450"/>
            <a:ext cx="39433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{{s15.nombre3}}</a:t>
            </a:r>
          </a:p>
        </p:txBody>
      </p:sp>
      <p:sp>
        <p:nvSpPr>
          <p:cNvPr id="41" name="Row Monto"/>
          <p:cNvSpPr txBox="1"/>
          <p:nvPr/>
        </p:nvSpPr>
        <p:spPr>
          <a:xfrm>
            <a:off x="10191750" y="3219450"/>
            <a:ext cx="1314450" cy="25717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{{s15.monto20}}</a:t>
            </a:r>
          </a:p>
        </p:txBody>
      </p:sp>
      <p:sp>
        <p:nvSpPr>
          <p:cNvPr id="42" name="Divider"/>
          <p:cNvSpPr/>
          <p:nvPr/>
        </p:nvSpPr>
        <p:spPr>
          <a:xfrm>
            <a:off x="6248400" y="35052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3" name="Row Nombre"/>
          <p:cNvSpPr txBox="1"/>
          <p:nvPr/>
        </p:nvSpPr>
        <p:spPr>
          <a:xfrm>
            <a:off x="6248400" y="35623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{{s15.monto21}}</a:t>
            </a:r>
          </a:p>
        </p:txBody>
      </p:sp>
      <p:sp>
        <p:nvSpPr>
          <p:cNvPr id="44" name="Row Monto"/>
          <p:cNvSpPr txBox="1"/>
          <p:nvPr/>
        </p:nvSpPr>
        <p:spPr>
          <a:xfrm>
            <a:off x="10191750" y="35623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{{s15.monto22}}</a:t>
            </a:r>
          </a:p>
        </p:txBody>
      </p:sp>
      <p:sp>
        <p:nvSpPr>
          <p:cNvPr id="45" name="Divider"/>
          <p:cNvSpPr/>
          <p:nvPr/>
        </p:nvSpPr>
        <p:spPr>
          <a:xfrm>
            <a:off x="6248400" y="40195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6" name="Divider"/>
          <p:cNvSpPr/>
          <p:nvPr/>
        </p:nvSpPr>
        <p:spPr>
          <a:xfrm>
            <a:off x="6096000" y="1981200"/>
            <a:ext cx="9525" cy="346710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7" name="Rect"/>
          <p:cNvSpPr/>
          <p:nvPr/>
        </p:nvSpPr>
        <p:spPr>
          <a:xfrm>
            <a:off x="685800" y="53911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48" name="Subtotal A Label"/>
          <p:cNvSpPr txBox="1"/>
          <p:nvPr/>
        </p:nvSpPr>
        <p:spPr>
          <a:xfrm>
            <a:off x="819150" y="54483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{{s15.nombre4}}</a:t>
            </a:r>
          </a:p>
        </p:txBody>
      </p:sp>
      <p:sp>
        <p:nvSpPr>
          <p:cNvPr id="49" name="Subtotal A Val"/>
          <p:cNvSpPr txBox="1"/>
          <p:nvPr/>
        </p:nvSpPr>
        <p:spPr>
          <a:xfrm>
            <a:off x="819150" y="56388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{{s15.monto23}}</a:t>
            </a:r>
          </a:p>
        </p:txBody>
      </p:sp>
      <p:sp>
        <p:nvSpPr>
          <p:cNvPr id="50" name="Rect"/>
          <p:cNvSpPr/>
          <p:nvPr/>
        </p:nvSpPr>
        <p:spPr>
          <a:xfrm>
            <a:off x="6134100" y="53911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1" name="Subtotal D Label"/>
          <p:cNvSpPr txBox="1"/>
          <p:nvPr/>
        </p:nvSpPr>
        <p:spPr>
          <a:xfrm>
            <a:off x="6267450" y="54483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{{s15.nombre5}}</a:t>
            </a:r>
          </a:p>
        </p:txBody>
      </p:sp>
      <p:sp>
        <p:nvSpPr>
          <p:cNvPr id="52" name="Subtotal D Val"/>
          <p:cNvSpPr txBox="1"/>
          <p:nvPr/>
        </p:nvSpPr>
        <p:spPr>
          <a:xfrm>
            <a:off x="6267450" y="56388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{{s15.monto24}}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CMP Titulo"/>
          <p:cNvSpPr txBox="1"/>
          <p:nvPr/>
        </p:nvSpPr>
        <p:spPr>
          <a:xfrm>
            <a:off x="533400" y="666750"/>
            <a:ext cx="8572500" cy="4191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500" b="1">
                <a:solidFill>
                  <a:srgbClr val="223311"/>
                </a:solidFill>
                <a:latin typeface="Avenir Next Pro"/>
              </a:rPr>
              <a:t>Patrimonio total, antes y después (lámina {{pag.n}} de {{pag.total}})</a:t>
            </a:r>
          </a:p>
        </p:txBody>
      </p:sp>
      <p:sp>
        <p:nvSpPr>
          <p:cNvPr id="3" name="TextBox CMP Subtitulo"/>
          <p:cNvSpPr txBox="1"/>
          <p:nvPr/>
        </p:nvSpPr>
        <p:spPr>
          <a:xfrm>
            <a:off x="533400" y="1200150"/>
            <a:ext cx="7759065" cy="2381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6F7263"/>
                </a:solidFill>
                <a:latin typeface="Avenir Next Pro"/>
              </a:rPr>
              <a:t>Producto por producto, qué se mantiene y qué se cambia.</a:t>
            </a:r>
          </a:p>
        </p:txBody>
      </p:sp>
      <p:sp>
        <p:nvSpPr>
          <p:cNvPr id="4" name="Rect"/>
          <p:cNvSpPr/>
          <p:nvPr/>
        </p:nvSpPr>
        <p:spPr>
          <a:xfrm>
            <a:off x="533400" y="1524000"/>
            <a:ext cx="11125200" cy="272415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5" name="Rect"/>
          <p:cNvSpPr/>
          <p:nvPr/>
        </p:nvSpPr>
        <p:spPr>
          <a:xfrm>
            <a:off x="533400" y="1524000"/>
            <a:ext cx="11125200" cy="381000"/>
          </a:xfrm>
          <a:prstGeom prst="roundRect">
            <a:avLst>
              <a:gd name="adj" fmla="val 3500"/>
            </a:avLst>
          </a:prstGeom>
          <a:solidFill>
            <a:srgbClr val="334F1B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6" name="Card Header Nombre"/>
          <p:cNvSpPr txBox="1"/>
          <p:nvPr/>
        </p:nvSpPr>
        <p:spPr>
          <a:xfrm>
            <a:off x="685800" y="1619250"/>
            <a:ext cx="611886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400" b="1">
                <a:solidFill>
                  <a:srgbClr val="FFFFFF"/>
                </a:solidFill>
                <a:latin typeface="Avenir Next Pro"/>
              </a:rPr>
              <a:t>{{s16.nombre}}</a:t>
            </a:r>
          </a:p>
        </p:txBody>
      </p:sp>
      <p:sp>
        <p:nvSpPr>
          <p:cNvPr id="7" name="Card Header Cambio"/>
          <p:cNvSpPr txBox="1"/>
          <p:nvPr/>
        </p:nvSpPr>
        <p:spPr>
          <a:xfrm>
            <a:off x="6096000" y="1619250"/>
            <a:ext cx="54102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C3ED74"/>
                </a:solidFill>
                <a:latin typeface="Avenir Next Pro"/>
              </a:rPr>
              <a:t>{{s16.delta}}</a:t>
            </a:r>
          </a:p>
        </p:txBody>
      </p:sp>
      <p:sp>
        <p:nvSpPr>
          <p:cNvPr id="8" name="Col Label"/>
          <p:cNvSpPr txBox="1"/>
          <p:nvPr/>
        </p:nvSpPr>
        <p:spPr>
          <a:xfrm>
            <a:off x="6858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ANTES</a:t>
            </a:r>
          </a:p>
        </p:txBody>
      </p:sp>
      <p:sp>
        <p:nvSpPr>
          <p:cNvPr id="9" name="Row Nombre"/>
          <p:cNvSpPr txBox="1"/>
          <p:nvPr/>
        </p:nvSpPr>
        <p:spPr>
          <a:xfrm>
            <a:off x="685800" y="21907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{{s16.monto}}</a:t>
            </a:r>
          </a:p>
        </p:txBody>
      </p:sp>
      <p:sp>
        <p:nvSpPr>
          <p:cNvPr id="10" name="Row Monto"/>
          <p:cNvSpPr txBox="1"/>
          <p:nvPr/>
        </p:nvSpPr>
        <p:spPr>
          <a:xfrm>
            <a:off x="4629150" y="21907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{{s16.monto2}}</a:t>
            </a:r>
          </a:p>
        </p:txBody>
      </p:sp>
      <p:sp>
        <p:nvSpPr>
          <p:cNvPr id="11" name="Divider"/>
          <p:cNvSpPr/>
          <p:nvPr/>
        </p:nvSpPr>
        <p:spPr>
          <a:xfrm>
            <a:off x="685800" y="26479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2" name="Row Nombre"/>
          <p:cNvSpPr txBox="1"/>
          <p:nvPr/>
        </p:nvSpPr>
        <p:spPr>
          <a:xfrm>
            <a:off x="685800" y="270510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{{s16.monto3}}</a:t>
            </a:r>
          </a:p>
        </p:txBody>
      </p:sp>
      <p:sp>
        <p:nvSpPr>
          <p:cNvPr id="13" name="Row Monto"/>
          <p:cNvSpPr txBox="1"/>
          <p:nvPr/>
        </p:nvSpPr>
        <p:spPr>
          <a:xfrm>
            <a:off x="4629150" y="270510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{{s16.monto4}}</a:t>
            </a:r>
          </a:p>
        </p:txBody>
      </p:sp>
      <p:sp>
        <p:nvSpPr>
          <p:cNvPr id="14" name="Divider"/>
          <p:cNvSpPr/>
          <p:nvPr/>
        </p:nvSpPr>
        <p:spPr>
          <a:xfrm>
            <a:off x="685800" y="316230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5" name="Row Nombre"/>
          <p:cNvSpPr txBox="1"/>
          <p:nvPr/>
        </p:nvSpPr>
        <p:spPr>
          <a:xfrm>
            <a:off x="685800" y="3219450"/>
            <a:ext cx="39433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223311"/>
                </a:solidFill>
                <a:latin typeface="Avenir Next Pro"/>
              </a:rPr>
              <a:t>{{s16.monto5}}</a:t>
            </a:r>
          </a:p>
        </p:txBody>
      </p:sp>
      <p:sp>
        <p:nvSpPr>
          <p:cNvPr id="16" name="Row Monto"/>
          <p:cNvSpPr txBox="1"/>
          <p:nvPr/>
        </p:nvSpPr>
        <p:spPr>
          <a:xfrm>
            <a:off x="4629150" y="3219450"/>
            <a:ext cx="1314450" cy="42862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 b="1">
                <a:solidFill>
                  <a:srgbClr val="334F1B"/>
                </a:solidFill>
                <a:latin typeface="Avenir Next Pro"/>
              </a:rPr>
              <a:t>{{s16.monto6}}</a:t>
            </a:r>
          </a:p>
        </p:txBody>
      </p:sp>
      <p:sp>
        <p:nvSpPr>
          <p:cNvPr id="17" name="Divider"/>
          <p:cNvSpPr/>
          <p:nvPr/>
        </p:nvSpPr>
        <p:spPr>
          <a:xfrm>
            <a:off x="685800" y="3676650"/>
            <a:ext cx="5257800" cy="9525"/>
          </a:xfrm>
          <a:prstGeom prst="rect">
            <a:avLst/>
          </a:prstGeom>
          <a:solidFill>
            <a:srgbClr val="EEEEE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18" name="Col Label"/>
          <p:cNvSpPr txBox="1"/>
          <p:nvPr/>
        </p:nvSpPr>
        <p:spPr>
          <a:xfrm>
            <a:off x="6248400" y="198120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79A82D"/>
                </a:solidFill>
                <a:latin typeface="Avenir Next Pro"/>
              </a:rPr>
              <a:t>DESPUES</a:t>
            </a:r>
          </a:p>
        </p:txBody>
      </p:sp>
      <p:sp>
        <p:nvSpPr>
          <p:cNvPr id="19" name="Col Empty"/>
          <p:cNvSpPr txBox="1"/>
          <p:nvPr/>
        </p:nvSpPr>
        <p:spPr>
          <a:xfrm>
            <a:off x="6248400" y="2190750"/>
            <a:ext cx="52578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100">
                <a:solidFill>
                  <a:srgbClr val="9A9A90"/>
                </a:solidFill>
                <a:latin typeface="Avenir Next Pro"/>
              </a:rPr>
              <a:t>{{s16.nombre2}}</a:t>
            </a:r>
          </a:p>
        </p:txBody>
      </p:sp>
      <p:sp>
        <p:nvSpPr>
          <p:cNvPr id="20" name="Divider"/>
          <p:cNvSpPr/>
          <p:nvPr/>
        </p:nvSpPr>
        <p:spPr>
          <a:xfrm>
            <a:off x="6096000" y="1981200"/>
            <a:ext cx="9525" cy="1752600"/>
          </a:xfrm>
          <a:prstGeom prst="rect">
            <a:avLst/>
          </a:prstGeom>
          <a:solidFill>
            <a:srgbClr val="E2E1D6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1" name="Rect"/>
          <p:cNvSpPr/>
          <p:nvPr/>
        </p:nvSpPr>
        <p:spPr>
          <a:xfrm>
            <a:off x="685800" y="36766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F4F4ED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2" name="Subtotal A Label"/>
          <p:cNvSpPr txBox="1"/>
          <p:nvPr/>
        </p:nvSpPr>
        <p:spPr>
          <a:xfrm>
            <a:off x="819150" y="37338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6F7263"/>
                </a:solidFill>
                <a:latin typeface="Avenir Next Pro"/>
              </a:rPr>
              <a:t>{{s16.nombre3}}</a:t>
            </a:r>
          </a:p>
        </p:txBody>
      </p:sp>
      <p:sp>
        <p:nvSpPr>
          <p:cNvPr id="23" name="Subtotal A Val"/>
          <p:cNvSpPr txBox="1"/>
          <p:nvPr/>
        </p:nvSpPr>
        <p:spPr>
          <a:xfrm>
            <a:off x="819150" y="39243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334F1B"/>
                </a:solidFill>
                <a:latin typeface="Avenir Next Pro"/>
              </a:rPr>
              <a:t>{{s16.monto7}}</a:t>
            </a:r>
          </a:p>
        </p:txBody>
      </p:sp>
      <p:sp>
        <p:nvSpPr>
          <p:cNvPr id="24" name="Rect"/>
          <p:cNvSpPr/>
          <p:nvPr/>
        </p:nvSpPr>
        <p:spPr>
          <a:xfrm>
            <a:off x="6134100" y="3676650"/>
            <a:ext cx="5372100" cy="495300"/>
          </a:xfrm>
          <a:prstGeom prst="roundRect">
            <a:avLst>
              <a:gd name="adj" fmla="val 3500"/>
            </a:avLst>
          </a:prstGeom>
          <a:solidFill>
            <a:srgbClr val="C3ED74"/>
          </a:solidFill>
          <a:ln>
            <a:noFill/>
          </a:ln>
        </p:spPr>
        <p:txBody>
          <a:bodyPr/>
          <a:lstStyle/>
          <a:p>
            <a:endParaRPr>
              <a:latin typeface="Avenir Next Pro"/>
            </a:endParaRPr>
          </a:p>
        </p:txBody>
      </p:sp>
      <p:sp>
        <p:nvSpPr>
          <p:cNvPr id="25" name="Subtotal D Label"/>
          <p:cNvSpPr txBox="1"/>
          <p:nvPr/>
        </p:nvSpPr>
        <p:spPr>
          <a:xfrm>
            <a:off x="6267450" y="3733800"/>
            <a:ext cx="5105400" cy="152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950" b="1">
                <a:solidFill>
                  <a:srgbClr val="334F1B"/>
                </a:solidFill>
                <a:latin typeface="Avenir Next Pro"/>
              </a:rPr>
              <a:t>{{s16.nombre4}}</a:t>
            </a:r>
          </a:p>
        </p:txBody>
      </p:sp>
      <p:sp>
        <p:nvSpPr>
          <p:cNvPr id="26" name="Subtotal D Val"/>
          <p:cNvSpPr txBox="1"/>
          <p:nvPr/>
        </p:nvSpPr>
        <p:spPr>
          <a:xfrm>
            <a:off x="6267450" y="3924300"/>
            <a:ext cx="5105400" cy="1905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S" sz="1300" b="1">
                <a:solidFill>
                  <a:srgbClr val="223311"/>
                </a:solidFill>
                <a:latin typeface="Avenir Next Pro"/>
              </a:rPr>
              <a:t>{{s16.monto8}}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63" y="438113"/>
            <a:ext cx="1540588" cy="1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1050" b="1" kern="0" spc="188">
                <a:solidFill>
                  <a:srgbClr val="79A82D"/>
                </a:solidFill>
                <a:latin typeface="Avenir Next Pro"/>
              </a:rPr>
              <a:t>PLAN DE ACCIÓN</a:t>
            </a:r>
            <a:endParaRPr lang="en-US" sz="1050">
              <a:latin typeface="Avenir Next Pro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3363" y="666750"/>
            <a:ext cx="2733359" cy="4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203"/>
              </a:lnSpc>
              <a:buNone/>
            </a:pPr>
            <a:r>
              <a:rPr lang="en-US" sz="3450" b="1">
                <a:solidFill>
                  <a:srgbClr val="223311"/>
                </a:solidFill>
                <a:latin typeface="Avenir Next Pro"/>
              </a:rPr>
              <a:t>Rentabilidad</a:t>
            </a:r>
            <a:endParaRPr lang="en-US" sz="3450">
              <a:latin typeface="Avenir Next Pro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67575" y="742901"/>
            <a:ext cx="4191000" cy="2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77143"/>
              </a:lnSpc>
              <a:buNone/>
            </a:pPr>
            <a:r>
              <a:rPr lang="en-US" sz="1350">
                <a:solidFill>
                  <a:srgbClr val="6F7263"/>
                </a:solidFill>
                <a:latin typeface="Avenir Next Pro"/>
              </a:rPr>
              <a:t>Patrimonio total {{s17.monto}}</a:t>
            </a:r>
            <a:endParaRPr lang="en-US" sz="1350">
              <a:latin typeface="Avenir Next Pr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363" y="1257288"/>
            <a:ext cx="11125150" cy="9525"/>
          </a:xfrm>
          <a:prstGeom prst="rect">
            <a:avLst/>
          </a:prstGeom>
          <a:solidFill>
            <a:srgbClr val="E2E1D6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363" y="1504901"/>
            <a:ext cx="3254375" cy="251141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7937">
            <a:solidFill>
              <a:srgbClr val="E2E1D6"/>
            </a:solidFill>
            <a:prstDash val="solid"/>
          </a:ln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8913" y="1741413"/>
            <a:ext cx="418257" cy="1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1050" b="1" kern="0" spc="188">
                <a:solidFill>
                  <a:srgbClr val="6F7263"/>
                </a:solidFill>
                <a:latin typeface="Avenir Next Pro"/>
              </a:rPr>
              <a:t>HOY</a:t>
            </a:r>
            <a:endParaRPr lang="en-US" sz="1050">
              <a:latin typeface="Avenir Next Pro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5110" y="2326259"/>
            <a:ext cx="2491612" cy="5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86"/>
              </a:lnSpc>
              <a:buNone/>
            </a:pPr>
            <a:r>
              <a:rPr lang="en-US" sz="3500" b="1">
                <a:solidFill>
                  <a:srgbClr val="334F1B"/>
                </a:solidFill>
                <a:latin typeface="Avenir Next Pro"/>
              </a:rPr>
              <a:t>{{s17.pct}}</a:t>
            </a:r>
            <a:endParaRPr lang="en-US" sz="3500">
              <a:latin typeface="Avenir Next Pr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8913" y="2770126"/>
            <a:ext cx="2743150" cy="9525"/>
          </a:xfrm>
          <a:prstGeom prst="rect">
            <a:avLst/>
          </a:prstGeom>
          <a:solidFill>
            <a:srgbClr val="E2E1D6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8913" y="2960626"/>
            <a:ext cx="7360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125">
                <a:solidFill>
                  <a:srgbClr val="6F7263"/>
                </a:solidFill>
                <a:latin typeface="Avenir Next Pro"/>
              </a:rPr>
              <a:t>Equivale a</a:t>
            </a:r>
            <a:endParaRPr lang="en-US" sz="1125">
              <a:latin typeface="Avenir Next Pro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8913" y="3189201"/>
            <a:ext cx="2626196" cy="2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77037"/>
              </a:lnSpc>
              <a:buNone/>
            </a:pPr>
            <a:r>
              <a:rPr lang="en-US" sz="1950" b="1">
                <a:solidFill>
                  <a:srgbClr val="223311"/>
                </a:solidFill>
                <a:latin typeface="Avenir Next Pro"/>
              </a:rPr>
              <a:t>{{s17.monto2}}</a:t>
            </a:r>
            <a:endParaRPr lang="en-US" sz="1950">
              <a:latin typeface="Avenir Next Pro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8913" y="3532126"/>
            <a:ext cx="494035" cy="1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800"/>
              </a:lnSpc>
              <a:buNone/>
            </a:pPr>
            <a:r>
              <a:rPr lang="en-US" sz="1200">
                <a:solidFill>
                  <a:srgbClr val="6F7263"/>
                </a:solidFill>
                <a:latin typeface="Avenir Next Pro"/>
              </a:rPr>
              <a:t>al año</a:t>
            </a:r>
            <a:endParaRPr lang="en-US" sz="1200">
              <a:latin typeface="Avenir Next Pr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62363" y="1504901"/>
            <a:ext cx="3254375" cy="251141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7937">
            <a:solidFill>
              <a:srgbClr val="79A82D"/>
            </a:solidFill>
            <a:prstDash val="solid"/>
          </a:ln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17913" y="1735759"/>
            <a:ext cx="1079473" cy="1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1050" b="1" kern="0" spc="188">
                <a:solidFill>
                  <a:srgbClr val="79A82D"/>
                </a:solidFill>
                <a:latin typeface="Avenir Next Pro"/>
              </a:rPr>
              <a:t>OBJETIVO</a:t>
            </a:r>
            <a:endParaRPr lang="en-US" sz="1050">
              <a:latin typeface="Avenir Next Pro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03042" y="2322363"/>
            <a:ext cx="2808461" cy="5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86"/>
              </a:lnSpc>
              <a:buNone/>
            </a:pPr>
            <a:r>
              <a:rPr lang="en-US" sz="3500" b="1">
                <a:solidFill>
                  <a:srgbClr val="79A82D"/>
                </a:solidFill>
                <a:latin typeface="Avenir Next Pro"/>
              </a:rPr>
              <a:t>{{s17.pct2}}</a:t>
            </a:r>
            <a:endParaRPr lang="en-US" sz="3500">
              <a:latin typeface="Avenir Next Pr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17913" y="2770126"/>
            <a:ext cx="2743150" cy="9525"/>
          </a:xfrm>
          <a:prstGeom prst="rect">
            <a:avLst/>
          </a:prstGeom>
          <a:solidFill>
            <a:srgbClr val="E2E1D6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17913" y="2960626"/>
            <a:ext cx="7360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125">
                <a:solidFill>
                  <a:srgbClr val="6F7263"/>
                </a:solidFill>
                <a:latin typeface="Avenir Next Pro"/>
              </a:rPr>
              <a:t>Equivale a</a:t>
            </a:r>
            <a:endParaRPr lang="en-US" sz="1125">
              <a:latin typeface="Avenir Next Pro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17913" y="3189201"/>
            <a:ext cx="2778720" cy="2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77037"/>
              </a:lnSpc>
              <a:buNone/>
            </a:pPr>
            <a:r>
              <a:rPr lang="en-US" sz="1950" b="1">
                <a:solidFill>
                  <a:srgbClr val="223311"/>
                </a:solidFill>
                <a:latin typeface="Avenir Next Pro"/>
              </a:rPr>
              <a:t>{{s17.monto3}}</a:t>
            </a:r>
            <a:endParaRPr lang="en-US" sz="1950">
              <a:latin typeface="Avenir Next Pro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17913" y="3532126"/>
            <a:ext cx="494035" cy="1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800"/>
              </a:lnSpc>
              <a:buNone/>
            </a:pPr>
            <a:r>
              <a:rPr lang="en-US" sz="1200">
                <a:solidFill>
                  <a:srgbClr val="6F7263"/>
                </a:solidFill>
                <a:latin typeface="Avenir Next Pro"/>
              </a:rPr>
              <a:t>al año</a:t>
            </a:r>
            <a:endParaRPr lang="en-US" sz="1200">
              <a:latin typeface="Avenir Next Pr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91362" y="1504901"/>
            <a:ext cx="4267150" cy="2495538"/>
          </a:xfrm>
          <a:prstGeom prst="roundRect">
            <a:avLst>
              <a:gd name="adj" fmla="val 5344"/>
            </a:avLst>
          </a:prstGeom>
          <a:solidFill>
            <a:srgbClr val="334F1B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96150" y="1733476"/>
            <a:ext cx="1751912" cy="1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1050" b="1" kern="0" spc="188">
                <a:solidFill>
                  <a:srgbClr val="C3ED74"/>
                </a:solidFill>
                <a:latin typeface="Avenir Next Pro"/>
              </a:rPr>
              <a:t>DIFERENCIA ANUAL</a:t>
            </a:r>
            <a:endParaRPr lang="en-US" sz="1050">
              <a:latin typeface="Avenir Next Pr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96150" y="2038264"/>
            <a:ext cx="4030359" cy="685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981"/>
              </a:lnSpc>
              <a:buNone/>
            </a:pPr>
            <a:r>
              <a:rPr lang="en-US" sz="3500" b="1">
                <a:solidFill>
                  <a:srgbClr val="FFFFFF"/>
                </a:solidFill>
                <a:latin typeface="Avenir Next Pro"/>
              </a:rPr>
              <a:t>+{{s17.monto4}}</a:t>
            </a:r>
            <a:endParaRPr lang="en-US" sz="5100">
              <a:latin typeface="Avenir Next Pro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96150" y="2800264"/>
            <a:ext cx="28267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2250" b="1">
                <a:solidFill>
                  <a:srgbClr val="C3ED74"/>
                </a:solidFill>
                <a:latin typeface="Avenir Next Pro"/>
              </a:rPr>
              <a:t>a {{s17.monto5}} más al año</a:t>
            </a:r>
            <a:endParaRPr lang="en-US" sz="2250">
              <a:latin typeface="Avenir Next Pr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96150" y="3314651"/>
            <a:ext cx="3657575" cy="9525"/>
          </a:xfrm>
          <a:prstGeom prst="rect">
            <a:avLst/>
          </a:prstGeom>
          <a:solidFill>
            <a:srgbClr val="4D6B32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6150" y="3505151"/>
            <a:ext cx="4023333" cy="260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286"/>
              </a:lnSpc>
              <a:buNone/>
            </a:pPr>
            <a:r>
              <a:rPr lang="en-US" sz="1350">
                <a:solidFill>
                  <a:srgbClr val="CFDCBB"/>
                </a:solidFill>
                <a:latin typeface="Avenir Next Pro"/>
              </a:rPr>
              <a:t>Mismo patrimonio, mejor composición</a:t>
            </a:r>
            <a:endParaRPr lang="en-US" sz="1350">
              <a:latin typeface="Avenir Next Pr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3363" y="4229076"/>
            <a:ext cx="5483200" cy="146366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937">
            <a:solidFill>
              <a:srgbClr val="E2E1D6"/>
            </a:solidFill>
            <a:prstDash val="solid"/>
          </a:ln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7951" y="4446551"/>
            <a:ext cx="1490111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975" b="1" kern="0" spc="188">
                <a:solidFill>
                  <a:srgbClr val="6F7263"/>
                </a:solidFill>
                <a:latin typeface="Avenir Next Pro"/>
              </a:rPr>
              <a:t>FLUJO ESTIMADO</a:t>
            </a:r>
            <a:endParaRPr lang="en-US" sz="975">
              <a:latin typeface="Avenir Next Pro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951" y="4732301"/>
            <a:ext cx="3507098" cy="4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3150" b="1">
                <a:solidFill>
                  <a:srgbClr val="334F1B"/>
                </a:solidFill>
                <a:latin typeface="Avenir Next Pro"/>
              </a:rPr>
              <a:t>{{s17.monto6}}</a:t>
            </a:r>
            <a:endParaRPr lang="en-US" sz="3150">
              <a:latin typeface="Avenir Next Pro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7951" y="5227588"/>
            <a:ext cx="1642362" cy="20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76981"/>
              </a:lnSpc>
              <a:buNone/>
            </a:pPr>
            <a:r>
              <a:rPr lang="en-US" sz="1275">
                <a:solidFill>
                  <a:srgbClr val="6F7263"/>
                </a:solidFill>
                <a:latin typeface="Avenir Next Pro"/>
              </a:rPr>
              <a:t>{{s17.nombre}}</a:t>
            </a:r>
            <a:endParaRPr lang="en-US" sz="1275">
              <a:latin typeface="Avenir Next Pro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7951" y="5456163"/>
            <a:ext cx="20836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96"/>
              </a:lnSpc>
              <a:buNone/>
            </a:pPr>
            <a:r>
              <a:rPr lang="en-US" sz="1125">
                <a:solidFill>
                  <a:srgbClr val="8A8C7D"/>
                </a:solidFill>
                <a:latin typeface="Avenir Next Pro"/>
              </a:rPr>
              <a:t>Rentas, dividendos y cupones</a:t>
            </a:r>
            <a:endParaRPr lang="en-US" sz="1125">
              <a:latin typeface="Avenir Next Pro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65838" y="4732301"/>
            <a:ext cx="3406483" cy="3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800"/>
              </a:lnSpc>
              <a:buNone/>
            </a:pPr>
            <a:endParaRPr lang="en-US" sz="2400">
              <a:latin typeface="Avenir Next Pro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65838" y="5189513"/>
            <a:ext cx="4905375" cy="475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925"/>
              </a:lnSpc>
              <a:buNone/>
            </a:pPr>
            <a:endParaRPr lang="en-US" sz="1275">
              <a:latin typeface="Avenir Next Pr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33363" y="6096000"/>
            <a:ext cx="11125150" cy="9525"/>
          </a:xfrm>
          <a:prstGeom prst="rect">
            <a:avLst/>
          </a:prstGeom>
          <a:solidFill>
            <a:srgbClr val="E2E1D6"/>
          </a:solidFill>
          <a:ln/>
        </p:spPr>
        <p:txBody>
          <a:bodyPr/>
          <a:lstStyle/>
          <a:p>
            <a:endParaRPr lang="es-PE">
              <a:latin typeface="Avenir Next Pro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3363" y="6286500"/>
            <a:ext cx="4088953" cy="1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64"/>
              </a:lnSpc>
              <a:buNone/>
            </a:pPr>
            <a:r>
              <a:rPr lang="en-US" sz="1050">
                <a:solidFill>
                  <a:srgbClr val="8A8C7D"/>
                </a:solidFill>
                <a:latin typeface="Avenir Next Pro"/>
              </a:rPr>
              <a:t>Cifras estimadas por Sabbi. No constituyen garantía de rentabilidad futura.</a:t>
            </a:r>
            <a:endParaRPr lang="en-US" sz="1050">
              <a:latin typeface="Avenir Next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F46D0-F159-9150-F1B6-E392543A97AA}"/>
              </a:ext>
            </a:extLst>
          </p:cNvPr>
          <p:cNvSpPr txBox="1"/>
          <p:nvPr/>
        </p:nvSpPr>
        <p:spPr>
          <a:xfrm>
            <a:off x="942724" y="805650"/>
            <a:ext cx="7756624" cy="922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chemeClr val="bg1"/>
                </a:solidFill>
                <a:latin typeface="Avenir Next Pro"/>
              </a:rPr>
              <a:t>Cómo lo hacemos – </a:t>
            </a:r>
            <a:r>
              <a:rPr lang="es-ES_tradnl" sz="2696">
                <a:solidFill>
                  <a:srgbClr val="D5FF83"/>
                </a:solidFill>
                <a:latin typeface="Avenir Next Pro"/>
              </a:rPr>
              <a:t>y por qué pagas menos impuestos.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B37F40E-C99F-BF9A-EF2C-376E43493B37}"/>
              </a:ext>
            </a:extLst>
          </p:cNvPr>
          <p:cNvSpPr/>
          <p:nvPr/>
        </p:nvSpPr>
        <p:spPr>
          <a:xfrm>
            <a:off x="942725" y="1983999"/>
            <a:ext cx="3303850" cy="3357033"/>
          </a:xfrm>
          <a:prstGeom prst="roundRect">
            <a:avLst>
              <a:gd name="adj" fmla="val 3142"/>
            </a:avLst>
          </a:prstGeom>
          <a:solidFill>
            <a:srgbClr val="2D4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12399A-55F6-7C8D-687E-E7FF418B1A77}"/>
              </a:ext>
            </a:extLst>
          </p:cNvPr>
          <p:cNvSpPr/>
          <p:nvPr/>
        </p:nvSpPr>
        <p:spPr>
          <a:xfrm>
            <a:off x="4359720" y="1983999"/>
            <a:ext cx="3303850" cy="3357033"/>
          </a:xfrm>
          <a:prstGeom prst="roundRect">
            <a:avLst>
              <a:gd name="adj" fmla="val 3142"/>
            </a:avLst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91204-E742-1AF6-729E-3C8CD6141750}"/>
              </a:ext>
            </a:extLst>
          </p:cNvPr>
          <p:cNvSpPr txBox="1"/>
          <p:nvPr/>
        </p:nvSpPr>
        <p:spPr>
          <a:xfrm>
            <a:off x="1312335" y="3619728"/>
            <a:ext cx="2422391" cy="112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">
                <a:solidFill>
                  <a:schemeClr val="bg1"/>
                </a:solidFill>
                <a:latin typeface="Avenir Next Pro"/>
              </a:rPr>
              <a:t>No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elegimos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acciones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individualmente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. 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Usamos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la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inteligencia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de BlackRock y Vanguard para lo global, y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el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criterio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Sabbi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para lo local.</a:t>
            </a:r>
            <a:endParaRPr lang="es-ES_tradnl" sz="1348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CF68A-55F2-E8CD-9A19-6775DFD58925}"/>
              </a:ext>
            </a:extLst>
          </p:cNvPr>
          <p:cNvSpPr txBox="1"/>
          <p:nvPr/>
        </p:nvSpPr>
        <p:spPr>
          <a:xfrm>
            <a:off x="4697541" y="2460466"/>
            <a:ext cx="2724112" cy="444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1" b="1" err="1">
                <a:solidFill>
                  <a:schemeClr val="bg1"/>
                </a:solidFill>
                <a:latin typeface="Avenir Next Pro"/>
              </a:rPr>
              <a:t>Beneficio</a:t>
            </a:r>
            <a:r>
              <a:rPr lang="en-US" sz="2311" b="1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2311" b="1" err="1">
                <a:solidFill>
                  <a:schemeClr val="bg1"/>
                </a:solidFill>
                <a:latin typeface="Avenir Next Pro"/>
              </a:rPr>
              <a:t>tributario</a:t>
            </a:r>
            <a:endParaRPr lang="es-ES_tradnl" sz="2311" b="1">
              <a:solidFill>
                <a:srgbClr val="C3EE74"/>
              </a:solidFill>
              <a:latin typeface="Avenir Next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37428-9E4B-3A0C-A343-321637C0E789}"/>
              </a:ext>
            </a:extLst>
          </p:cNvPr>
          <p:cNvSpPr txBox="1"/>
          <p:nvPr/>
        </p:nvSpPr>
        <p:spPr>
          <a:xfrm>
            <a:off x="4697541" y="4494042"/>
            <a:ext cx="2422391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">
                <a:solidFill>
                  <a:schemeClr val="bg1"/>
                </a:solidFill>
                <a:latin typeface="Avenir Next Pro"/>
              </a:rPr>
              <a:t>Es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una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ganancia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de $100k: %23,750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más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en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tu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bolsillo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.</a:t>
            </a:r>
            <a:endParaRPr lang="es-ES_tradnl" sz="1348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C8AF8-8A4B-FE98-4C97-561739034B3F}"/>
              </a:ext>
            </a:extLst>
          </p:cNvPr>
          <p:cNvSpPr txBox="1"/>
          <p:nvPr/>
        </p:nvSpPr>
        <p:spPr>
          <a:xfrm>
            <a:off x="1312336" y="2374471"/>
            <a:ext cx="2563045" cy="1159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311" b="1">
                <a:solidFill>
                  <a:schemeClr val="bg1"/>
                </a:solidFill>
                <a:latin typeface="Avenir Next Pro"/>
              </a:rPr>
              <a:t>Gestores mundiales + </a:t>
            </a:r>
            <a:r>
              <a:rPr lang="es-ES_tradnl" sz="2311" b="1">
                <a:solidFill>
                  <a:srgbClr val="D5FF83"/>
                </a:solidFill>
                <a:latin typeface="Avenir Next Pro"/>
              </a:rPr>
              <a:t>SABBI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70BCC6-F254-F309-0F1A-89B1A9613348}"/>
              </a:ext>
            </a:extLst>
          </p:cNvPr>
          <p:cNvSpPr/>
          <p:nvPr/>
        </p:nvSpPr>
        <p:spPr>
          <a:xfrm>
            <a:off x="7780464" y="1983999"/>
            <a:ext cx="3303850" cy="3357033"/>
          </a:xfrm>
          <a:prstGeom prst="roundRect">
            <a:avLst>
              <a:gd name="adj" fmla="val 3142"/>
            </a:avLst>
          </a:prstGeom>
          <a:solidFill>
            <a:srgbClr val="426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5702B4-7509-7D63-8749-3C1BA2C6CDB4}"/>
              </a:ext>
            </a:extLst>
          </p:cNvPr>
          <p:cNvSpPr txBox="1"/>
          <p:nvPr/>
        </p:nvSpPr>
        <p:spPr>
          <a:xfrm>
            <a:off x="8118286" y="2460466"/>
            <a:ext cx="27241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1" b="1" err="1">
                <a:solidFill>
                  <a:schemeClr val="bg1"/>
                </a:solidFill>
                <a:latin typeface="Avenir Next Pro"/>
              </a:rPr>
              <a:t>Inversión</a:t>
            </a:r>
            <a:r>
              <a:rPr lang="es-ES_tradnl" sz="2311" b="1">
                <a:solidFill>
                  <a:srgbClr val="C3EE74"/>
                </a:solidFill>
                <a:latin typeface="Avenir Next Pro"/>
              </a:rPr>
              <a:t> </a:t>
            </a:r>
          </a:p>
          <a:p>
            <a:r>
              <a:rPr lang="es-ES_tradnl" sz="2311" b="1">
                <a:solidFill>
                  <a:srgbClr val="C3EE74"/>
                </a:solidFill>
                <a:latin typeface="Avenir Next Pro"/>
              </a:rPr>
              <a:t>gradual </a:t>
            </a:r>
            <a:endParaRPr lang="en-US" sz="2311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AFA8A-F5AE-158F-CE3D-5EBA045468A7}"/>
              </a:ext>
            </a:extLst>
          </p:cNvPr>
          <p:cNvSpPr txBox="1"/>
          <p:nvPr/>
        </p:nvSpPr>
        <p:spPr>
          <a:xfrm>
            <a:off x="8118286" y="3388989"/>
            <a:ext cx="2422391" cy="91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48">
                <a:solidFill>
                  <a:schemeClr val="bg1"/>
                </a:solidFill>
                <a:latin typeface="Avenir Next Pro"/>
              </a:rPr>
              <a:t>No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invertimos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todo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un solo día. 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Entramos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en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4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tramos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para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promediar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el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precio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 de </a:t>
            </a:r>
            <a:r>
              <a:rPr lang="en-US" sz="1348" err="1">
                <a:solidFill>
                  <a:schemeClr val="bg1"/>
                </a:solidFill>
                <a:latin typeface="Avenir Next Pro"/>
              </a:rPr>
              <a:t>compra</a:t>
            </a:r>
            <a:r>
              <a:rPr lang="en-US" sz="1348">
                <a:solidFill>
                  <a:schemeClr val="bg1"/>
                </a:solidFill>
                <a:latin typeface="Avenir Next Pro"/>
              </a:rPr>
              <a:t>.</a:t>
            </a:r>
            <a:endParaRPr lang="es-ES_tradnl" sz="1348" b="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3BF543F-BDA3-AD7F-BD95-4A4F8442A093}"/>
              </a:ext>
            </a:extLst>
          </p:cNvPr>
          <p:cNvSpPr/>
          <p:nvPr/>
        </p:nvSpPr>
        <p:spPr>
          <a:xfrm>
            <a:off x="4706867" y="3356583"/>
            <a:ext cx="2724112" cy="440267"/>
          </a:xfrm>
          <a:prstGeom prst="roundRect">
            <a:avLst/>
          </a:prstGeom>
          <a:solidFill>
            <a:srgbClr val="2D4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541">
                <a:latin typeface="Avenir Next Pro"/>
              </a:rPr>
              <a:t>Fuera de BVL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0A3E2E-2491-AEEE-2318-B881B7799B2D}"/>
              </a:ext>
            </a:extLst>
          </p:cNvPr>
          <p:cNvSpPr/>
          <p:nvPr/>
        </p:nvSpPr>
        <p:spPr>
          <a:xfrm>
            <a:off x="4706867" y="3893857"/>
            <a:ext cx="2724112" cy="440267"/>
          </a:xfrm>
          <a:prstGeom prst="roundRect">
            <a:avLst/>
          </a:prstGeom>
          <a:solidFill>
            <a:srgbClr val="D5F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541">
                <a:solidFill>
                  <a:srgbClr val="15210B"/>
                </a:solidFill>
                <a:latin typeface="Avenir Next Pro"/>
              </a:rPr>
              <a:t>Vía BVL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C8B1B7-92AF-C229-E2BD-E751C5373540}"/>
              </a:ext>
            </a:extLst>
          </p:cNvPr>
          <p:cNvSpPr txBox="1"/>
          <p:nvPr/>
        </p:nvSpPr>
        <p:spPr>
          <a:xfrm>
            <a:off x="6647953" y="3435526"/>
            <a:ext cx="66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b="1">
                <a:solidFill>
                  <a:schemeClr val="bg1"/>
                </a:solidFill>
                <a:latin typeface="Avenir Next Pro"/>
              </a:rPr>
              <a:t>30%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FD99D2-A5B5-5BA1-218F-D17BF44066D3}"/>
              </a:ext>
            </a:extLst>
          </p:cNvPr>
          <p:cNvSpPr txBox="1"/>
          <p:nvPr/>
        </p:nvSpPr>
        <p:spPr>
          <a:xfrm>
            <a:off x="6293615" y="3942953"/>
            <a:ext cx="101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b="1">
                <a:solidFill>
                  <a:srgbClr val="2D4417"/>
                </a:solidFill>
                <a:latin typeface="Avenir Next Pro"/>
              </a:rPr>
              <a:t>6.25%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BF6062BE-9A76-E83C-FFB6-79FA49C2E645}"/>
              </a:ext>
            </a:extLst>
          </p:cNvPr>
          <p:cNvSpPr/>
          <p:nvPr/>
        </p:nvSpPr>
        <p:spPr>
          <a:xfrm>
            <a:off x="8167106" y="4394746"/>
            <a:ext cx="939048" cy="443521"/>
          </a:xfrm>
          <a:prstGeom prst="round2SameRect">
            <a:avLst/>
          </a:prstGeom>
          <a:solidFill>
            <a:srgbClr val="D5F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48">
                <a:solidFill>
                  <a:srgbClr val="2D4417"/>
                </a:solidFill>
                <a:latin typeface="Avenir Next Pro"/>
              </a:rPr>
              <a:t>40%</a:t>
            </a:r>
          </a:p>
        </p:txBody>
      </p:sp>
      <p:sp>
        <p:nvSpPr>
          <p:cNvPr id="25" name="Round Same Side Corner Rectangle 24">
            <a:extLst>
              <a:ext uri="{FF2B5EF4-FFF2-40B4-BE49-F238E27FC236}">
                <a16:creationId xmlns:a16="http://schemas.microsoft.com/office/drawing/2014/main" id="{407D3B47-3B2B-D715-9B49-90EFE110307E}"/>
              </a:ext>
            </a:extLst>
          </p:cNvPr>
          <p:cNvSpPr/>
          <p:nvPr/>
        </p:nvSpPr>
        <p:spPr>
          <a:xfrm>
            <a:off x="9143833" y="4567338"/>
            <a:ext cx="585707" cy="270929"/>
          </a:xfrm>
          <a:prstGeom prst="round2SameRect">
            <a:avLst/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48">
                <a:solidFill>
                  <a:srgbClr val="426421"/>
                </a:solidFill>
                <a:latin typeface="Avenir Next Pro"/>
              </a:rPr>
              <a:t>20%</a:t>
            </a:r>
          </a:p>
        </p:txBody>
      </p:sp>
      <p:sp>
        <p:nvSpPr>
          <p:cNvPr id="26" name="Round Same Side Corner Rectangle 25">
            <a:extLst>
              <a:ext uri="{FF2B5EF4-FFF2-40B4-BE49-F238E27FC236}">
                <a16:creationId xmlns:a16="http://schemas.microsoft.com/office/drawing/2014/main" id="{4600B828-9698-FD0E-B500-BB98F83BD800}"/>
              </a:ext>
            </a:extLst>
          </p:cNvPr>
          <p:cNvSpPr/>
          <p:nvPr/>
        </p:nvSpPr>
        <p:spPr>
          <a:xfrm>
            <a:off x="9765386" y="4567338"/>
            <a:ext cx="585707" cy="270929"/>
          </a:xfrm>
          <a:prstGeom prst="round2SameRect">
            <a:avLst/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48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09C5442-ED9E-86FD-E94E-83CBC7CD172F}"/>
              </a:ext>
            </a:extLst>
          </p:cNvPr>
          <p:cNvSpPr/>
          <p:nvPr/>
        </p:nvSpPr>
        <p:spPr>
          <a:xfrm>
            <a:off x="10386940" y="4567338"/>
            <a:ext cx="480025" cy="270929"/>
          </a:xfrm>
          <a:prstGeom prst="round2SameRect">
            <a:avLst/>
          </a:prstGeom>
          <a:solidFill>
            <a:srgbClr val="3957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48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1565A0-2A35-2662-EBEC-68EBA77B4902}"/>
              </a:ext>
            </a:extLst>
          </p:cNvPr>
          <p:cNvSpPr txBox="1"/>
          <p:nvPr/>
        </p:nvSpPr>
        <p:spPr>
          <a:xfrm>
            <a:off x="8167106" y="4909486"/>
            <a:ext cx="939048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59">
                <a:solidFill>
                  <a:srgbClr val="2D4417"/>
                </a:solidFill>
                <a:latin typeface="Avenir Next Pro"/>
              </a:rPr>
              <a:t>Mes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F03EC5-B8E3-9188-0E50-6ACD4E5DD0FD}"/>
              </a:ext>
            </a:extLst>
          </p:cNvPr>
          <p:cNvSpPr txBox="1"/>
          <p:nvPr/>
        </p:nvSpPr>
        <p:spPr>
          <a:xfrm>
            <a:off x="9158632" y="4909486"/>
            <a:ext cx="570908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59">
                <a:solidFill>
                  <a:srgbClr val="2D4417"/>
                </a:solidFill>
                <a:latin typeface="Avenir Next Pro"/>
              </a:rPr>
              <a:t>M2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9F6AC8-7F8A-C379-AB98-C990AA15EAE4}"/>
              </a:ext>
            </a:extLst>
          </p:cNvPr>
          <p:cNvSpPr txBox="1"/>
          <p:nvPr/>
        </p:nvSpPr>
        <p:spPr>
          <a:xfrm>
            <a:off x="9780185" y="4909486"/>
            <a:ext cx="570908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59">
                <a:solidFill>
                  <a:srgbClr val="2D4417"/>
                </a:solidFill>
                <a:latin typeface="Avenir Next Pro"/>
              </a:rPr>
              <a:t>M3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9C1D02-B47B-A8AB-6AD8-B1420F2A6C06}"/>
              </a:ext>
            </a:extLst>
          </p:cNvPr>
          <p:cNvSpPr txBox="1"/>
          <p:nvPr/>
        </p:nvSpPr>
        <p:spPr>
          <a:xfrm>
            <a:off x="10357342" y="4909486"/>
            <a:ext cx="570908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59">
                <a:solidFill>
                  <a:srgbClr val="2D4417"/>
                </a:solidFill>
                <a:latin typeface="Avenir Next Pro"/>
              </a:rPr>
              <a:t>M4</a:t>
            </a:r>
          </a:p>
        </p:txBody>
      </p:sp>
    </p:spTree>
    <p:extLst>
      <p:ext uri="{BB962C8B-B14F-4D97-AF65-F5344CB8AC3E}">
        <p14:creationId xmlns:p14="http://schemas.microsoft.com/office/powerpoint/2010/main" val="74253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E0DC8-E480-9E09-1F7D-7D601B74A75C}"/>
              </a:ext>
            </a:extLst>
          </p:cNvPr>
          <p:cNvSpPr txBox="1"/>
          <p:nvPr/>
        </p:nvSpPr>
        <p:spPr>
          <a:xfrm>
            <a:off x="942724" y="805650"/>
            <a:ext cx="7756624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</a:rPr>
              <a:t>El plan está listo, ¿qué sigue?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F5B8F-D9E1-DC08-757A-EB5E06CFD04E}"/>
              </a:ext>
            </a:extLst>
          </p:cNvPr>
          <p:cNvSpPr txBox="1"/>
          <p:nvPr/>
        </p:nvSpPr>
        <p:spPr>
          <a:xfrm>
            <a:off x="942723" y="1348919"/>
            <a:ext cx="5270057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Si todo hace sentido los próximos pasos son simples.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CE5AD28-6F61-30AB-7501-D0FB6A8C5A99}"/>
              </a:ext>
            </a:extLst>
          </p:cNvPr>
          <p:cNvSpPr/>
          <p:nvPr/>
        </p:nvSpPr>
        <p:spPr>
          <a:xfrm>
            <a:off x="1077090" y="1932600"/>
            <a:ext cx="3319725" cy="2072889"/>
          </a:xfrm>
          <a:prstGeom prst="roundRect">
            <a:avLst>
              <a:gd name="adj" fmla="val 7500"/>
            </a:avLst>
          </a:prstGeom>
          <a:solidFill>
            <a:srgbClr val="D5F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6F6E8C-5E8B-59F5-D3A6-C165C01F2716}"/>
              </a:ext>
            </a:extLst>
          </p:cNvPr>
          <p:cNvSpPr/>
          <p:nvPr/>
        </p:nvSpPr>
        <p:spPr>
          <a:xfrm>
            <a:off x="4548698" y="1932600"/>
            <a:ext cx="3319725" cy="2072889"/>
          </a:xfrm>
          <a:prstGeom prst="roundRect">
            <a:avLst>
              <a:gd name="adj" fmla="val 7500"/>
            </a:avLst>
          </a:prstGeom>
          <a:solidFill>
            <a:srgbClr val="426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7DFD7C-8E3D-39AF-7681-5C9605D7C284}"/>
              </a:ext>
            </a:extLst>
          </p:cNvPr>
          <p:cNvSpPr/>
          <p:nvPr/>
        </p:nvSpPr>
        <p:spPr>
          <a:xfrm>
            <a:off x="7998608" y="1932600"/>
            <a:ext cx="3319725" cy="2072889"/>
          </a:xfrm>
          <a:prstGeom prst="roundRect">
            <a:avLst>
              <a:gd name="adj" fmla="val 7500"/>
            </a:avLst>
          </a:prstGeom>
          <a:solidFill>
            <a:srgbClr val="2D4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D603A-324B-1449-12D2-3A4EF91024CA}"/>
              </a:ext>
            </a:extLst>
          </p:cNvPr>
          <p:cNvSpPr txBox="1"/>
          <p:nvPr/>
        </p:nvSpPr>
        <p:spPr>
          <a:xfrm>
            <a:off x="1201106" y="1966905"/>
            <a:ext cx="1535846" cy="740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237">
                <a:solidFill>
                  <a:srgbClr val="39571D"/>
                </a:solidFill>
                <a:latin typeface="Avenir Next Pr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FFB80-06A6-949C-6617-DA0E46D15146}"/>
              </a:ext>
            </a:extLst>
          </p:cNvPr>
          <p:cNvSpPr txBox="1"/>
          <p:nvPr/>
        </p:nvSpPr>
        <p:spPr>
          <a:xfrm>
            <a:off x="4666062" y="1966905"/>
            <a:ext cx="1535846" cy="740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237">
                <a:solidFill>
                  <a:srgbClr val="D5FF83"/>
                </a:solidFill>
                <a:latin typeface="Avenir Next Pro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FFB55-C532-1AC8-A299-987A6A6CA774}"/>
              </a:ext>
            </a:extLst>
          </p:cNvPr>
          <p:cNvSpPr txBox="1"/>
          <p:nvPr/>
        </p:nvSpPr>
        <p:spPr>
          <a:xfrm>
            <a:off x="8073840" y="1966905"/>
            <a:ext cx="1535846" cy="740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237">
                <a:solidFill>
                  <a:srgbClr val="D5FF83"/>
                </a:solidFill>
                <a:latin typeface="Avenir Next Pro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50968-1E8D-086C-1430-D9728901D4BC}"/>
              </a:ext>
            </a:extLst>
          </p:cNvPr>
          <p:cNvSpPr txBox="1"/>
          <p:nvPr/>
        </p:nvSpPr>
        <p:spPr>
          <a:xfrm>
            <a:off x="1328670" y="2707848"/>
            <a:ext cx="2881746" cy="859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6" b="1" err="1">
                <a:solidFill>
                  <a:srgbClr val="2D4417"/>
                </a:solidFill>
                <a:latin typeface="Avenir Next Pro"/>
              </a:rPr>
              <a:t>Confirmas</a:t>
            </a:r>
            <a:endParaRPr lang="en-US" sz="1926" b="1">
              <a:solidFill>
                <a:srgbClr val="2D4417"/>
              </a:solidFill>
              <a:latin typeface="Avenir Next Pro"/>
            </a:endParaRPr>
          </a:p>
          <a:p>
            <a:r>
              <a:rPr lang="en-US" sz="1541">
                <a:solidFill>
                  <a:srgbClr val="2D4417"/>
                </a:solidFill>
                <a:latin typeface="Avenir Next Pro"/>
              </a:rPr>
              <a:t>Nos dices que </a:t>
            </a:r>
            <a:r>
              <a:rPr lang="en-US" sz="1541" err="1">
                <a:solidFill>
                  <a:srgbClr val="2D4417"/>
                </a:solidFill>
                <a:latin typeface="Avenir Next Pro"/>
              </a:rPr>
              <a:t>quieres</a:t>
            </a:r>
            <a:r>
              <a:rPr lang="en-US" sz="1541">
                <a:solidFill>
                  <a:srgbClr val="2D4417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2D4417"/>
                </a:solidFill>
                <a:latin typeface="Avenir Next Pro"/>
              </a:rPr>
              <a:t>avanzar</a:t>
            </a:r>
            <a:r>
              <a:rPr lang="en-US" sz="1541">
                <a:solidFill>
                  <a:srgbClr val="2D4417"/>
                </a:solidFill>
                <a:latin typeface="Avenir Next Pro"/>
              </a:rPr>
              <a:t> - hoy o </a:t>
            </a:r>
            <a:r>
              <a:rPr lang="en-US" sz="1541" err="1">
                <a:solidFill>
                  <a:srgbClr val="2D4417"/>
                </a:solidFill>
                <a:latin typeface="Avenir Next Pro"/>
              </a:rPr>
              <a:t>esta</a:t>
            </a:r>
            <a:r>
              <a:rPr lang="en-US" sz="1541">
                <a:solidFill>
                  <a:srgbClr val="2D4417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2D4417"/>
                </a:solidFill>
                <a:latin typeface="Avenir Next Pro"/>
              </a:rPr>
              <a:t>semana</a:t>
            </a:r>
            <a:r>
              <a:rPr lang="en-US" sz="1541">
                <a:solidFill>
                  <a:srgbClr val="2D4417"/>
                </a:solidFill>
                <a:latin typeface="Avenir Next Pro"/>
              </a:rPr>
              <a:t>.</a:t>
            </a:r>
            <a:endParaRPr lang="es-ES_tradnl" sz="154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92FC4-E577-EFE3-082A-B2853E8B8642}"/>
              </a:ext>
            </a:extLst>
          </p:cNvPr>
          <p:cNvSpPr txBox="1"/>
          <p:nvPr/>
        </p:nvSpPr>
        <p:spPr>
          <a:xfrm>
            <a:off x="4770755" y="2707848"/>
            <a:ext cx="2881746" cy="85949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n-US" sz="1926" err="1">
                <a:solidFill>
                  <a:schemeClr val="bg1"/>
                </a:solidFill>
                <a:latin typeface="Avenir Next Pro"/>
              </a:rPr>
              <a:t>Coordinamos</a:t>
            </a:r>
            <a:r>
              <a:rPr lang="en-US" i="0" u="none" strike="noStrike">
                <a:solidFill>
                  <a:schemeClr val="bg1"/>
                </a:solidFill>
                <a:effectLst/>
                <a:latin typeface="Avenir Next Pro"/>
              </a:rPr>
              <a:t> </a:t>
            </a:r>
            <a:endParaRPr lang="es-ES_tradnl">
              <a:solidFill>
                <a:schemeClr val="bg1"/>
              </a:solidFill>
              <a:latin typeface="Avenir Next Pro"/>
            </a:endParaRPr>
          </a:p>
          <a:p>
            <a:r>
              <a:rPr lang="en-US" sz="1541" err="1">
                <a:solidFill>
                  <a:schemeClr val="bg1"/>
                </a:solidFill>
                <a:latin typeface="Avenir Next Pro"/>
              </a:rPr>
              <a:t>Instrucciones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 de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venta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 y apertura de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cuentas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.</a:t>
            </a:r>
            <a:endParaRPr lang="es-ES_tradnl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5C8423-D40E-717B-89F0-6A41368D786B}"/>
              </a:ext>
            </a:extLst>
          </p:cNvPr>
          <p:cNvSpPr txBox="1"/>
          <p:nvPr/>
        </p:nvSpPr>
        <p:spPr>
          <a:xfrm>
            <a:off x="8189968" y="2707848"/>
            <a:ext cx="2881746" cy="840145"/>
          </a:xfrm>
          <a:prstGeom prst="rect">
            <a:avLst/>
          </a:prstGeom>
          <a:noFill/>
        </p:spPr>
        <p:txBody>
          <a:bodyPr wrap="square" lIns="88053" tIns="44027" rIns="88053" bIns="44027" rtlCol="0" anchor="t">
            <a:spAutoFit/>
          </a:bodyPr>
          <a:lstStyle/>
          <a:p>
            <a:r>
              <a:rPr lang="en-US" b="1" i="0" u="none" strike="noStrike">
                <a:solidFill>
                  <a:schemeClr val="bg1"/>
                </a:solidFill>
                <a:effectLst/>
                <a:latin typeface="Avenir Next Pro"/>
              </a:rPr>
              <a:t>Primer </a:t>
            </a:r>
            <a:r>
              <a:rPr lang="en-US" b="1" i="0" u="none" strike="noStrike" err="1">
                <a:solidFill>
                  <a:schemeClr val="bg1"/>
                </a:solidFill>
                <a:effectLst/>
                <a:latin typeface="Avenir Next Pro"/>
              </a:rPr>
              <a:t>tramo</a:t>
            </a:r>
            <a:r>
              <a:rPr lang="en-US" b="1" i="0" u="none" strike="noStrike">
                <a:solidFill>
                  <a:schemeClr val="bg1"/>
                </a:solidFill>
                <a:effectLst/>
                <a:latin typeface="Avenir Next Pro"/>
              </a:rPr>
              <a:t> </a:t>
            </a:r>
            <a:r>
              <a:rPr lang="en-US" b="1" i="0" u="none" strike="noStrike" err="1">
                <a:solidFill>
                  <a:schemeClr val="bg1"/>
                </a:solidFill>
                <a:effectLst/>
                <a:latin typeface="Avenir Next Pro"/>
              </a:rPr>
              <a:t>invertido</a:t>
            </a:r>
            <a:r>
              <a:rPr lang="en-US" b="1" i="0" u="none" strike="noStrike">
                <a:solidFill>
                  <a:schemeClr val="bg1"/>
                </a:solidFill>
                <a:effectLst/>
                <a:latin typeface="Avenir Next Pro"/>
              </a:rPr>
              <a:t> </a:t>
            </a:r>
          </a:p>
          <a:p>
            <a:r>
              <a:rPr lang="en-US" sz="1541">
                <a:solidFill>
                  <a:schemeClr val="bg1"/>
                </a:solidFill>
                <a:latin typeface="Avenir Next Pro"/>
              </a:rPr>
              <a:t>En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los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 primeros días. El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portafolio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empieza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 a </a:t>
            </a:r>
            <a:r>
              <a:rPr lang="en-US" sz="1541" err="1">
                <a:solidFill>
                  <a:schemeClr val="bg1"/>
                </a:solidFill>
                <a:latin typeface="Avenir Next Pro"/>
              </a:rPr>
              <a:t>trabajar</a:t>
            </a:r>
            <a:r>
              <a:rPr lang="en-US" sz="1541">
                <a:solidFill>
                  <a:schemeClr val="bg1"/>
                </a:solidFill>
                <a:latin typeface="Avenir Next Pro"/>
              </a:rPr>
              <a:t>.</a:t>
            </a:r>
            <a:endParaRPr lang="es-ES_tradnl" sz="1541">
              <a:solidFill>
                <a:schemeClr val="bg1"/>
              </a:solidFill>
              <a:latin typeface="Avenir Nex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C312B-72AE-0FC1-D01D-9AAA074549F2}"/>
              </a:ext>
            </a:extLst>
          </p:cNvPr>
          <p:cNvSpPr txBox="1"/>
          <p:nvPr/>
        </p:nvSpPr>
        <p:spPr>
          <a:xfrm>
            <a:off x="1201106" y="4238226"/>
            <a:ext cx="10117227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0" u="none" strike="noStrike" err="1">
                <a:solidFill>
                  <a:srgbClr val="2D4417"/>
                </a:solidFill>
                <a:effectLst/>
                <a:latin typeface="Avenir Next Pro"/>
              </a:rPr>
              <a:t>Acompañamiento</a:t>
            </a:r>
            <a:r>
              <a:rPr lang="en-US" i="0" u="none" strike="noStrike">
                <a:solidFill>
                  <a:srgbClr val="2D4417"/>
                </a:solidFill>
                <a:effectLst/>
                <a:latin typeface="Avenir Next Pro"/>
              </a:rPr>
              <a:t> continuo de </a:t>
            </a:r>
            <a:r>
              <a:rPr lang="en-US" i="0" u="none" strike="noStrike" err="1">
                <a:solidFill>
                  <a:srgbClr val="2D4417"/>
                </a:solidFill>
                <a:effectLst/>
                <a:latin typeface="Avenir Next Pro"/>
              </a:rPr>
              <a:t>Sabbi</a:t>
            </a:r>
            <a:r>
              <a:rPr lang="en-US" i="0" u="none" strike="noStrike">
                <a:solidFill>
                  <a:srgbClr val="2D4417"/>
                </a:solidFill>
                <a:effectLst/>
                <a:latin typeface="Avenir Next Pro"/>
              </a:rPr>
              <a:t>: </a:t>
            </a:r>
          </a:p>
          <a:p>
            <a:pPr algn="ctr">
              <a:lnSpc>
                <a:spcPct val="150000"/>
              </a:lnSpc>
            </a:pP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✓ </a:t>
            </a:r>
            <a:r>
              <a:rPr lang="en-US" b="1" i="0" u="none" strike="noStrike" err="1">
                <a:solidFill>
                  <a:srgbClr val="2D4417"/>
                </a:solidFill>
                <a:effectLst/>
                <a:latin typeface="Avenir Next Pro"/>
              </a:rPr>
              <a:t>Implementación</a:t>
            </a: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 </a:t>
            </a:r>
            <a:r>
              <a:rPr lang="en-US" b="1" i="0" u="none" strike="noStrike" err="1">
                <a:solidFill>
                  <a:srgbClr val="2D4417"/>
                </a:solidFill>
                <a:effectLst/>
                <a:latin typeface="Avenir Next Pro"/>
              </a:rPr>
              <a:t>guiada</a:t>
            </a: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      ✓ </a:t>
            </a:r>
            <a:r>
              <a:rPr lang="en-US" b="1" i="0" u="none" strike="noStrike" err="1">
                <a:solidFill>
                  <a:srgbClr val="2D4417"/>
                </a:solidFill>
                <a:effectLst/>
                <a:latin typeface="Avenir Next Pro"/>
              </a:rPr>
              <a:t>Rebalanceos</a:t>
            </a: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 </a:t>
            </a:r>
            <a:r>
              <a:rPr lang="en-US" b="1" i="0" u="none" strike="noStrike" err="1">
                <a:solidFill>
                  <a:srgbClr val="2D4417"/>
                </a:solidFill>
                <a:effectLst/>
                <a:latin typeface="Avenir Next Pro"/>
              </a:rPr>
              <a:t>periódicos</a:t>
            </a: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        ✓ </a:t>
            </a:r>
            <a:r>
              <a:rPr lang="en-US" b="1" i="0" u="none" strike="noStrike" err="1">
                <a:solidFill>
                  <a:srgbClr val="2D4417"/>
                </a:solidFill>
                <a:effectLst/>
                <a:latin typeface="Avenir Next Pro"/>
              </a:rPr>
              <a:t>Acceso</a:t>
            </a:r>
            <a:r>
              <a:rPr lang="en-US" b="1" i="0" u="none" strike="noStrike">
                <a:solidFill>
                  <a:srgbClr val="2D4417"/>
                </a:solidFill>
                <a:effectLst/>
                <a:latin typeface="Avenir Next Pro"/>
              </a:rPr>
              <a:t> a dashboard </a:t>
            </a:r>
          </a:p>
          <a:p>
            <a:pPr algn="ctr">
              <a:lnSpc>
                <a:spcPct val="150000"/>
              </a:lnSpc>
            </a:pPr>
            <a:endParaRPr lang="es-ES_tradnl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7A6BEC-D6F4-6158-3366-DCCE301EE888}"/>
              </a:ext>
            </a:extLst>
          </p:cNvPr>
          <p:cNvSpPr txBox="1"/>
          <p:nvPr/>
        </p:nvSpPr>
        <p:spPr>
          <a:xfrm>
            <a:off x="1201106" y="5435016"/>
            <a:ext cx="8673825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41">
                <a:solidFill>
                  <a:srgbClr val="000000"/>
                </a:solidFill>
                <a:latin typeface="Avenir Next Pro"/>
              </a:rPr>
              <a:t>Si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prefieres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implementarlo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de forma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independiente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,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te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dejamos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el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detalle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completo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por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 </a:t>
            </a:r>
            <a:r>
              <a:rPr lang="en-US" sz="1541" err="1">
                <a:solidFill>
                  <a:srgbClr val="000000"/>
                </a:solidFill>
                <a:latin typeface="Avenir Next Pro"/>
              </a:rPr>
              <a:t>escrito</a:t>
            </a:r>
            <a:r>
              <a:rPr lang="en-US" sz="1541">
                <a:solidFill>
                  <a:srgbClr val="000000"/>
                </a:solidFill>
                <a:latin typeface="Avenir Next Pro"/>
              </a:rPr>
              <a:t>.</a:t>
            </a:r>
            <a:endParaRPr lang="es-ES_tradnl" sz="1541">
              <a:latin typeface="Avenir Next Pro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F86C752-8AEB-B31B-A637-ED1D442C5A70}"/>
              </a:ext>
            </a:extLst>
          </p:cNvPr>
          <p:cNvSpPr/>
          <p:nvPr/>
        </p:nvSpPr>
        <p:spPr>
          <a:xfrm>
            <a:off x="1850734" y="4727894"/>
            <a:ext cx="2920021" cy="353892"/>
          </a:xfrm>
          <a:prstGeom prst="roundRect">
            <a:avLst>
              <a:gd name="adj" fmla="val 50000"/>
            </a:avLst>
          </a:prstGeom>
          <a:noFill/>
          <a:ln>
            <a:solidFill>
              <a:srgbClr val="426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E21EF3-EE79-9906-1046-572BCE1F8DB7}"/>
              </a:ext>
            </a:extLst>
          </p:cNvPr>
          <p:cNvSpPr/>
          <p:nvPr/>
        </p:nvSpPr>
        <p:spPr>
          <a:xfrm>
            <a:off x="4881622" y="4727894"/>
            <a:ext cx="2986801" cy="353892"/>
          </a:xfrm>
          <a:prstGeom prst="roundRect">
            <a:avLst>
              <a:gd name="adj" fmla="val 50000"/>
            </a:avLst>
          </a:prstGeom>
          <a:noFill/>
          <a:ln>
            <a:solidFill>
              <a:srgbClr val="426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D93A5AF-E867-CC9B-178B-CFDA8535E0CD}"/>
              </a:ext>
            </a:extLst>
          </p:cNvPr>
          <p:cNvSpPr/>
          <p:nvPr/>
        </p:nvSpPr>
        <p:spPr>
          <a:xfrm>
            <a:off x="8005197" y="4727894"/>
            <a:ext cx="2669406" cy="353892"/>
          </a:xfrm>
          <a:prstGeom prst="roundRect">
            <a:avLst>
              <a:gd name="adj" fmla="val 50000"/>
            </a:avLst>
          </a:prstGeom>
          <a:noFill/>
          <a:ln>
            <a:solidFill>
              <a:srgbClr val="4264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</p:spTree>
    <p:extLst>
      <p:ext uri="{BB962C8B-B14F-4D97-AF65-F5344CB8AC3E}">
        <p14:creationId xmlns:p14="http://schemas.microsoft.com/office/powerpoint/2010/main" val="1357815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F4067-BBB8-5683-44CA-797C761FFF61}"/>
              </a:ext>
            </a:extLst>
          </p:cNvPr>
          <p:cNvSpPr txBox="1"/>
          <p:nvPr/>
        </p:nvSpPr>
        <p:spPr>
          <a:xfrm>
            <a:off x="11172730" y="24281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>
              <a:latin typeface="Avenir Nex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1D01B-1FB1-5C15-7B30-EEE5E267E38A}"/>
              </a:ext>
            </a:extLst>
          </p:cNvPr>
          <p:cNvSpPr txBox="1"/>
          <p:nvPr/>
        </p:nvSpPr>
        <p:spPr>
          <a:xfrm>
            <a:off x="942724" y="805650"/>
            <a:ext cx="7756624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</a:rPr>
              <a:t>¿En qué exactamente va mi dinero?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C9047-E402-771B-7D91-9A1492D8C3C8}"/>
              </a:ext>
            </a:extLst>
          </p:cNvPr>
          <p:cNvSpPr/>
          <p:nvPr/>
        </p:nvSpPr>
        <p:spPr>
          <a:xfrm>
            <a:off x="10185463" y="5510004"/>
            <a:ext cx="1502028" cy="907216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056C960E-CA8C-F39D-6006-7332DC9D5AC8}"/>
              </a:ext>
            </a:extLst>
          </p:cNvPr>
          <p:cNvSpPr/>
          <p:nvPr/>
        </p:nvSpPr>
        <p:spPr>
          <a:xfrm>
            <a:off x="1328738" y="1958340"/>
            <a:ext cx="9479280" cy="381000"/>
          </a:xfrm>
          <a:prstGeom prst="round2SameRect">
            <a:avLst/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60846-A6DC-D410-0463-9AC7994B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35163"/>
              </p:ext>
            </p:extLst>
          </p:nvPr>
        </p:nvGraphicFramePr>
        <p:xfrm>
          <a:off x="1328975" y="1957987"/>
          <a:ext cx="9479280" cy="413262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Instrumento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Descripción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Monto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{{s20.nombre}}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Propósito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{{s20.nombre2}}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  <a:latin typeface="Avenir Next Pro"/>
                        </a:rPr>
                        <a:t>{{s20.nombre3}}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{{s20.monto}}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{{s20.pct}}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{{s20.nombre5}}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{{s20.nombre6}}</a:t>
                      </a:r>
                    </a:p>
                    <a:p>
                      <a:r>
                        <a:rPr lang="en-US" sz="750">
                          <a:solidFill>
                            <a:srgbClr val="334F1B"/>
                          </a:solidFill>
                          <a:latin typeface="Avenir Next Pro"/>
                        </a:rPr>
                        <a:t>ya tenía {{s20.monto5}}, objetivo {{s20.monto6}}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{{s20.pct2}}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{{s20.nombre9}}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{{s20.nombre10}}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{{s20.pct3}}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{{s20.nombre11}}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{{s20.nombre13}}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{{s20.nombre14}}</a:t>
                      </a:r>
                    </a:p>
                    <a:p>
                      <a:r>
                        <a:rPr lang="en-US" sz="750">
                          <a:solidFill>
                            <a:srgbClr val="334F1B"/>
                          </a:solidFill>
                          <a:latin typeface="Avenir Next Pro"/>
                        </a:rPr>
                        <a:t>ya tenía {{s20.monto9}}, objetivo {{s20.monto10}}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{{s20.monto11}}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{{s20.pct4}}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{{s20.monto12}}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{{s20.monto13}}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{{s20.monto14}}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{{s20.pct5}}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{{s20.nombre18}}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AD2B61-DAA3-F5E7-5F4D-835D0BE5E555}"/>
              </a:ext>
            </a:extLst>
          </p:cNvPr>
          <p:cNvSpPr txBox="1"/>
          <p:nvPr/>
        </p:nvSpPr>
        <p:spPr>
          <a:xfrm>
            <a:off x="942722" y="1348919"/>
            <a:ext cx="6387679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Cada instrumento tiene un propósito claro dentro del portafolio.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894FFC-5D20-78C5-1461-4FBF55588F24}"/>
              </a:ext>
            </a:extLst>
          </p:cNvPr>
          <p:cNvSpPr/>
          <p:nvPr/>
        </p:nvSpPr>
        <p:spPr>
          <a:xfrm>
            <a:off x="9985339" y="463817"/>
            <a:ext cx="880533" cy="306852"/>
          </a:xfrm>
          <a:prstGeom prst="roundRect">
            <a:avLst/>
          </a:prstGeom>
          <a:solidFill>
            <a:srgbClr val="F4F4EF"/>
          </a:solidFill>
          <a:ln>
            <a:solidFill>
              <a:srgbClr val="2D4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541">
                <a:solidFill>
                  <a:srgbClr val="2D4417"/>
                </a:solidFill>
                <a:latin typeface="Avenir Next Pro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564261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F4067-BBB8-5683-44CA-797C761FFF61}"/>
              </a:ext>
            </a:extLst>
          </p:cNvPr>
          <p:cNvSpPr txBox="1"/>
          <p:nvPr/>
        </p:nvSpPr>
        <p:spPr>
          <a:xfrm>
            <a:off x="11172730" y="24281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>
              <a:latin typeface="Avenir Nex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1D01B-1FB1-5C15-7B30-EEE5E267E38A}"/>
              </a:ext>
            </a:extLst>
          </p:cNvPr>
          <p:cNvSpPr txBox="1"/>
          <p:nvPr/>
        </p:nvSpPr>
        <p:spPr>
          <a:xfrm>
            <a:off x="942724" y="805650"/>
            <a:ext cx="7756624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</a:rPr>
              <a:t>¿En qué exactamente va mi dinero?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C9047-E402-771B-7D91-9A1492D8C3C8}"/>
              </a:ext>
            </a:extLst>
          </p:cNvPr>
          <p:cNvSpPr/>
          <p:nvPr/>
        </p:nvSpPr>
        <p:spPr>
          <a:xfrm>
            <a:off x="10185463" y="5510004"/>
            <a:ext cx="1502028" cy="907216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056C960E-CA8C-F39D-6006-7332DC9D5AC8}"/>
              </a:ext>
            </a:extLst>
          </p:cNvPr>
          <p:cNvSpPr/>
          <p:nvPr/>
        </p:nvSpPr>
        <p:spPr>
          <a:xfrm>
            <a:off x="1328738" y="1958340"/>
            <a:ext cx="9479280" cy="381000"/>
          </a:xfrm>
          <a:prstGeom prst="round2SameRect">
            <a:avLst/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60846-A6DC-D410-0463-9AC7994B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35163"/>
              </p:ext>
            </p:extLst>
          </p:nvPr>
        </p:nvGraphicFramePr>
        <p:xfrm>
          <a:off x="1328975" y="1957987"/>
          <a:ext cx="9479280" cy="413262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Instrumento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Descripción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Monto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{{s21.nombre}}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Propósito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{{s21.nombre2}}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  <a:latin typeface="Avenir Next Pro"/>
                        </a:rPr>
                        <a:t>{{s21.nombre3}}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{{s21.nombre4}}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{{s21.monto}}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{{s21.pct}}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  <a:latin typeface="Avenir Next Pro"/>
                        </a:rPr>
                        <a:t>{{s21.nombre5}}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{{s21.nombre6}}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{{s21.nombre7}}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{{s21.monto2}}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{{s21.pct2}}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{{s21.nombre8}}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{{s21.monto3}}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{{s21.nombre9}}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{{s21.monto4}}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{{s21.pct3}}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AD2B61-DAA3-F5E7-5F4D-835D0BE5E555}"/>
              </a:ext>
            </a:extLst>
          </p:cNvPr>
          <p:cNvSpPr txBox="1"/>
          <p:nvPr/>
        </p:nvSpPr>
        <p:spPr>
          <a:xfrm>
            <a:off x="942722" y="1348919"/>
            <a:ext cx="6387679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Cada instrumento tiene un propósito claro dentro del portafolio.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894FFC-5D20-78C5-1461-4FBF55588F24}"/>
              </a:ext>
            </a:extLst>
          </p:cNvPr>
          <p:cNvSpPr/>
          <p:nvPr/>
        </p:nvSpPr>
        <p:spPr>
          <a:xfrm>
            <a:off x="9985339" y="463817"/>
            <a:ext cx="880533" cy="306852"/>
          </a:xfrm>
          <a:prstGeom prst="roundRect">
            <a:avLst/>
          </a:prstGeom>
          <a:solidFill>
            <a:srgbClr val="F4F4EF"/>
          </a:solidFill>
          <a:ln>
            <a:solidFill>
              <a:srgbClr val="2D4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541">
                <a:solidFill>
                  <a:srgbClr val="2D4417"/>
                </a:solidFill>
                <a:latin typeface="Avenir Next Pro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564261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31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F4067-BBB8-5683-44CA-797C761FFF61}"/>
              </a:ext>
            </a:extLst>
          </p:cNvPr>
          <p:cNvSpPr txBox="1"/>
          <p:nvPr/>
        </p:nvSpPr>
        <p:spPr>
          <a:xfrm>
            <a:off x="11172730" y="24281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>
              <a:latin typeface="Avenir Next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1D01B-1FB1-5C15-7B30-EEE5E267E38A}"/>
              </a:ext>
            </a:extLst>
          </p:cNvPr>
          <p:cNvSpPr txBox="1"/>
          <p:nvPr/>
        </p:nvSpPr>
        <p:spPr>
          <a:xfrm>
            <a:off x="942724" y="805650"/>
            <a:ext cx="7756624" cy="503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96">
                <a:solidFill>
                  <a:srgbClr val="2D4417"/>
                </a:solidFill>
                <a:latin typeface="Avenir Next Pro"/>
              </a:rPr>
              <a:t>¿En qué exactamente va mi dinero?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C9047-E402-771B-7D91-9A1492D8C3C8}"/>
              </a:ext>
            </a:extLst>
          </p:cNvPr>
          <p:cNvSpPr/>
          <p:nvPr/>
        </p:nvSpPr>
        <p:spPr>
          <a:xfrm>
            <a:off x="10185463" y="5510004"/>
            <a:ext cx="1502028" cy="907216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056C960E-CA8C-F39D-6006-7332DC9D5AC8}"/>
              </a:ext>
            </a:extLst>
          </p:cNvPr>
          <p:cNvSpPr/>
          <p:nvPr/>
        </p:nvSpPr>
        <p:spPr>
          <a:xfrm>
            <a:off x="1328738" y="1958340"/>
            <a:ext cx="9479280" cy="381000"/>
          </a:xfrm>
          <a:prstGeom prst="round2SameRect">
            <a:avLst/>
          </a:prstGeom>
          <a:solidFill>
            <a:srgbClr val="1521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venir Next Pr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60846-A6DC-D410-0463-9AC7994B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35163"/>
              </p:ext>
            </p:extLst>
          </p:nvPr>
        </p:nvGraphicFramePr>
        <p:xfrm>
          <a:off x="1328975" y="1957987"/>
          <a:ext cx="9479280" cy="413262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Instrumento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Descripción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Monto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{{s22.nombre}}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Propósito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bg1"/>
                          </a:solidFill>
                          <a:latin typeface="Avenir Next Pro"/>
                        </a:rPr>
                        <a:t>{{s22.nombre2}}</a:t>
                      </a:r>
                    </a:p>
                  </a:txBody>
                  <a:tcPr marL="80581" marR="80581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  <a:latin typeface="Avenir Next Pro"/>
                        </a:rPr>
                        <a:t>{{s22.nombre3}}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{{s22.monto}}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{{s22.pct}}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{{s22.nombre6}}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{{s22.nombre7}}</a:t>
                      </a:r>
                    </a:p>
                    <a:p>
                      <a:r>
                        <a:rPr lang="en-US" sz="750">
                          <a:solidFill>
                            <a:srgbClr val="334F1B"/>
                          </a:solidFill>
                          <a:latin typeface="Avenir Next Pro"/>
                        </a:rPr>
                        <a:t>ya tenía {{s22.monto4}}, objetivo {{s22.monto5}}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{{s22.pct2}}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{{s22.nombre9}}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{{s22.nombre10}}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{{s22.nombre11}}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{{s22.pct3}}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{{s22.nombre12}}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{{s22.nombre13}}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334F1B"/>
                          </a:solidFill>
                          <a:latin typeface="Avenir Next Pro"/>
                        </a:rPr>
                        <a:t>{{s22.monto8}}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{{s22.monto9}}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{{s22.monto10}}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{{s22.pct4}}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{{s22.nombre14}}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334F1B"/>
                          </a:solidFill>
                          <a:latin typeface="Avenir Next Pro"/>
                        </a:rPr>
                        <a:t>{{s22.nombre15}}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 gridSpan="2"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{{s22.nombre16}}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 Pro"/>
                      </a:endParaRPr>
                    </a:p>
                  </a:txBody>
                  <a:tcPr marL="80581" marR="80581" marT="30000" marB="30000"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{{s22.monto11}}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{{s22.pct5}}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0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{{s22.nombre17}}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{{s22.monto12}}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{{s22.pct6}}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D5FF83"/>
                          </a:solidFill>
                          <a:latin typeface="Avenir Next Pro"/>
                        </a:rPr>
                        <a:t>Flujo est.: {{s22.monto13}}/mes</a:t>
                      </a: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50">
                        <a:latin typeface="Avenir Next Pro"/>
                      </a:endParaRPr>
                    </a:p>
                  </a:txBody>
                  <a:tcPr marL="80581" marR="80581" marT="30000" marB="30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4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AD2B61-DAA3-F5E7-5F4D-835D0BE5E555}"/>
              </a:ext>
            </a:extLst>
          </p:cNvPr>
          <p:cNvSpPr txBox="1"/>
          <p:nvPr/>
        </p:nvSpPr>
        <p:spPr>
          <a:xfrm>
            <a:off x="942722" y="1348919"/>
            <a:ext cx="6387679" cy="29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41"/>
              </a:lnSpc>
            </a:pPr>
            <a:r>
              <a:rPr lang="es-ES_tradnl" sz="1541">
                <a:solidFill>
                  <a:srgbClr val="2D4417"/>
                </a:solidFill>
                <a:latin typeface="Avenir Next Pro"/>
              </a:rPr>
              <a:t>Cada instrumento tiene un propósito claro dentro del portafolio.</a:t>
            </a:r>
            <a:endParaRPr lang="es-ES_tradnl" sz="1541" b="1">
              <a:solidFill>
                <a:srgbClr val="2D4417"/>
              </a:solidFill>
              <a:latin typeface="Avenir Next Pro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894FFC-5D20-78C5-1461-4FBF55588F24}"/>
              </a:ext>
            </a:extLst>
          </p:cNvPr>
          <p:cNvSpPr/>
          <p:nvPr/>
        </p:nvSpPr>
        <p:spPr>
          <a:xfrm>
            <a:off x="9985339" y="463817"/>
            <a:ext cx="880533" cy="306852"/>
          </a:xfrm>
          <a:prstGeom prst="roundRect">
            <a:avLst/>
          </a:prstGeom>
          <a:solidFill>
            <a:srgbClr val="F4F4EF"/>
          </a:solidFill>
          <a:ln>
            <a:solidFill>
              <a:srgbClr val="2D44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541">
                <a:solidFill>
                  <a:srgbClr val="2D4417"/>
                </a:solidFill>
                <a:latin typeface="Avenir Next Pro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56426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venir Next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venir Next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38438a-df1f-47a1-827d-8308a4ee6532" xsi:nil="true"/>
    <lcf76f155ced4ddcb4097134ff3c332f xmlns="92a0033c-1b5f-4af4-9323-d74a0d6e94b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522D8C9EE14242828788A3595C6742" ma:contentTypeVersion="11" ma:contentTypeDescription="Crear nuevo documento." ma:contentTypeScope="" ma:versionID="f829af3f8eed03d8609de3b1c4b9dc7f">
  <xsd:schema xmlns:xsd="http://www.w3.org/2001/XMLSchema" xmlns:xs="http://www.w3.org/2001/XMLSchema" xmlns:p="http://schemas.microsoft.com/office/2006/metadata/properties" xmlns:ns2="92a0033c-1b5f-4af4-9323-d74a0d6e94b6" xmlns:ns3="4338438a-df1f-47a1-827d-8308a4ee6532" targetNamespace="http://schemas.microsoft.com/office/2006/metadata/properties" ma:root="true" ma:fieldsID="0f6c81ca680c8ea706184bb97273d1e3" ns2:_="" ns3:_="">
    <xsd:import namespace="92a0033c-1b5f-4af4-9323-d74a0d6e94b6"/>
    <xsd:import namespace="4338438a-df1f-47a1-827d-8308a4ee65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a0033c-1b5f-4af4-9323-d74a0d6e9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3e0da15-de93-4fb0-99b6-09c7d22e4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8438a-df1f-47a1-827d-8308a4ee653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57d9bf5-cd2b-4ee2-97f0-5196c1461a2b}" ma:internalName="TaxCatchAll" ma:showField="CatchAllData" ma:web="4338438a-df1f-47a1-827d-8308a4ee65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AB71A1-5712-46B7-8C46-B0CAE9A92A58}">
  <ds:schemaRefs>
    <ds:schemaRef ds:uri="4338438a-df1f-47a1-827d-8308a4ee6532"/>
    <ds:schemaRef ds:uri="92a0033c-1b5f-4af4-9323-d74a0d6e94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CBB906-2BCC-4F34-9AC8-55BC335379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39B71A-8B9F-4E7E-B1A7-54FC851E0098}">
  <ds:schemaRefs>
    <ds:schemaRef ds:uri="4338438a-df1f-47a1-827d-8308a4ee6532"/>
    <ds:schemaRef ds:uri="92a0033c-1b5f-4af4-9323-d74a0d6e94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22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Informe Patrimonial</vt:lpstr>
      <vt:lpstr>Objetivo del informe</vt:lpstr>
      <vt:lpstr>Tu perfil como inversionista</vt:lpstr>
      <vt:lpstr>Así está parado tu dinero hoy</vt:lpstr>
      <vt:lpstr>PowerPoint Presentation</vt:lpstr>
      <vt:lpstr>¿Cuánto estás pagando hoy en comisiones?</vt:lpstr>
      <vt:lpstr>PowerPoint Presentation</vt:lpstr>
      <vt:lpstr>Focos de mejora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Informe Patrimonial</dc:title>
  <dc:subject/>
  <dc:creator>Sabbi</dc:creator>
  <cp:revision>1</cp:revision>
  <dcterms:created xsi:type="dcterms:W3CDTF">2026-06-25T17:19:49Z</dcterms:created>
  <dcterms:modified xsi:type="dcterms:W3CDTF">2026-08-14T17:33:29Z</dcterms:modified>
  <cp:lastModifiedBy>Sabbi</cp:lastModifiedBy>
  <dc:description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2026-06-25T00:00:00Z</vt:filetime>
  </property>
  <property fmtid="{D5CDD505-2E9C-101B-9397-08002B2CF9AE}" pid="6" name="Producer">
    <vt:lpwstr>ReportLab PDF Library - (opensource)</vt:lpwstr>
  </property>
  <property fmtid="{D5CDD505-2E9C-101B-9397-08002B2CF9AE}" pid="7" name="ContentTypeId">
    <vt:lpwstr>0x01010026522D8C9EE14242828788A3595C6742</vt:lpwstr>
  </property>
  <property fmtid="{D5CDD505-2E9C-101B-9397-08002B2CF9AE}" pid="8" name="MediaServiceImageTags">
    <vt:lpwstr/>
  </property>
</Properties>
</file>